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7FFFFA1F_A31AB26E.xml" ContentType="application/vnd.ms-powerpoint.comments+xml"/>
  <Override PartName="/ppt/notesSlides/notesSlide3.xml" ContentType="application/vnd.openxmlformats-officedocument.presentationml.notesSlide+xml"/>
  <Override PartName="/ppt/comments/modernComment_7FFFFA37_71E65716.xml" ContentType="application/vnd.ms-powerpoint.comments+xml"/>
  <Override PartName="/ppt/notesSlides/notesSlide4.xml" ContentType="application/vnd.openxmlformats-officedocument.presentationml.notesSlide+xml"/>
  <Override PartName="/ppt/tags/tag34.xml" ContentType="application/vnd.openxmlformats-officedocument.presentationml.tags+xml"/>
  <Override PartName="/ppt/notesSlides/notesSlide5.xml" ContentType="application/vnd.openxmlformats-officedocument.presentationml.notesSlide+xml"/>
  <Override PartName="/ppt/comments/modernComment_7FFFFA36_C279889D.xml" ContentType="application/vnd.ms-powerpoint.comments+xml"/>
  <Override PartName="/ppt/tags/tag35.xml" ContentType="application/vnd.openxmlformats-officedocument.presentationml.tags+xml"/>
  <Override PartName="/ppt/notesSlides/notesSlide6.xml" ContentType="application/vnd.openxmlformats-officedocument.presentationml.notesSlide+xml"/>
  <Override PartName="/ppt/comments/modernComment_7FFFFA35_430C79DB.xml" ContentType="application/vnd.ms-powerpoint.comments+xml"/>
  <Override PartName="/ppt/notesSlides/notesSlide7.xml" ContentType="application/vnd.openxmlformats-officedocument.presentationml.notesSlide+xml"/>
  <Override PartName="/ppt/comments/modernComment_7FFFFA2F_3306AD2B.xml" ContentType="application/vnd.ms-powerpoint.comments+xml"/>
  <Override PartName="/ppt/notesSlides/notesSlide8.xml" ContentType="application/vnd.openxmlformats-officedocument.presentationml.notesSlide+xml"/>
  <Override PartName="/ppt/tags/tag36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15" r:id="rId4"/>
  </p:sldMasterIdLst>
  <p:notesMasterIdLst>
    <p:notesMasterId r:id="rId33"/>
  </p:notesMasterIdLst>
  <p:handoutMasterIdLst>
    <p:handoutMasterId r:id="rId34"/>
  </p:handoutMasterIdLst>
  <p:sldIdLst>
    <p:sldId id="2147473219" r:id="rId5"/>
    <p:sldId id="2147482143" r:id="rId6"/>
    <p:sldId id="2147482161" r:id="rId7"/>
    <p:sldId id="2147473326" r:id="rId8"/>
    <p:sldId id="2147375648" r:id="rId9"/>
    <p:sldId id="2147482144" r:id="rId10"/>
    <p:sldId id="2147482157" r:id="rId11"/>
    <p:sldId id="2147482167" r:id="rId12"/>
    <p:sldId id="2147482149" r:id="rId13"/>
    <p:sldId id="2147482164" r:id="rId14"/>
    <p:sldId id="2147482145" r:id="rId15"/>
    <p:sldId id="2147482147" r:id="rId16"/>
    <p:sldId id="2147482148" r:id="rId17"/>
    <p:sldId id="2147482163" r:id="rId18"/>
    <p:sldId id="2147482166" r:id="rId19"/>
    <p:sldId id="2147482165" r:id="rId20"/>
    <p:sldId id="2598" r:id="rId21"/>
    <p:sldId id="2147482158" r:id="rId22"/>
    <p:sldId id="2147482162" r:id="rId23"/>
    <p:sldId id="2147482159" r:id="rId24"/>
    <p:sldId id="2147482160" r:id="rId25"/>
    <p:sldId id="2147482151" r:id="rId26"/>
    <p:sldId id="2147482152" r:id="rId27"/>
    <p:sldId id="2147482153" r:id="rId28"/>
    <p:sldId id="2147482154" r:id="rId29"/>
    <p:sldId id="2147482155" r:id="rId30"/>
    <p:sldId id="2147482168" r:id="rId31"/>
    <p:sldId id="2147473221" r:id="rId32"/>
  </p:sldIdLst>
  <p:sldSz cx="12192000" cy="6858000"/>
  <p:notesSz cx="6858000" cy="9144000"/>
  <p:embeddedFontLst>
    <p:embeddedFont>
      <p:font typeface="Aptos Narrow" panose="020B0004020202020204" pitchFamily="34" charset="0"/>
      <p:regular r:id="rId35"/>
      <p:bold r:id="rId36"/>
      <p:italic r:id="rId37"/>
      <p:boldItalic r:id="rId38"/>
    </p:embeddedFont>
    <p:embeddedFont>
      <p:font typeface="Fira Sans" panose="020B0503050000020004" pitchFamily="34" charset="0"/>
      <p:regular r:id="rId39"/>
      <p:bold r:id="rId40"/>
      <p:italic r:id="rId41"/>
      <p:boldItalic r:id="rId42"/>
    </p:embeddedFont>
    <p:embeddedFont>
      <p:font typeface="Fira Sans Condensed" panose="020B0503050000020004" pitchFamily="34" charset="0"/>
      <p:regular r:id="rId43"/>
      <p:bold r:id="rId44"/>
      <p:italic r:id="rId45"/>
      <p:boldItalic r:id="rId46"/>
    </p:embeddedFont>
  </p:embeddedFontLst>
  <p:defaultTextStyle>
    <a:defPPr>
      <a:defRPr lang="de-DE"/>
    </a:defPPr>
    <a:lvl1pPr marL="0" indent="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Clr>
        <a:schemeClr val="tx2"/>
      </a:buClr>
      <a:buFontTx/>
      <a:buNone/>
      <a:defRPr sz="1400" b="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Clr>
        <a:schemeClr val="tx2"/>
      </a:buClr>
      <a:buFont typeface="Fira Sans" panose="020B0503050000020004" pitchFamily="34" charset="0"/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Clr>
        <a:schemeClr val="tx2"/>
      </a:buClr>
      <a:buFont typeface="Symbol" panose="05050102010706020507" pitchFamily="18" charset="2"/>
      <a:buChar char="-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540000" indent="-18000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Clr>
        <a:schemeClr val="tx2"/>
      </a:buClr>
      <a:buFont typeface="Symbol" panose="05050102010706020507" pitchFamily="18" charset="2"/>
      <a:buChar char="-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0" indent="0" algn="l" defTabSz="914400" rtl="0" eaLnBrk="1" latinLnBrk="0" hangingPunct="1">
      <a:lnSpc>
        <a:spcPct val="100000"/>
      </a:lnSpc>
      <a:spcBef>
        <a:spcPts val="1200"/>
      </a:spcBef>
      <a:spcAft>
        <a:spcPts val="200"/>
      </a:spcAft>
      <a:buFont typeface="Symbol" panose="05050102010706020507" pitchFamily="18" charset="2"/>
      <a:buNone/>
      <a:defRPr sz="1600" b="1" kern="1200">
        <a:solidFill>
          <a:schemeClr val="tx2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Clr>
        <a:schemeClr val="tx2"/>
      </a:buClr>
      <a:buFontTx/>
      <a:buNone/>
      <a:defRPr sz="1400" b="0" kern="1200">
        <a:solidFill>
          <a:schemeClr val="tx1"/>
        </a:solidFill>
        <a:latin typeface="+mn-lt"/>
        <a:ea typeface="+mn-ea"/>
        <a:cs typeface="+mn-cs"/>
      </a:defRPr>
    </a:lvl6pPr>
    <a:lvl7pPr marL="144000" indent="-14400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Clr>
        <a:schemeClr val="tx2"/>
      </a:buClr>
      <a:buFont typeface="Fira Sans" panose="020B0503050000020004" pitchFamily="34" charset="0"/>
      <a:buChar char="&gt;"/>
      <a:defRPr sz="1000" b="0" kern="1200">
        <a:solidFill>
          <a:schemeClr val="tx1"/>
        </a:solidFill>
        <a:latin typeface="+mn-lt"/>
        <a:ea typeface="+mn-ea"/>
        <a:cs typeface="+mn-cs"/>
      </a:defRPr>
    </a:lvl7pPr>
    <a:lvl8pPr marL="288000" indent="-14400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Clr>
        <a:schemeClr val="tx2"/>
      </a:buClr>
      <a:buFont typeface="Fira Sans" panose="020B0503050000020004" pitchFamily="34" charset="0"/>
      <a:buChar char="&gt;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432000" indent="-14400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Clr>
        <a:schemeClr val="tx2"/>
      </a:buClr>
      <a:buFont typeface="Symbol" panose="05050102010706020507" pitchFamily="18" charset="2"/>
      <a:buChar char="-"/>
      <a:defRPr sz="1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D3F2112-AA95-B9FB-19B1-FD93C3633910}" name="Gernot Felix Oettel" initials="" userId="S::gernot-felix.oettel@adesso.de::2f4642b9-ed93-4d25-8c33-f14471314f04" providerId="AD"/>
  <p188:author id="{778A2D2C-413F-3C4C-CD6D-0AD7FE961E0F}" name="Sharon Shams" initials="SS" userId="S::sharon.shams@adesso.de::be542422-0d2b-43ad-8dc2-82a2f602630b" providerId="AD"/>
  <p188:author id="{62B37560-FB86-F0FE-5CE8-444468DD618E}" name="Sharon Shams" initials="SS" userId="S::X295100@one.merckgroup.com::55282122-c6d8-4001-80c4-a971629f4df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00B0F0"/>
    <a:srgbClr val="28DCAA"/>
    <a:srgbClr val="006E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AA892C-5D5C-A443-AF84-859418D66D1F}" v="143" dt="2026-10-07T13:55:43.246"/>
  </p1510:revLst>
</p1510:revInfo>
</file>

<file path=ppt/tableStyles.xml><?xml version="1.0" encoding="utf-8"?>
<a:tblStyleLst xmlns:a="http://schemas.openxmlformats.org/drawingml/2006/main" def="{B45C9562-1D88-4959-98E0-DF01EE10AB55}">
  <a:tblStyle styleId="{B45C9562-1D88-4959-98E0-DF01EE10AB55}" styleName="adesso Table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6350" cmpd="sng">
              <a:solidFill>
                <a:schemeClr val="dk1"/>
              </a:solidFill>
            </a:ln>
          </a:bottom>
          <a:insideH>
            <a:ln w="635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2"/>
      </a:tcTxStyle>
      <a:tcStyle>
        <a:tcBdr>
          <a:top>
            <a:ln w="6350" cmpd="sng">
              <a:solidFill>
                <a:schemeClr val="accent3"/>
              </a:solidFill>
            </a:ln>
          </a:top>
          <a:bottom>
            <a:ln w="6350" cmpd="sng">
              <a:solidFill>
                <a:schemeClr val="dk1"/>
              </a:solidFill>
            </a:ln>
          </a:bottom>
        </a:tcBdr>
      </a:tcStyle>
    </a:lastRow>
    <a:firstRow>
      <a:tcTxStyle b="on">
        <a:fontRef idx="minor">
          <a:prstClr val="black"/>
        </a:fontRef>
        <a:schemeClr val="dk2"/>
      </a:tcTxStyle>
      <a:tcStyle>
        <a:tcBdr>
          <a:bottom>
            <a:ln w="6350" cmpd="sng">
              <a:solidFill>
                <a:schemeClr val="dk1"/>
              </a:solidFill>
            </a:ln>
          </a:bottom>
        </a:tcBdr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5.fntdata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42" Type="http://schemas.openxmlformats.org/officeDocument/2006/relationships/font" Target="fonts/font8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2.fntdata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10.fntdata"/><Relationship Id="rId52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6.xml"/><Relationship Id="rId41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omments/modernComment_7FFFFA1F_A31AB26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38885F7-C76C-784C-912B-B6E832FF8E23}" authorId="{778A2D2C-413F-3C4C-CD6D-0AD7FE961E0F}" created="2026-09-02T06:57:11.93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36435822" sldId="2147482143"/>
      <ac:spMk id="11" creationId="{850958E5-4787-4C73-69F6-FE0D863209B1}"/>
    </ac:deMkLst>
    <p188:pos x="1260000" y="0"/>
    <p188:txBody>
      <a:bodyPr/>
      <a:lstStyle/>
      <a:p>
        <a:r>
          <a:rPr lang="en-US"/>
          <a:t>Zeiten noch anpassen</a:t>
        </a:r>
      </a:p>
    </p188:txBody>
  </p188:cm>
</p188:cmLst>
</file>

<file path=ppt/comments/modernComment_7FFFFA2F_3306AD2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1AD772F-BF06-2E41-945E-682E22F14B74}" authorId="{778A2D2C-413F-3C4C-CD6D-0AD7FE961E0F}" created="2026-10-07T13:54:30.588" startDate="2026-10-07T13:54:30.588" dueDate="2026-10-07T13:54:30.588" assignedTo="{7D3F2112-AA95-B9FB-19B1-FD93C3633910}" title="@Gernot Felix Oettel welche Attribute kriegen wir bereits? Welche werden wir zu 100%?">
    <pc:sldMkLst xmlns:pc="http://schemas.microsoft.com/office/powerpoint/2013/main/command">
      <pc:docMk/>
      <pc:sldMk cId="856075563" sldId="2147482159"/>
    </pc:sldMkLst>
    <p188:txBody>
      <a:bodyPr/>
      <a:lstStyle/>
      <a:p>
        <a:r>
          <a:rPr lang="en-US"/>
          <a:t>[@Gernot Felix Oettel] welche Attribute kriegen wir bereits? Welche werden wir zu 100%?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10-07T13:54:30.588" id="{BCB7AEE5-65D3-CF49-BD4E-01459E839C07}">
              <p228:atrbtn authorId="{778A2D2C-413F-3C4C-CD6D-0AD7FE961E0F}"/>
              <p228:anchr>
                <p228:comment id="{E1AD772F-BF06-2E41-945E-682E22F14B74}"/>
              </p228:anchr>
              <p228:add/>
            </p228:event>
            <p228:event time="2026-10-07T13:54:30.588" id="{8BFF24DF-9D00-954D-872A-2362224809C8}">
              <p228:atrbtn authorId="{778A2D2C-413F-3C4C-CD6D-0AD7FE961E0F}"/>
              <p228:anchr>
                <p228:comment id="{E1AD772F-BF06-2E41-945E-682E22F14B74}"/>
              </p228:anchr>
              <p228:asgn authorId="{7D3F2112-AA95-B9FB-19B1-FD93C3633910}"/>
            </p228:event>
            <p228:event time="2026-10-07T13:54:30.588" id="{D2E30C29-534E-8549-9335-FB63387E3364}">
              <p228:atrbtn authorId="{778A2D2C-413F-3C4C-CD6D-0AD7FE961E0F}"/>
              <p228:anchr>
                <p228:comment id="{E1AD772F-BF06-2E41-945E-682E22F14B74}"/>
              </p228:anchr>
              <p228:title val="@Gernot Felix Oettel welche Attribute kriegen wir bereits? Welche werden wir zu 100%?"/>
            </p228:event>
            <p228:event time="2026-10-07T13:54:30.588" id="{2467D9D5-1BB8-514C-B80E-4BA69443C195}">
              <p228:atrbtn authorId="{778A2D2C-413F-3C4C-CD6D-0AD7FE961E0F}"/>
              <p228:anchr>
                <p228:comment id="{E1AD772F-BF06-2E41-945E-682E22F14B74}"/>
              </p228:anchr>
              <p228:date stDt="2026-10-07T13:54:30.588" endDt="2026-10-07T13:54:30.588"/>
            </p228:event>
          </p228:history>
        </p228:taskDetails>
      </p:ext>
    </p188:extLst>
  </p188:cm>
</p188:cmLst>
</file>

<file path=ppt/comments/modernComment_7FFFFA35_430C79D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B02F14F-5B0B-EB48-8C87-FB4294C0EDA9}" authorId="{62B37560-FB86-F0FE-5CE8-444468DD618E}" created="2026-09-28T10:40:10.436">
    <pc:sldMkLst xmlns:pc="http://schemas.microsoft.com/office/powerpoint/2013/main/command">
      <pc:docMk/>
      <pc:sldMk cId="1445949403" sldId="269"/>
    </pc:sldMkLst>
    <p188:txBody>
      <a:bodyPr/>
      <a:lstStyle/>
      <a:p>
        <a:r>
          <a:rPr lang="en-US"/>
          <a:t>leitfragen anpassen</a:t>
        </a:r>
      </a:p>
    </p188:txBody>
  </p188:cm>
</p188:cmLst>
</file>

<file path=ppt/comments/modernComment_7FFFFA36_C279889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A8A0E1F-9CC0-5C4C-A937-4557ABBF1B3B}" authorId="{62B37560-FB86-F0FE-5CE8-444468DD618E}" created="2026-09-28T10:40:10.436">
    <pc:sldMkLst xmlns:pc="http://schemas.microsoft.com/office/powerpoint/2013/main/command">
      <pc:docMk/>
      <pc:sldMk cId="1445949403" sldId="269"/>
    </pc:sldMkLst>
    <p188:txBody>
      <a:bodyPr/>
      <a:lstStyle/>
      <a:p>
        <a:r>
          <a:rPr lang="en-US"/>
          <a:t>leitfragen anpassen</a:t>
        </a:r>
      </a:p>
    </p188:txBody>
  </p188:cm>
</p188:cmLst>
</file>

<file path=ppt/comments/modernComment_7FFFFA37_71E6571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CC8B3D-CA7D-9A43-AA1C-B26CE80A26E4}" authorId="{778A2D2C-413F-3C4C-CD6D-0AD7FE961E0F}" created="2026-10-07T13:51:50.621" startDate="2026-10-07T13:51:50.621" dueDate="2026-10-07T13:51:50.621" assignedTo="{7D3F2112-AA95-B9FB-19B1-FD93C3633910}" title="@Gernot Felix Oettel ">
    <pc:sldMkLst xmlns:pc="http://schemas.microsoft.com/office/powerpoint/2013/main/command">
      <pc:docMk/>
      <pc:sldMk cId="1910920982" sldId="2147482167"/>
    </pc:sldMkLst>
    <p188:txBody>
      <a:bodyPr/>
      <a:lstStyle/>
      <a:p>
        <a:r>
          <a:rPr lang="en-US"/>
          <a:t>[@Gernot Felix Oettel] 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10-07T13:51:50.621" id="{7619CCEF-AEE0-AA49-A6C2-2E4F6B1FE625}">
              <p228:atrbtn authorId="{778A2D2C-413F-3C4C-CD6D-0AD7FE961E0F}"/>
              <p228:anchr>
                <p228:comment id="{7CCC8B3D-CA7D-9A43-AA1C-B26CE80A26E4}"/>
              </p228:anchr>
              <p228:add/>
            </p228:event>
            <p228:event time="2026-10-07T13:51:50.621" id="{05A82A16-5876-2A49-BADA-622426984CF7}">
              <p228:atrbtn authorId="{778A2D2C-413F-3C4C-CD6D-0AD7FE961E0F}"/>
              <p228:anchr>
                <p228:comment id="{7CCC8B3D-CA7D-9A43-AA1C-B26CE80A26E4}"/>
              </p228:anchr>
              <p228:asgn authorId="{7D3F2112-AA95-B9FB-19B1-FD93C3633910}"/>
            </p228:event>
            <p228:event time="2026-10-07T13:51:50.621" id="{845283E5-17F8-4648-B52B-01B4B74C4593}">
              <p228:atrbtn authorId="{778A2D2C-413F-3C4C-CD6D-0AD7FE961E0F}"/>
              <p228:anchr>
                <p228:comment id="{7CCC8B3D-CA7D-9A43-AA1C-B26CE80A26E4}"/>
              </p228:anchr>
              <p228:title val="@Gernot Felix Oettel "/>
            </p228:event>
            <p228:event time="2026-10-07T13:51:50.621" id="{9D504345-68D2-2C49-98CF-AA049D57903B}">
              <p228:atrbtn authorId="{778A2D2C-413F-3C4C-CD6D-0AD7FE961E0F}"/>
              <p228:anchr>
                <p228:comment id="{7CCC8B3D-CA7D-9A43-AA1C-B26CE80A26E4}"/>
              </p228:anchr>
              <p228:date stDt="2026-10-07T13:51:50.621" endDt="2026-10-07T13:51:50.621"/>
            </p228:event>
          </p228:history>
        </p228:taskDetails>
      </p:ext>
    </p188:extLst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51520"/>
            <a:ext cx="29718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endParaRPr lang="de-DE" sz="100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99FFA3F-6127-C7F4-F0A9-80A28FA7F7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57192" y="8676456"/>
            <a:ext cx="72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fld id="{B8DEA75F-B5E7-49F3-AF07-708802681350}" type="datetime1">
              <a:rPr lang="de-DE" smtClean="0"/>
              <a:pPr/>
              <a:t>07.10.2026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E750BB-3C39-305E-ED6C-9BE80FF1A2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77192" y="8676456"/>
            <a:ext cx="414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de-DE"/>
              <a:t>Title of the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BA5566E-7BC4-87FA-9102-11291179BC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021328" y="8685213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</a:lstStyle>
          <a:p>
            <a:fld id="{E5BBCCF6-F8A8-4C49-BF3D-CA1AA74CA975}" type="slidenum">
              <a:rPr lang="de-DE" sz="1000" smtClean="0"/>
              <a:pPr/>
              <a:t>‹#›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3143861194"/>
      </p:ext>
    </p:extLst>
  </p:cSld>
  <p:clrMap bg1="lt1" tx1="dk1" bg2="lt2" tx2="dk2" accent1="accent1" accent2="accent2" accent3="accent3" accent4="accent4" accent5="accent5" accent6="accent6" hlink="hlink" folHlink="folHlink"/>
  <p:hf hdr="0"/>
  <p:extLst>
    <p:ext uri="{56416CCD-93CA-4268-BC5B-53C4BB910035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6672" y="611560"/>
            <a:ext cx="5904000" cy="3321000"/>
          </a:xfrm>
          <a:prstGeom prst="rect">
            <a:avLst/>
          </a:prstGeom>
          <a:noFill/>
          <a:ln w="6350">
            <a:solidFill>
              <a:schemeClr val="accent3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8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51520"/>
            <a:ext cx="29718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de-DE" sz="1000"/>
          </a:p>
        </p:txBody>
      </p:sp>
      <p:sp>
        <p:nvSpPr>
          <p:cNvPr id="9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57192" y="8676456"/>
            <a:ext cx="72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fld id="{B8DEA75F-B5E7-49F3-AF07-708802681350}" type="datetime1">
              <a:rPr lang="de-DE" smtClean="0"/>
              <a:pPr/>
              <a:t>07.10.2026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4"/>
          </p:nvPr>
        </p:nvSpPr>
        <p:spPr>
          <a:xfrm>
            <a:off x="477192" y="8676456"/>
            <a:ext cx="414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de-DE"/>
              <a:t>Title of the presentation</a:t>
            </a:r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5"/>
          </p:nvPr>
        </p:nvSpPr>
        <p:spPr>
          <a:xfrm>
            <a:off x="6021328" y="8685213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</a:lstStyle>
          <a:p>
            <a:fld id="{E5BBCCF6-F8A8-4C49-BF3D-CA1AA74CA975}" type="slidenum">
              <a:rPr lang="de-DE" sz="1000" smtClean="0"/>
              <a:pPr/>
              <a:t>‹#›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2846198732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lnSpc>
        <a:spcPct val="110000"/>
      </a:lnSpc>
      <a:spcBef>
        <a:spcPts val="1200"/>
      </a:spcBef>
      <a:defRPr sz="1200" b="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lnSpc>
        <a:spcPct val="110000"/>
      </a:lnSpc>
      <a:spcBef>
        <a:spcPts val="400"/>
      </a:spcBef>
      <a:spcAft>
        <a:spcPts val="400"/>
      </a:spcAft>
      <a:buFont typeface="Fira Sans" panose="020B0503050000020004" pitchFamily="34" charset="0"/>
      <a:buChar char="&gt;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lnSpc>
        <a:spcPct val="110000"/>
      </a:lnSpc>
      <a:spcBef>
        <a:spcPts val="100"/>
      </a:spcBef>
      <a:spcAft>
        <a:spcPts val="1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lnSpc>
        <a:spcPct val="110000"/>
      </a:lnSpc>
      <a:spcBef>
        <a:spcPts val="100"/>
      </a:spcBef>
      <a:spcAft>
        <a:spcPts val="1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lnSpc>
        <a:spcPct val="110000"/>
      </a:lnSpc>
      <a:spcBef>
        <a:spcPts val="100"/>
      </a:spcBef>
      <a:spcAft>
        <a:spcPts val="1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576000" indent="-144000" algn="l" defTabSz="914400" rtl="0" eaLnBrk="1" latinLnBrk="0" hangingPunct="1">
      <a:lnSpc>
        <a:spcPct val="110000"/>
      </a:lnSpc>
      <a:spcBef>
        <a:spcPts val="100"/>
      </a:spcBef>
      <a:spcAft>
        <a:spcPts val="1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576000" indent="-144000" algn="l" defTabSz="914400" rtl="0" eaLnBrk="1" latinLnBrk="0" hangingPunct="1">
      <a:lnSpc>
        <a:spcPct val="110000"/>
      </a:lnSpc>
      <a:spcBef>
        <a:spcPts val="100"/>
      </a:spcBef>
      <a:spcAft>
        <a:spcPts val="1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576000" indent="-144000" algn="l" defTabSz="914400" rtl="0" eaLnBrk="1" latinLnBrk="0" hangingPunct="1">
      <a:lnSpc>
        <a:spcPct val="110000"/>
      </a:lnSpc>
      <a:spcBef>
        <a:spcPts val="100"/>
      </a:spcBef>
      <a:spcAft>
        <a:spcPts val="1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576000" indent="-144000" algn="l" defTabSz="914400" rtl="0" eaLnBrk="1" latinLnBrk="0" hangingPunct="1">
      <a:lnSpc>
        <a:spcPct val="110000"/>
      </a:lnSpc>
      <a:spcBef>
        <a:spcPts val="100"/>
      </a:spcBef>
      <a:spcAft>
        <a:spcPts val="1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fld id="{B8DEA75F-B5E7-49F3-AF07-708802681350}" type="datetime1">
              <a:rPr lang="de-DE" smtClean="0"/>
              <a:pPr/>
              <a:t>07.10.2026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Title of the presentation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000" smtClean="0"/>
              <a:pPr/>
              <a:t>1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224038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fld id="{876C09F1-DAFC-462E-A693-3A653C7C7F00}" type="datetime1">
              <a:rPr lang="de-DE" smtClean="0"/>
              <a:t>07.10.2026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Title of the presentation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000" smtClean="0"/>
              <a:pPr/>
              <a:t>2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1077855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fld id="{E033EA0D-56FB-4677-9601-337E5ED0A7F2}" type="datetime1">
              <a:rPr lang="de-DE" smtClean="0"/>
              <a:t>07.10.2026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Title of the presentation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000" smtClean="0"/>
              <a:pPr/>
              <a:t>3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2245251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fld id="{B8DEA75F-B5E7-49F3-AF07-708802681350}" type="datetime1">
              <a:rPr lang="de-DE" smtClean="0"/>
              <a:pPr/>
              <a:t>07.10.2026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Title of the presentation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000" smtClean="0"/>
              <a:pPr/>
              <a:t>9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2957811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de-DE"/>
              <a:t>Beispiele: private </a:t>
            </a:r>
            <a:r>
              <a:rPr lang="de-DE" err="1"/>
              <a:t>agente</a:t>
            </a:r>
            <a:r>
              <a:rPr lang="de-DE"/>
              <a:t>, team-</a:t>
            </a:r>
            <a:r>
              <a:rPr lang="de-DE" err="1"/>
              <a:t>shared</a:t>
            </a:r>
            <a:r>
              <a:rPr lang="de-DE"/>
              <a:t> </a:t>
            </a:r>
            <a:r>
              <a:rPr lang="de-DE" err="1"/>
              <a:t>agent</a:t>
            </a:r>
            <a:r>
              <a:rPr lang="de-DE"/>
              <a:t>, </a:t>
            </a:r>
            <a:r>
              <a:rPr lang="de-DE" err="1"/>
              <a:t>embedded</a:t>
            </a:r>
            <a:r>
              <a:rPr lang="de-DE"/>
              <a:t>, code-</a:t>
            </a:r>
            <a:r>
              <a:rPr lang="de-DE" err="1"/>
              <a:t>shared</a:t>
            </a:r>
            <a:r>
              <a:rPr lang="de-DE"/>
              <a:t>, </a:t>
            </a:r>
            <a:r>
              <a:rPr lang="de-DE" err="1"/>
              <a:t>orchestrator</a:t>
            </a:r>
            <a:r>
              <a:rPr lang="de-DE"/>
              <a:t> + sub-agent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fld id="{95D9A70E-E955-2C44-A967-A2C4833279B7}" type="datetime1">
              <a:rPr lang="de-DE" smtClean="0"/>
              <a:t>07.10.2026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Title of the presentation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000" smtClean="0"/>
              <a:pPr/>
              <a:t>15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4004399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7AB21-DE07-7C96-17F5-B55025950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CF9F98C-3B88-DF55-A5BD-023FA0CDE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8F878E8-7534-E3E9-DD50-AB6867EC1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ECF3A5-3672-4880-A52A-A00B3A49D34B}"/>
              </a:ext>
            </a:extLst>
          </p:cNvPr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fld id="{95D9A70E-E955-2C44-A967-A2C4833279B7}" type="datetime1">
              <a:rPr lang="de-DE" smtClean="0"/>
              <a:t>07.10.2026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A62D59-0121-9BA8-1AF1-D87778837EE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Title of the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C72502-108D-0DD6-2867-C49C6D43A9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000" smtClean="0"/>
              <a:pPr/>
              <a:t>16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391912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749550" y="531813"/>
            <a:ext cx="4735513" cy="26638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C0F5F0-BCED-4EA3-BAC2-490470EC2D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© K16 GmbH</a:t>
            </a:r>
          </a:p>
        </p:txBody>
      </p:sp>
    </p:spTree>
    <p:extLst>
      <p:ext uri="{BB962C8B-B14F-4D97-AF65-F5344CB8AC3E}">
        <p14:creationId xmlns:p14="http://schemas.microsoft.com/office/powerpoint/2010/main" val="38772125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+ lifecycle (status) 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fld id="{B8DEA75F-B5E7-49F3-AF07-708802681350}" type="datetime1">
              <a:rPr lang="de-DE" smtClean="0"/>
              <a:pPr/>
              <a:t>07.10.2026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Title of the presentation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000" smtClean="0"/>
              <a:pPr/>
              <a:t>26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2178167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5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8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oleObject" Target="../embeddings/oleObject4.bin"/><Relationship Id="rId7" Type="http://schemas.openxmlformats.org/officeDocument/2006/relationships/image" Target="../media/image6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7.svg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svg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6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10.bin"/><Relationship Id="rId7" Type="http://schemas.openxmlformats.org/officeDocument/2006/relationships/image" Target="../media/image8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6.svg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7" Type="http://schemas.openxmlformats.org/officeDocument/2006/relationships/image" Target="../media/image10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2.svg"/><Relationship Id="rId5" Type="http://schemas.openxmlformats.org/officeDocument/2006/relationships/image" Target="../media/image11.sv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8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10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oleObject" Target="../embeddings/oleObject14.bin"/><Relationship Id="rId7" Type="http://schemas.openxmlformats.org/officeDocument/2006/relationships/image" Target="../media/image8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2.svg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6.svg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7" Type="http://schemas.openxmlformats.org/officeDocument/2006/relationships/image" Target="../media/image6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6" Type="http://schemas.openxmlformats.org/officeDocument/2006/relationships/image" Target="../media/image7.svg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7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6.svg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6.svg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11.svg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6.svg"/><Relationship Id="rId5" Type="http://schemas.openxmlformats.org/officeDocument/2006/relationships/image" Target="../media/image7.svg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11.svg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6.svg"/><Relationship Id="rId5" Type="http://schemas.openxmlformats.org/officeDocument/2006/relationships/image" Target="../media/image7.svg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4" Type="http://schemas.openxmlformats.org/officeDocument/2006/relationships/image" Target="../media/image1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6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7.svg"/><Relationship Id="rId5" Type="http://schemas.openxmlformats.org/officeDocument/2006/relationships/image" Target="../media/image13.png"/><Relationship Id="rId4" Type="http://schemas.openxmlformats.org/officeDocument/2006/relationships/image" Target="../media/image1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6" Type="http://schemas.openxmlformats.org/officeDocument/2006/relationships/image" Target="../media/image2.svg"/><Relationship Id="rId5" Type="http://schemas.openxmlformats.org/officeDocument/2006/relationships/image" Target="../media/image11.svg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6" Type="http://schemas.openxmlformats.org/officeDocument/2006/relationships/image" Target="../media/image6.svg"/><Relationship Id="rId5" Type="http://schemas.openxmlformats.org/officeDocument/2006/relationships/image" Target="../media/image7.svg"/><Relationship Id="rId4" Type="http://schemas.openxmlformats.org/officeDocument/2006/relationships/image" Target="../media/image1.emf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6" Type="http://schemas.openxmlformats.org/officeDocument/2006/relationships/image" Target="../media/image6.svg"/><Relationship Id="rId5" Type="http://schemas.openxmlformats.org/officeDocument/2006/relationships/image" Target="../media/image7.sv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/Out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489F20B-BBCD-A3A7-10D0-F905F49F3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4497820" y="2637000"/>
            <a:ext cx="3196360" cy="120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26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B5D5D99-F1C8-BFD2-6A39-BBC22026C7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166434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B5D5D99-F1C8-BFD2-6A39-BBC22026C7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001" y="1269000"/>
            <a:ext cx="8280750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200"/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001" y="3213000"/>
            <a:ext cx="8280749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GB"/>
              <a:t>Subtitle of the presentation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365A73C-A722-36D8-2989-21881458F7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349" y="6381100"/>
            <a:ext cx="8280401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Place | Date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9480952-B8AA-375F-48D8-8A4929F55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gray">
          <a:xfrm>
            <a:off x="9945900" y="366900"/>
            <a:ext cx="1980000" cy="781224"/>
          </a:xfrm>
          <a:prstGeom prst="rect">
            <a:avLst/>
          </a:prstGeom>
        </p:spPr>
      </p:pic>
      <p:pic>
        <p:nvPicPr>
          <p:cNvPr id="5" name="Pill_small">
            <a:extLst>
              <a:ext uri="{FF2B5EF4-FFF2-40B4-BE49-F238E27FC236}">
                <a16:creationId xmlns:a16="http://schemas.microsoft.com/office/drawing/2014/main" id="{AF33988A-A889-CE3D-1F77-FE4B05D01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408000" y="6481979"/>
            <a:ext cx="216000" cy="98743"/>
          </a:xfrm>
          <a:prstGeom prst="rect">
            <a:avLst/>
          </a:prstGeom>
        </p:spPr>
      </p:pic>
      <p:sp>
        <p:nvSpPr>
          <p:cNvPr id="2" name="Arrow">
            <a:extLst>
              <a:ext uri="{FF2B5EF4-FFF2-40B4-BE49-F238E27FC236}">
                <a16:creationId xmlns:a16="http://schemas.microsoft.com/office/drawing/2014/main" id="{E6FD122C-0A1E-1C04-2CAD-B7A816385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0000" y="5445000"/>
            <a:ext cx="720000" cy="720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33664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332">
          <p15:clr>
            <a:srgbClr val="FBAE40"/>
          </p15:clr>
        </p15:guide>
        <p15:guide id="2" pos="484">
          <p15:clr>
            <a:srgbClr val="FBAE40"/>
          </p15:clr>
        </p15:guide>
        <p15:guide id="3" orient="horz" pos="2024">
          <p15:clr>
            <a:srgbClr val="FBAE40"/>
          </p15:clr>
        </p15:guide>
        <p15:guide id="4" orient="horz" pos="193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725F2B-7ACB-05F5-B3D7-C02685D3572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45623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725F2B-7ACB-05F5-B3D7-C02685D357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001" y="1269000"/>
            <a:ext cx="8280750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001" y="3213000"/>
            <a:ext cx="8280749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/>
              <a:t>Subtitle of the presentation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365A73C-A722-36D8-2989-21881458F7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349" y="6381100"/>
            <a:ext cx="8280401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Place | Date</a:t>
            </a:r>
          </a:p>
        </p:txBody>
      </p:sp>
      <p:pic>
        <p:nvPicPr>
          <p:cNvPr id="5" name="Pill_small">
            <a:extLst>
              <a:ext uri="{FF2B5EF4-FFF2-40B4-BE49-F238E27FC236}">
                <a16:creationId xmlns:a16="http://schemas.microsoft.com/office/drawing/2014/main" id="{AF33988A-A889-CE3D-1F77-FE4B05D01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gray">
          <a:xfrm>
            <a:off x="408000" y="6481979"/>
            <a:ext cx="216000" cy="98743"/>
          </a:xfrm>
          <a:prstGeom prst="rect">
            <a:avLst/>
          </a:prstGeom>
        </p:spPr>
      </p:pic>
      <p:pic>
        <p:nvPicPr>
          <p:cNvPr id="6" name="Logo">
            <a:extLst>
              <a:ext uri="{FF2B5EF4-FFF2-40B4-BE49-F238E27FC236}">
                <a16:creationId xmlns:a16="http://schemas.microsoft.com/office/drawing/2014/main" id="{90DCB562-3B1C-F7F5-F354-6234DC8BF1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9945900" y="366900"/>
            <a:ext cx="1980000" cy="781224"/>
          </a:xfrm>
          <a:prstGeom prst="rect">
            <a:avLst/>
          </a:prstGeom>
        </p:spPr>
      </p:pic>
      <p:sp>
        <p:nvSpPr>
          <p:cNvPr id="8" name="Arrow">
            <a:extLst>
              <a:ext uri="{FF2B5EF4-FFF2-40B4-BE49-F238E27FC236}">
                <a16:creationId xmlns:a16="http://schemas.microsoft.com/office/drawing/2014/main" id="{230985C2-B223-BE1C-0204-CF27E13DA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0000" y="5445000"/>
            <a:ext cx="720000" cy="720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9106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332">
          <p15:clr>
            <a:srgbClr val="FBAE40"/>
          </p15:clr>
        </p15:guide>
        <p15:guide id="2" pos="484">
          <p15:clr>
            <a:srgbClr val="FBAE40"/>
          </p15:clr>
        </p15:guide>
        <p15:guide id="3" orient="horz" pos="2024">
          <p15:clr>
            <a:srgbClr val="FBAE40"/>
          </p15:clr>
        </p15:guide>
        <p15:guide id="4" orient="horz" pos="193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EEF9155-EE20-D3CA-DD92-01E0FB74BBA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28310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EF9155-EE20-D3CA-DD92-01E0FB74BB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Gradient">
            <a:extLst>
              <a:ext uri="{FF2B5EF4-FFF2-40B4-BE49-F238E27FC236}">
                <a16:creationId xmlns:a16="http://schemas.microsoft.com/office/drawing/2014/main" id="{31C9061C-135B-7D39-F3B0-52C4E55CA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001" y="1269000"/>
            <a:ext cx="8280750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001" y="3213000"/>
            <a:ext cx="8280749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/>
              <a:t>Subtitle of the presentation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5201A347-F79F-92F1-94F1-D7D4F7C345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349" y="6381100"/>
            <a:ext cx="8280401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Place | Date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9480952-B8AA-375F-48D8-8A4929F55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9945900" y="366900"/>
            <a:ext cx="1980000" cy="781224"/>
          </a:xfrm>
          <a:prstGeom prst="rect">
            <a:avLst/>
          </a:prstGeom>
        </p:spPr>
      </p:pic>
      <p:sp>
        <p:nvSpPr>
          <p:cNvPr id="2" name="Pill_small_TextPH">
            <a:extLst>
              <a:ext uri="{FF2B5EF4-FFF2-40B4-BE49-F238E27FC236}">
                <a16:creationId xmlns:a16="http://schemas.microsoft.com/office/drawing/2014/main" id="{ABEAE662-A103-9D7A-2778-58B4D4DDF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407988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Arrow">
            <a:extLst>
              <a:ext uri="{FF2B5EF4-FFF2-40B4-BE49-F238E27FC236}">
                <a16:creationId xmlns:a16="http://schemas.microsoft.com/office/drawing/2014/main" id="{71910733-75D9-EA24-14FA-A3C0A8A86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0000" y="5445000"/>
            <a:ext cx="720000" cy="720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07853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332">
          <p15:clr>
            <a:srgbClr val="FBAE40"/>
          </p15:clr>
        </p15:guide>
        <p15:guide id="2" pos="484">
          <p15:clr>
            <a:srgbClr val="FBAE40"/>
          </p15:clr>
        </p15:guide>
        <p15:guide id="3" orient="horz" pos="2024">
          <p15:clr>
            <a:srgbClr val="FBAE40"/>
          </p15:clr>
        </p15:guide>
        <p15:guide id="4" orient="horz" pos="193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Picture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8F9CC4F-72C1-9CB1-A14F-074F35DF4C4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92572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8F9CC4F-72C1-9CB1-A14F-074F35DF4C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Bildplatzhalter 3">
            <a:extLst>
              <a:ext uri="{FF2B5EF4-FFF2-40B4-BE49-F238E27FC236}">
                <a16:creationId xmlns:a16="http://schemas.microsoft.com/office/drawing/2014/main" id="{622AFC4E-7444-AAD1-46FC-BB6853DA8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Add  Picture</a:t>
            </a:r>
          </a:p>
        </p:txBody>
      </p:sp>
      <p:sp>
        <p:nvSpPr>
          <p:cNvPr id="5" name="Bildkontrast">
            <a:extLst>
              <a:ext uri="{FF2B5EF4-FFF2-40B4-BE49-F238E27FC236}">
                <a16:creationId xmlns:a16="http://schemas.microsoft.com/office/drawing/2014/main" id="{3639B452-EC7D-BF1A-07F8-BEB5B1C92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3717000"/>
            <a:ext cx="12192000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001" y="1269000"/>
            <a:ext cx="8280750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200"/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001" y="3213000"/>
            <a:ext cx="8280749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GB"/>
              <a:t>Subtitle of the presentation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3FF88096-6C49-1451-EB92-E5E2BC16ED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349" y="6381100"/>
            <a:ext cx="8280401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Place | Date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164FF3D2-32EC-360C-70D7-B6B5243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9945900" y="366900"/>
            <a:ext cx="1980000" cy="781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Arrow">
            <a:extLst>
              <a:ext uri="{FF2B5EF4-FFF2-40B4-BE49-F238E27FC236}">
                <a16:creationId xmlns:a16="http://schemas.microsoft.com/office/drawing/2014/main" id="{7ED359A5-AD86-85BA-0C81-D5926F376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0000" y="5445000"/>
            <a:ext cx="720000" cy="720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Pill_small_TextPH">
            <a:extLst>
              <a:ext uri="{FF2B5EF4-FFF2-40B4-BE49-F238E27FC236}">
                <a16:creationId xmlns:a16="http://schemas.microsoft.com/office/drawing/2014/main" id="{B7472438-0CDB-1E5D-7E50-6063D6DE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407988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28431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332">
          <p15:clr>
            <a:srgbClr val="FBAE40"/>
          </p15:clr>
        </p15:guide>
        <p15:guide id="2" pos="484">
          <p15:clr>
            <a:srgbClr val="FBAE40"/>
          </p15:clr>
        </p15:guide>
        <p15:guide id="3" orient="horz" pos="2024">
          <p15:clr>
            <a:srgbClr val="FBAE40"/>
          </p15:clr>
        </p15:guide>
        <p15:guide id="4" orient="horz" pos="193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8FB0FDDB-A961-9532-7262-F63096E20B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68441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B0FDDB-A961-9532-7262-F63096E20B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4E78C348-519D-0A32-5392-9E0129C90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9pPr>
          </a:lstStyle>
          <a:p>
            <a:r>
              <a:rPr lang="en-GB"/>
              <a:t>Add  Picture</a:t>
            </a:r>
          </a:p>
          <a:p>
            <a:pPr lvl="8"/>
            <a:endParaRPr lang="en-GB"/>
          </a:p>
        </p:txBody>
      </p:sp>
      <p:sp>
        <p:nvSpPr>
          <p:cNvPr id="4" name="Bildkontrast">
            <a:extLst>
              <a:ext uri="{FF2B5EF4-FFF2-40B4-BE49-F238E27FC236}">
                <a16:creationId xmlns:a16="http://schemas.microsoft.com/office/drawing/2014/main" id="{1E06408D-6EC6-57B1-31FB-9D5F7492BEE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3717000"/>
            <a:ext cx="12192000" cy="3141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001" y="1269000"/>
            <a:ext cx="8280750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001" y="3213000"/>
            <a:ext cx="8280749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/>
              <a:t>Subtitle of the </a:t>
            </a:r>
            <a:r>
              <a:rPr lang="en-GB" err="1"/>
              <a:t>presentatio</a:t>
            </a:r>
            <a:endParaRPr lang="en-GB"/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2739350E-2979-D47B-334C-37F1CC1113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349" y="6381100"/>
            <a:ext cx="8280401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Place | Date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164FF3D2-32EC-360C-70D7-B6B5243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9945900" y="366900"/>
            <a:ext cx="1980000" cy="781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Arrow">
            <a:extLst>
              <a:ext uri="{FF2B5EF4-FFF2-40B4-BE49-F238E27FC236}">
                <a16:creationId xmlns:a16="http://schemas.microsoft.com/office/drawing/2014/main" id="{0CBF9589-32BE-207C-0458-B3216DEB2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0000" y="5445000"/>
            <a:ext cx="720000" cy="720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B1C6230C-21C7-FFD0-5494-C0A421564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407988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8502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332">
          <p15:clr>
            <a:srgbClr val="FBAE40"/>
          </p15:clr>
        </p15:guide>
        <p15:guide id="2" pos="484">
          <p15:clr>
            <a:srgbClr val="FBAE40"/>
          </p15:clr>
        </p15:guide>
        <p15:guide id="3" orient="horz" pos="2024">
          <p15:clr>
            <a:srgbClr val="FBAE40"/>
          </p15:clr>
        </p15:guide>
        <p15:guide id="4" orient="horz" pos="193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7C93870-2A84-760E-6E40-D6AFF40E1B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5095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7C93870-2A84-760E-6E40-D6AFF40E1B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/>
            </a:lvl1pPr>
          </a:lstStyle>
          <a:p>
            <a:r>
              <a:rPr lang="en-GB"/>
              <a:t>Add Agenda title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E645D3CA-8B6A-4AC7-B3E2-4D57B2215064}" type="datetime1">
              <a:rPr lang="en-GB" smtClean="0"/>
              <a:t>07/10/2026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055688" y="1773238"/>
            <a:ext cx="10728000" cy="4392612"/>
          </a:xfrm>
          <a:prstGeom prst="rect">
            <a:avLst/>
          </a:prstGeom>
        </p:spPr>
        <p:txBody>
          <a:bodyPr numCol="2" spcCol="504000"/>
          <a:lstStyle>
            <a:lvl1pPr marL="360000" indent="-360000">
              <a:spcBef>
                <a:spcPts val="1800"/>
              </a:spcBef>
              <a:buFont typeface="+mj-lt"/>
              <a:buAutoNum type="arabicPeriod"/>
              <a:defRPr sz="1800" b="1">
                <a:solidFill>
                  <a:schemeClr val="tx2"/>
                </a:solidFill>
              </a:defRPr>
            </a:lvl1pPr>
            <a:lvl2pPr marL="360000" indent="0">
              <a:spcBef>
                <a:spcPts val="200"/>
              </a:spcBef>
              <a:spcAft>
                <a:spcPts val="200"/>
              </a:spcAft>
              <a:buFont typeface="+mj-lt"/>
              <a:buNone/>
              <a:defRPr sz="1600" b="1"/>
            </a:lvl2pPr>
            <a:lvl3pPr marL="360000" indent="0">
              <a:spcBef>
                <a:spcPts val="200"/>
              </a:spcBef>
              <a:spcAft>
                <a:spcPts val="200"/>
              </a:spcAft>
              <a:buFont typeface="Fira Sans" panose="020B0503050000020004" pitchFamily="34" charset="0"/>
              <a:buNone/>
              <a:defRPr/>
            </a:lvl3pPr>
            <a:lvl4pPr marL="503238" indent="-144000">
              <a:spcBef>
                <a:spcPts val="200"/>
              </a:spcBef>
              <a:spcAft>
                <a:spcPts val="200"/>
              </a:spcAft>
              <a:buFont typeface="Fira Sans" panose="020B0503050000020004" pitchFamily="34" charset="0"/>
              <a:buChar char="&gt;"/>
              <a:defRPr sz="1400" b="0">
                <a:solidFill>
                  <a:schemeClr val="tx1"/>
                </a:solidFill>
              </a:defRPr>
            </a:lvl4pPr>
            <a:lvl5pPr marL="720000" indent="-180000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720000" indent="-180000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720000" indent="-180000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720000" indent="-180000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720000" indent="-180000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867777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323" userDrawn="1">
          <p15:clr>
            <a:srgbClr val="F26B43"/>
          </p15:clr>
        </p15:guide>
        <p15:guide id="6" pos="257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92C41A53-F3D3-1C21-B135-C5F120504FF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45462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C41A53-F3D3-1C21-B135-C5F120504F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1055687" y="512676"/>
            <a:ext cx="10728000" cy="10800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GB"/>
              <a:t>Add Agenda title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DF574DFA-7209-492D-A297-8D0BC8B5AA05}" type="datetime1">
              <a:rPr lang="en-GB" smtClean="0"/>
              <a:t>07/10/2026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platzhalter 24">
            <a:extLst>
              <a:ext uri="{FF2B5EF4-FFF2-40B4-BE49-F238E27FC236}">
                <a16:creationId xmlns:a16="http://schemas.microsoft.com/office/drawing/2014/main" id="{A34E9E74-1E39-8109-360B-A3E55855FB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055854" y="177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7" name="Textplatzhalter 26">
            <a:extLst>
              <a:ext uri="{FF2B5EF4-FFF2-40B4-BE49-F238E27FC236}">
                <a16:creationId xmlns:a16="http://schemas.microsoft.com/office/drawing/2014/main" id="{2255F337-75B4-13CD-224C-DC966FC86B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775934" y="177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9" name="Textplatzhalter 24">
            <a:extLst>
              <a:ext uri="{FF2B5EF4-FFF2-40B4-BE49-F238E27FC236}">
                <a16:creationId xmlns:a16="http://schemas.microsoft.com/office/drawing/2014/main" id="{0A994108-587A-7B5F-4BD0-6F34AA17C9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055854" y="285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12" name="Textplatzhalter 26">
            <a:extLst>
              <a:ext uri="{FF2B5EF4-FFF2-40B4-BE49-F238E27FC236}">
                <a16:creationId xmlns:a16="http://schemas.microsoft.com/office/drawing/2014/main" id="{9F6EBA83-B83B-576B-64CB-ADBD6A177C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1775934" y="285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4" name="Textplatzhalter 24">
            <a:extLst>
              <a:ext uri="{FF2B5EF4-FFF2-40B4-BE49-F238E27FC236}">
                <a16:creationId xmlns:a16="http://schemas.microsoft.com/office/drawing/2014/main" id="{A85BDE73-D5CD-FDB8-02C4-D50A3BDF24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1056000" y="393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16" name="Textplatzhalter 26">
            <a:extLst>
              <a:ext uri="{FF2B5EF4-FFF2-40B4-BE49-F238E27FC236}">
                <a16:creationId xmlns:a16="http://schemas.microsoft.com/office/drawing/2014/main" id="{C28D690A-02FF-09B1-EB6C-A73F9BFFB9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1776080" y="393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8" name="Textplatzhalter 24">
            <a:extLst>
              <a:ext uri="{FF2B5EF4-FFF2-40B4-BE49-F238E27FC236}">
                <a16:creationId xmlns:a16="http://schemas.microsoft.com/office/drawing/2014/main" id="{B0EEA235-157C-0DD6-1EB1-2D101F4663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1056146" y="501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20" name="Textplatzhalter 26">
            <a:extLst>
              <a:ext uri="{FF2B5EF4-FFF2-40B4-BE49-F238E27FC236}">
                <a16:creationId xmlns:a16="http://schemas.microsoft.com/office/drawing/2014/main" id="{BC8510BB-7A4F-C027-FA67-05A980A607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1776226" y="501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2" name="Textplatzhalter 24">
            <a:extLst>
              <a:ext uri="{FF2B5EF4-FFF2-40B4-BE49-F238E27FC236}">
                <a16:creationId xmlns:a16="http://schemas.microsoft.com/office/drawing/2014/main" id="{B5942F88-B110-49D8-9B60-2E1BDDB760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455854" y="177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29" name="Textplatzhalter 26">
            <a:extLst>
              <a:ext uri="{FF2B5EF4-FFF2-40B4-BE49-F238E27FC236}">
                <a16:creationId xmlns:a16="http://schemas.microsoft.com/office/drawing/2014/main" id="{45D253A2-A960-9F2B-AEF1-67F1165047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175934" y="177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0" name="Textplatzhalter 24">
            <a:extLst>
              <a:ext uri="{FF2B5EF4-FFF2-40B4-BE49-F238E27FC236}">
                <a16:creationId xmlns:a16="http://schemas.microsoft.com/office/drawing/2014/main" id="{4B53778D-F9BD-F40B-2FC9-0BF34E3C9B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6456000" y="285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31" name="Textplatzhalter 26">
            <a:extLst>
              <a:ext uri="{FF2B5EF4-FFF2-40B4-BE49-F238E27FC236}">
                <a16:creationId xmlns:a16="http://schemas.microsoft.com/office/drawing/2014/main" id="{ABF3534A-653F-64D8-B01B-F7561A40B87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7176080" y="285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614F4393-383C-9CEE-68FA-59D2E8749B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6456146" y="393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33" name="Textplatzhalter 26">
            <a:extLst>
              <a:ext uri="{FF2B5EF4-FFF2-40B4-BE49-F238E27FC236}">
                <a16:creationId xmlns:a16="http://schemas.microsoft.com/office/drawing/2014/main" id="{F681518D-1909-6D73-E5C0-0842A0100D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7176226" y="393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4" name="Textplatzhalter 24">
            <a:extLst>
              <a:ext uri="{FF2B5EF4-FFF2-40B4-BE49-F238E27FC236}">
                <a16:creationId xmlns:a16="http://schemas.microsoft.com/office/drawing/2014/main" id="{D1FC226F-83E0-2226-D377-F8376BD009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6456292" y="501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35" name="Textplatzhalter 26">
            <a:extLst>
              <a:ext uri="{FF2B5EF4-FFF2-40B4-BE49-F238E27FC236}">
                <a16:creationId xmlns:a16="http://schemas.microsoft.com/office/drawing/2014/main" id="{10BA3EAB-FA0C-46B7-0CD7-F2A12D81A5C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7176372" y="501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94403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323" userDrawn="1">
          <p15:clr>
            <a:srgbClr val="F26B43"/>
          </p15:clr>
        </p15:guide>
        <p15:guide id="6" pos="257">
          <p15:clr>
            <a:srgbClr val="A4A3A4"/>
          </p15:clr>
        </p15:guide>
        <p15:guide id="7" pos="4067">
          <p15:clr>
            <a:srgbClr val="F26B43"/>
          </p15:clr>
        </p15:guide>
        <p15:guide id="8" pos="4021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1225CE66-DBB8-739C-40C1-C7EF786AB86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3754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25CE66-DBB8-739C-40C1-C7EF786AB8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0BB22A48-E4FC-DF04-EDD8-73946BA75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5736000" y="6309000"/>
            <a:ext cx="1080000" cy="549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77800" algn="l">
              <a:buClr>
                <a:schemeClr val="tx2"/>
              </a:buClr>
              <a:buFont typeface="Fira Sans" panose="020B0503050000020004" pitchFamily="34" charset="0"/>
              <a:buChar char="&gt;"/>
            </a:pPr>
            <a:endParaRPr lang="de-DE" sz="1600">
              <a:solidFill>
                <a:schemeClr val="tx2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413E72D-B03A-1B4E-6E45-0A916192C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872000" cy="981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1055688" y="1268900"/>
            <a:ext cx="8856662" cy="2088100"/>
          </a:xfrm>
        </p:spPr>
        <p:txBody>
          <a:bodyPr vert="horz" anchor="b"/>
          <a:lstStyle>
            <a:lvl1pPr>
              <a:lnSpc>
                <a:spcPct val="85000"/>
              </a:lnSpc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GB"/>
              <a:t>Name of the current section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gray">
          <a:xfrm>
            <a:off x="1055688" y="3428912"/>
            <a:ext cx="8856662" cy="1440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9pPr>
          </a:lstStyle>
          <a:p>
            <a:r>
              <a:rPr lang="en-GB"/>
              <a:t>Optional short description of 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D174B025-8D61-4653-BB5C-1AC49D37CE75}" type="datetime1">
              <a:rPr lang="en-GB" smtClean="0"/>
              <a:t>07/10/2026</a:t>
            </a:fld>
            <a:endParaRPr lang="en-GB"/>
          </a:p>
        </p:txBody>
      </p:sp>
      <p:sp>
        <p:nvSpPr>
          <p:cNvPr id="7" name="Arrow">
            <a:extLst>
              <a:ext uri="{FF2B5EF4-FFF2-40B4-BE49-F238E27FC236}">
                <a16:creationId xmlns:a16="http://schemas.microsoft.com/office/drawing/2014/main" id="{2DB93664-3E0D-919B-F3B1-3E8CAFEE6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10632000" y="4761000"/>
            <a:ext cx="756000" cy="756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Pill_small_TextPH">
            <a:extLst>
              <a:ext uri="{FF2B5EF4-FFF2-40B4-BE49-F238E27FC236}">
                <a16:creationId xmlns:a16="http://schemas.microsoft.com/office/drawing/2014/main" id="{1A681424-DE77-3A71-67F9-9FDE8392D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99887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244">
          <p15:clr>
            <a:srgbClr val="F26B43"/>
          </p15:clr>
        </p15:guide>
        <p15:guide id="2" orient="horz" pos="2115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C05D2FC8-3E8B-9EBE-7745-7873E532D1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526784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5D2FC8-3E8B-9EBE-7745-7873E532D1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dient">
            <a:extLst>
              <a:ext uri="{FF2B5EF4-FFF2-40B4-BE49-F238E27FC236}">
                <a16:creationId xmlns:a16="http://schemas.microsoft.com/office/drawing/2014/main" id="{B723CF16-9659-CD27-BFD2-E5AD0C84A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B2167822-301A-923D-3BF1-98C43E5D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5688" y="1268900"/>
            <a:ext cx="8856662" cy="2088100"/>
          </a:xfrm>
        </p:spPr>
        <p:txBody>
          <a:bodyPr vert="horz" anchor="b"/>
          <a:lstStyle>
            <a:lvl1pPr>
              <a:lnSpc>
                <a:spcPct val="85000"/>
              </a:lnSpc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GB"/>
              <a:t>Name of the current section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EAC21517-510A-2A39-F899-3441461F4C0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055688" y="3429000"/>
            <a:ext cx="8856662" cy="1440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9pPr>
          </a:lstStyle>
          <a:p>
            <a:r>
              <a:rPr lang="en-GB"/>
              <a:t>Optional short description of </a:t>
            </a:r>
            <a:br>
              <a:rPr lang="en-GB"/>
            </a:br>
            <a:r>
              <a:rPr lang="en-GB"/>
              <a:t>the current section</a:t>
            </a:r>
          </a:p>
          <a:p>
            <a:pPr lvl="1"/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D21F9-CAF8-41EB-9D22-EEDEA5B83D6E}" type="datetime1">
              <a:rPr lang="en-GB" smtClean="0"/>
              <a:t>07/10/2026</a:t>
            </a:fld>
            <a:endParaRPr lang="en-GB"/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2E4ABAEA-6371-074E-FCF3-57D9898D4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Arrow">
            <a:extLst>
              <a:ext uri="{FF2B5EF4-FFF2-40B4-BE49-F238E27FC236}">
                <a16:creationId xmlns:a16="http://schemas.microsoft.com/office/drawing/2014/main" id="{EDBBED1B-023A-FACB-C4ED-EE7525F3F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0632000" y="4761000"/>
            <a:ext cx="756000" cy="756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9E9F17F7-0B89-0E0F-48B9-E46CCAFBF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436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244">
          <p15:clr>
            <a:srgbClr val="F26B43"/>
          </p15:clr>
        </p15:guide>
        <p15:guide id="2" orient="horz" pos="2115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7F45E01D-B563-537E-CFD1-CD6B55CE09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1316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F45E01D-B563-537E-CFD1-CD6B55CE09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ildplatzhalter 3">
            <a:extLst>
              <a:ext uri="{FF2B5EF4-FFF2-40B4-BE49-F238E27FC236}">
                <a16:creationId xmlns:a16="http://schemas.microsoft.com/office/drawing/2014/main" id="{39CCA402-DED7-2BB4-D820-6AF1A1083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  Picture</a:t>
            </a:r>
          </a:p>
        </p:txBody>
      </p:sp>
      <p:sp>
        <p:nvSpPr>
          <p:cNvPr id="7" name="Bildkontrast">
            <a:extLst>
              <a:ext uri="{FF2B5EF4-FFF2-40B4-BE49-F238E27FC236}">
                <a16:creationId xmlns:a16="http://schemas.microsoft.com/office/drawing/2014/main" id="{90BF5578-7158-742D-B8B8-D8C5F96FE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0" y="3717000"/>
            <a:ext cx="12192000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9B9FB43F-5E8A-B6C3-EAA8-EA022913F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5688" y="1268900"/>
            <a:ext cx="8856662" cy="2088100"/>
          </a:xfrm>
        </p:spPr>
        <p:txBody>
          <a:bodyPr vert="horz" anchor="b"/>
          <a:lstStyle>
            <a:lvl1pPr>
              <a:lnSpc>
                <a:spcPct val="85000"/>
              </a:lnSpc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GB"/>
              <a:t>Name of the current section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810752F5-186C-03FB-BB64-C5F1D9D9BC3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055688" y="3428912"/>
            <a:ext cx="8856662" cy="1440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9pPr>
          </a:lstStyle>
          <a:p>
            <a:r>
              <a:rPr lang="en-GB"/>
              <a:t>Optional short description of </a:t>
            </a:r>
            <a:br>
              <a:rPr lang="en-GB"/>
            </a:br>
            <a:r>
              <a:rPr lang="en-GB"/>
              <a:t>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09C308-3AEC-4093-92CB-58430B5BD35B}" type="datetime1">
              <a:rPr lang="en-GB" smtClean="0"/>
              <a:t>07/10/2026</a:t>
            </a:fld>
            <a:endParaRPr lang="en-GB"/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8DB6C231-C5BB-9B40-0F2A-1BA2BA977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Arrow">
            <a:extLst>
              <a:ext uri="{FF2B5EF4-FFF2-40B4-BE49-F238E27FC236}">
                <a16:creationId xmlns:a16="http://schemas.microsoft.com/office/drawing/2014/main" id="{0BE17F32-D6B0-F910-E9F6-968829D7A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10632000" y="4761000"/>
            <a:ext cx="756000" cy="756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97617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244">
          <p15:clr>
            <a:srgbClr val="F26B43"/>
          </p15:clr>
        </p15:guide>
        <p15:guide id="2" orient="horz" pos="2115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B718A833-D790-25B6-3705-635EEE5F5A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05563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718A833-D790-25B6-3705-635EEE5F5A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ildplatzhalter 9">
            <a:extLst>
              <a:ext uri="{FF2B5EF4-FFF2-40B4-BE49-F238E27FC236}">
                <a16:creationId xmlns:a16="http://schemas.microsoft.com/office/drawing/2014/main" id="{27A5E866-5D91-E545-59A4-766B60DC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9pPr>
          </a:lstStyle>
          <a:p>
            <a:r>
              <a:rPr lang="en-GB"/>
              <a:t>Add  Picture</a:t>
            </a:r>
          </a:p>
          <a:p>
            <a:pPr lvl="8"/>
            <a:endParaRPr lang="en-GB"/>
          </a:p>
        </p:txBody>
      </p:sp>
      <p:sp>
        <p:nvSpPr>
          <p:cNvPr id="7" name="Bildkontrast">
            <a:extLst>
              <a:ext uri="{FF2B5EF4-FFF2-40B4-BE49-F238E27FC236}">
                <a16:creationId xmlns:a16="http://schemas.microsoft.com/office/drawing/2014/main" id="{C4753983-0865-0D4C-9133-0A99B811D1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3717000"/>
            <a:ext cx="12192000" cy="3141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9685288D-DB07-51CF-3109-4D7FFCFE5B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5688" y="1268900"/>
            <a:ext cx="8856662" cy="2088100"/>
          </a:xfrm>
        </p:spPr>
        <p:txBody>
          <a:bodyPr vert="horz" anchor="b"/>
          <a:lstStyle>
            <a:lvl1pPr>
              <a:lnSpc>
                <a:spcPct val="85000"/>
              </a:lnSpc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GB"/>
              <a:t>Name of the current section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B1A90195-8AAA-0454-4861-29ED43B27E2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055688" y="3429000"/>
            <a:ext cx="8856662" cy="1440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9pPr>
          </a:lstStyle>
          <a:p>
            <a:r>
              <a:rPr lang="en-GB"/>
              <a:t>Optional short description of </a:t>
            </a:r>
            <a:br>
              <a:rPr lang="en-GB"/>
            </a:br>
            <a:r>
              <a:rPr lang="en-GB"/>
              <a:t>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CE3138-F6C1-4B1F-A0E0-3407E64404C7}" type="datetime1">
              <a:rPr lang="en-GB" smtClean="0"/>
              <a:t>07/10/2026</a:t>
            </a:fld>
            <a:endParaRPr lang="en-GB"/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C72E5158-DD49-5499-FBFE-A16D57566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Arrow">
            <a:extLst>
              <a:ext uri="{FF2B5EF4-FFF2-40B4-BE49-F238E27FC236}">
                <a16:creationId xmlns:a16="http://schemas.microsoft.com/office/drawing/2014/main" id="{0BE17F32-D6B0-F910-E9F6-968829D7A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10632000" y="4761000"/>
            <a:ext cx="756000" cy="756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17486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244">
          <p15:clr>
            <a:srgbClr val="F26B43"/>
          </p15:clr>
        </p15:guide>
        <p15:guide id="2" orient="horz" pos="2115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half Picture WHI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AB0DA3CE-1438-CC6E-92E0-BAC3299E76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51716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0DA3CE-1438-CC6E-92E0-BAC3299E76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01841501-C7BA-52D7-E102-657F230BB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5736000" y="6309000"/>
            <a:ext cx="1080000" cy="549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77800" algn="l">
              <a:buClr>
                <a:schemeClr val="tx2"/>
              </a:buClr>
              <a:buFont typeface="Fira Sans" panose="020B0503050000020004" pitchFamily="34" charset="0"/>
              <a:buChar char="&gt;"/>
            </a:pPr>
            <a:endParaRPr lang="de-DE" sz="1600">
              <a:solidFill>
                <a:schemeClr val="tx2"/>
              </a:solidFill>
            </a:endParaRPr>
          </a:p>
        </p:txBody>
      </p: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5CC9311B-B6CB-FE0C-EC7B-B293F448B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72262" y="0"/>
            <a:ext cx="5519737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Add  Picture</a:t>
            </a:r>
          </a:p>
        </p:txBody>
      </p:sp>
      <p:sp>
        <p:nvSpPr>
          <p:cNvPr id="4" name="Bildkontrast">
            <a:extLst>
              <a:ext uri="{FF2B5EF4-FFF2-40B4-BE49-F238E27FC236}">
                <a16:creationId xmlns:a16="http://schemas.microsoft.com/office/drawing/2014/main" id="{85E3E958-EF24-1192-DF23-C5B3CBB04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2262" y="3717000"/>
            <a:ext cx="5519737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413E72D-B03A-1B4E-6E45-0A916192C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872000" cy="981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7988" y="693000"/>
            <a:ext cx="5759450" cy="1872000"/>
          </a:xfrm>
        </p:spPr>
        <p:txBody>
          <a:bodyPr vert="horz" anchor="b"/>
          <a:lstStyle>
            <a:lvl1pPr>
              <a:lnSpc>
                <a:spcPct val="85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/>
              <a:t>Name of the current section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gray">
          <a:xfrm>
            <a:off x="407988" y="2564912"/>
            <a:ext cx="5759450" cy="1944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9pPr>
          </a:lstStyle>
          <a:p>
            <a:r>
              <a:rPr lang="en-GB"/>
              <a:t>Optional short description of 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>
            <a:off x="1055687" y="6453000"/>
            <a:ext cx="4680000" cy="144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20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67EB597F-EBBA-05B9-AE59-487919E8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6888000" y="6453000"/>
            <a:ext cx="720000" cy="144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FD9F9CA-D7C5-4D75-A473-538937D04093}" type="datetime1">
              <a:rPr lang="en-GB" smtClean="0"/>
              <a:t>07/10/2026</a:t>
            </a:fld>
            <a:endParaRPr lang="en-GB"/>
          </a:p>
        </p:txBody>
      </p:sp>
      <p:pic>
        <p:nvPicPr>
          <p:cNvPr id="13" name="Pill_small">
            <a:extLst>
              <a:ext uri="{FF2B5EF4-FFF2-40B4-BE49-F238E27FC236}">
                <a16:creationId xmlns:a16="http://schemas.microsoft.com/office/drawing/2014/main" id="{3CCED57A-1EA4-B4F0-C567-5A3A8AFE5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6154406" y="6475629"/>
            <a:ext cx="216000" cy="98743"/>
          </a:xfrm>
          <a:prstGeom prst="rect">
            <a:avLst/>
          </a:prstGeom>
        </p:spPr>
      </p:pic>
      <p:sp>
        <p:nvSpPr>
          <p:cNvPr id="14" name="Arrow">
            <a:extLst>
              <a:ext uri="{FF2B5EF4-FFF2-40B4-BE49-F238E27FC236}">
                <a16:creationId xmlns:a16="http://schemas.microsoft.com/office/drawing/2014/main" id="{648F5294-342F-CA40-080A-A8D3B1372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7"/>
          </p:nvPr>
        </p:nvSpPr>
        <p:spPr bwMode="gray">
          <a:xfrm>
            <a:off x="4944000" y="4869000"/>
            <a:ext cx="1224000" cy="1224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Pill_small_TextPH">
            <a:extLst>
              <a:ext uri="{FF2B5EF4-FFF2-40B4-BE49-F238E27FC236}">
                <a16:creationId xmlns:a16="http://schemas.microsoft.com/office/drawing/2014/main" id="{9DA40878-F5FF-B719-9BF7-C451E55AB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61015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616">
          <p15:clr>
            <a:srgbClr val="F26B43"/>
          </p15:clr>
        </p15:guide>
        <p15:guide id="6" pos="3885">
          <p15:clr>
            <a:srgbClr val="F26B43"/>
          </p15:clr>
        </p15:guide>
        <p15:guide id="8" pos="4203">
          <p15:clr>
            <a:srgbClr val="F26B43"/>
          </p15:clr>
        </p15:guide>
        <p15:guide id="9" pos="257">
          <p15:clr>
            <a:srgbClr val="F26B4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half 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6280B20-CA0F-5C3C-4EAB-EB7D755B9F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49859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80B20-CA0F-5C3C-4EAB-EB7D755B9F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Verlauf">
            <a:extLst>
              <a:ext uri="{FF2B5EF4-FFF2-40B4-BE49-F238E27FC236}">
                <a16:creationId xmlns:a16="http://schemas.microsoft.com/office/drawing/2014/main" id="{3300AACF-0D35-1B88-AC4F-A1B0BB8F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716998EF-CD2E-E8D7-4A07-69B504815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72263" y="0"/>
            <a:ext cx="5519737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Add  Picture</a:t>
            </a:r>
          </a:p>
        </p:txBody>
      </p:sp>
      <p:sp>
        <p:nvSpPr>
          <p:cNvPr id="4" name="Bildkontrast">
            <a:extLst>
              <a:ext uri="{FF2B5EF4-FFF2-40B4-BE49-F238E27FC236}">
                <a16:creationId xmlns:a16="http://schemas.microsoft.com/office/drawing/2014/main" id="{A9041A99-01BE-D2BD-943C-8D4A7ED86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2262" y="3717000"/>
            <a:ext cx="5519737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23428761-EC80-70E2-D1D7-90ECA56DC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988" y="693000"/>
            <a:ext cx="5759450" cy="1872000"/>
          </a:xfrm>
        </p:spPr>
        <p:txBody>
          <a:bodyPr vert="horz" anchor="b"/>
          <a:lstStyle>
            <a:lvl1pPr>
              <a:lnSpc>
                <a:spcPct val="8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Name of the current section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83129EB0-3C89-AD69-6E13-431184196F4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07988" y="2564912"/>
            <a:ext cx="5760751" cy="1944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9pPr>
          </a:lstStyle>
          <a:p>
            <a:r>
              <a:rPr lang="en-GB"/>
              <a:t>Optional short description of 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>
            <a:off x="1055687" y="6453000"/>
            <a:ext cx="4680000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20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Arrow">
            <a:extLst>
              <a:ext uri="{FF2B5EF4-FFF2-40B4-BE49-F238E27FC236}">
                <a16:creationId xmlns:a16="http://schemas.microsoft.com/office/drawing/2014/main" id="{7A197F93-C74A-7E15-7A87-A3BF743DD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7"/>
          </p:nvPr>
        </p:nvSpPr>
        <p:spPr bwMode="gray">
          <a:xfrm>
            <a:off x="4944000" y="4869000"/>
            <a:ext cx="1224000" cy="1224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4BAFBB94-A8F3-114E-22EA-CF0F512A2374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6888000" y="6453000"/>
            <a:ext cx="720000" cy="144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54AE5A4-A278-4BB3-8BFF-48B71267E52A}" type="datetime1">
              <a:rPr lang="en-GB" smtClean="0"/>
              <a:t>07/10/2026</a:t>
            </a:fld>
            <a:endParaRPr lang="en-GB"/>
          </a:p>
        </p:txBody>
      </p:sp>
      <p:sp>
        <p:nvSpPr>
          <p:cNvPr id="15" name="Pill_small_TextPH">
            <a:extLst>
              <a:ext uri="{FF2B5EF4-FFF2-40B4-BE49-F238E27FC236}">
                <a16:creationId xmlns:a16="http://schemas.microsoft.com/office/drawing/2014/main" id="{DA30F08B-093E-B39F-4AA8-B9A2F8A51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07819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616">
          <p15:clr>
            <a:srgbClr val="F26B43"/>
          </p15:clr>
        </p15:guide>
        <p15:guide id="6" pos="3885">
          <p15:clr>
            <a:srgbClr val="F26B43"/>
          </p15:clr>
        </p15:guide>
        <p15:guide id="8" pos="4203">
          <p15:clr>
            <a:srgbClr val="F26B43"/>
          </p15:clr>
        </p15:guide>
        <p15:guide id="9" pos="257">
          <p15:clr>
            <a:srgbClr val="F26B43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>
            <a:extLst>
              <a:ext uri="{FF2B5EF4-FFF2-40B4-BE49-F238E27FC236}">
                <a16:creationId xmlns:a16="http://schemas.microsoft.com/office/drawing/2014/main" id="{08730F2D-3D5A-B4FB-D0CB-CF57880E34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2186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>
                        <a:extLst>
                          <a:ext uri="{FF2B5EF4-FFF2-40B4-BE49-F238E27FC236}">
                            <a16:creationId xmlns:a16="http://schemas.microsoft.com/office/drawing/2014/main" id="{08730F2D-3D5A-B4FB-D0CB-CF57880E34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/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020130F-1555-7891-3505-25DECEC0A55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4B4AD4E-68CE-D4C7-ED38-CC183EBA28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4C3B36C-6022-7BD7-0AC1-FFEA36DFD5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773D0B3-0E64-FB65-99E1-555E9CC07F7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1DC8993-8D2E-4DE0-9E9C-34605DBD02AA}" type="datetime1">
              <a:rPr lang="en-GB" smtClean="0"/>
              <a:t>07/10/2026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1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3" pos="7423">
          <p15:clr>
            <a:srgbClr val="F26B43"/>
          </p15:clr>
        </p15:guide>
        <p15:guide id="4" orient="horz" pos="323" userDrawn="1">
          <p15:clr>
            <a:srgbClr val="F26B43"/>
          </p15:clr>
        </p15:guide>
        <p15:guide id="5" orient="horz" pos="3883">
          <p15:clr>
            <a:srgbClr val="F26B43"/>
          </p15:clr>
        </p15:guide>
        <p15:guide id="6" pos="257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>
            <a:extLst>
              <a:ext uri="{FF2B5EF4-FFF2-40B4-BE49-F238E27FC236}">
                <a16:creationId xmlns:a16="http://schemas.microsoft.com/office/drawing/2014/main" id="{230C2AFB-781E-6B4E-F903-63933EF572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2186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think-cell data - do not delete">
                        <a:extLst>
                          <a:ext uri="{FF2B5EF4-FFF2-40B4-BE49-F238E27FC236}">
                            <a16:creationId xmlns:a16="http://schemas.microsoft.com/office/drawing/2014/main" id="{230C2AFB-781E-6B4E-F903-63933EF572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Verlauf">
            <a:extLst>
              <a:ext uri="{FF2B5EF4-FFF2-40B4-BE49-F238E27FC236}">
                <a16:creationId xmlns:a16="http://schemas.microsoft.com/office/drawing/2014/main" id="{D20B09AF-858C-FD21-E0D5-D75B184C7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ll">
            <a:extLst>
              <a:ext uri="{FF2B5EF4-FFF2-40B4-BE49-F238E27FC236}">
                <a16:creationId xmlns:a16="http://schemas.microsoft.com/office/drawing/2014/main" id="{E8186563-CFF5-9702-C257-BCE214C06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pic>
        <p:nvPicPr>
          <p:cNvPr id="10" name="Pill">
            <a:extLst>
              <a:ext uri="{FF2B5EF4-FFF2-40B4-BE49-F238E27FC236}">
                <a16:creationId xmlns:a16="http://schemas.microsoft.com/office/drawing/2014/main" id="{58FE6AE3-A96D-3981-CE6F-E7CE0A93C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6155900" y="6481979"/>
            <a:ext cx="216000" cy="98743"/>
          </a:xfrm>
          <a:prstGeom prst="rect">
            <a:avLst/>
          </a:prstGeom>
        </p:spPr>
      </p:pic>
      <p:pic>
        <p:nvPicPr>
          <p:cNvPr id="9" name="Logo">
            <a:extLst>
              <a:ext uri="{FF2B5EF4-FFF2-40B4-BE49-F238E27FC236}">
                <a16:creationId xmlns:a16="http://schemas.microsoft.com/office/drawing/2014/main" id="{9F1461C9-A40F-F091-2E1B-93C5C9A2E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gray">
          <a:xfrm>
            <a:off x="11322000" y="6414338"/>
            <a:ext cx="532705" cy="210187"/>
          </a:xfrm>
          <a:prstGeom prst="rect">
            <a:avLst/>
          </a:prstGeom>
        </p:spPr>
      </p:pic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1056000" y="1772388"/>
            <a:ext cx="10728000" cy="4392612"/>
          </a:xfrm>
          <a:prstGeom prst="rect">
            <a:avLst/>
          </a:prstGeo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873045-E84B-42E6-97B8-868466B07CCD}" type="datetime1">
              <a:rPr lang="en-GB" smtClean="0"/>
              <a:t>07/10/2026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9978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3" pos="7423">
          <p15:clr>
            <a:srgbClr val="F26B43"/>
          </p15:clr>
        </p15:guide>
        <p15:guide id="4" orient="horz" pos="323" userDrawn="1">
          <p15:clr>
            <a:srgbClr val="FBAE40"/>
          </p15:clr>
        </p15:guide>
        <p15:guide id="5" orient="horz" pos="3883">
          <p15:clr>
            <a:srgbClr val="F26B43"/>
          </p15:clr>
        </p15:guide>
        <p15:guide id="6" pos="257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>
            <a:extLst>
              <a:ext uri="{FF2B5EF4-FFF2-40B4-BE49-F238E27FC236}">
                <a16:creationId xmlns:a16="http://schemas.microsoft.com/office/drawing/2014/main" id="{E3202E16-9881-E6EE-C500-8C6F4F6538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9732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think-cell data - do not delete">
                        <a:extLst>
                          <a:ext uri="{FF2B5EF4-FFF2-40B4-BE49-F238E27FC236}">
                            <a16:creationId xmlns:a16="http://schemas.microsoft.com/office/drawing/2014/main" id="{E3202E16-9881-E6EE-C500-8C6F4F6538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/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1056000" y="1772388"/>
            <a:ext cx="5112000" cy="4392612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B7C474F-72E1-4ADA-9EA2-1BEC30461D7E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6671537" y="1772388"/>
            <a:ext cx="5112000" cy="4392612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2E180AB0-1B04-4CCC-82A9-8796D4991E51}" type="datetime1">
              <a:rPr lang="en-GB" smtClean="0"/>
              <a:t>07/10/2026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972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85">
          <p15:clr>
            <a:srgbClr val="F26B43"/>
          </p15:clr>
        </p15:guide>
        <p15:guide id="2" pos="4203">
          <p15:clr>
            <a:srgbClr val="F26B43"/>
          </p15:clr>
        </p15:guide>
        <p15:guide id="3" pos="7423">
          <p15:clr>
            <a:srgbClr val="F26B43"/>
          </p15:clr>
        </p15:guide>
        <p15:guide id="4" pos="665">
          <p15:clr>
            <a:srgbClr val="F26B43"/>
          </p15:clr>
        </p15:guide>
        <p15:guide id="5" orient="horz" pos="1117">
          <p15:clr>
            <a:srgbClr val="F26B43"/>
          </p15:clr>
        </p15:guide>
        <p15:guide id="6" orient="horz" pos="3883">
          <p15:clr>
            <a:srgbClr val="F26B43"/>
          </p15:clr>
        </p15:guide>
        <p15:guide id="7" orient="horz" pos="323" userDrawn="1">
          <p15:clr>
            <a:srgbClr val="F26B43"/>
          </p15:clr>
        </p15:guide>
        <p15:guide id="8" pos="257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erlauf">
            <a:extLst>
              <a:ext uri="{FF2B5EF4-FFF2-40B4-BE49-F238E27FC236}">
                <a16:creationId xmlns:a16="http://schemas.microsoft.com/office/drawing/2014/main" id="{D20B09AF-858C-FD21-E0D5-D75B184C7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ll">
            <a:extLst>
              <a:ext uri="{FF2B5EF4-FFF2-40B4-BE49-F238E27FC236}">
                <a16:creationId xmlns:a16="http://schemas.microsoft.com/office/drawing/2014/main" id="{A9D7CC25-D12B-1CC8-92EB-4C9762F1C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pic>
        <p:nvPicPr>
          <p:cNvPr id="11" name="Pill">
            <a:extLst>
              <a:ext uri="{FF2B5EF4-FFF2-40B4-BE49-F238E27FC236}">
                <a16:creationId xmlns:a16="http://schemas.microsoft.com/office/drawing/2014/main" id="{077CF138-59BF-F35A-28FA-6953C5392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6155900" y="6481979"/>
            <a:ext cx="216000" cy="98743"/>
          </a:xfrm>
          <a:prstGeom prst="rect">
            <a:avLst/>
          </a:prstGeom>
        </p:spPr>
      </p:pic>
      <p:pic>
        <p:nvPicPr>
          <p:cNvPr id="9" name="Logo">
            <a:extLst>
              <a:ext uri="{FF2B5EF4-FFF2-40B4-BE49-F238E27FC236}">
                <a16:creationId xmlns:a16="http://schemas.microsoft.com/office/drawing/2014/main" id="{9F1461C9-A40F-F091-2E1B-93C5C9A2E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gray">
          <a:xfrm>
            <a:off x="11322000" y="6414338"/>
            <a:ext cx="532705" cy="210187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FCC616E-855D-C4EB-CB12-950FCFD0E3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84776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6" imgW="306" imgH="306" progId="TCLayout.ActiveDocument.1">
                  <p:embed/>
                </p:oleObj>
              </mc:Choice>
              <mc:Fallback>
                <p:oleObj name="think-cell Folie" r:id="rId6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FCC616E-855D-C4EB-CB12-950FCFD0E3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1056000" y="1772388"/>
            <a:ext cx="5112000" cy="4392612"/>
          </a:xfrm>
          <a:prstGeom prst="rect">
            <a:avLst/>
          </a:prstGeo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6830A5-B551-48BC-B98B-DC1C79583F2B}" type="datetime1">
              <a:rPr lang="en-GB" smtClean="0"/>
              <a:t>07/10/2026</a:t>
            </a:fld>
            <a:endParaRPr lang="en-GB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22AFEC74-2BAE-AF08-AED5-8B96C5623CB0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gray">
          <a:xfrm>
            <a:off x="6672632" y="1772692"/>
            <a:ext cx="5112000" cy="4392612"/>
          </a:xfrm>
          <a:prstGeom prst="rect">
            <a:avLst/>
          </a:prstGeo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1537789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85">
          <p15:clr>
            <a:srgbClr val="F26B43"/>
          </p15:clr>
        </p15:guide>
        <p15:guide id="2" pos="4203">
          <p15:clr>
            <a:srgbClr val="F26B43"/>
          </p15:clr>
        </p15:guide>
        <p15:guide id="3" pos="7423">
          <p15:clr>
            <a:srgbClr val="F26B43"/>
          </p15:clr>
        </p15:guide>
        <p15:guide id="4" pos="665">
          <p15:clr>
            <a:srgbClr val="F26B43"/>
          </p15:clr>
        </p15:guide>
        <p15:guide id="6" orient="horz" pos="323" userDrawn="1">
          <p15:clr>
            <a:srgbClr val="F26B43"/>
          </p15:clr>
        </p15:guide>
        <p15:guide id="7" orient="horz" pos="1117">
          <p15:clr>
            <a:srgbClr val="F26B43"/>
          </p15:clr>
        </p15:guide>
        <p15:guide id="8" orient="horz" pos="3883">
          <p15:clr>
            <a:srgbClr val="F26B43"/>
          </p15:clr>
        </p15:guide>
        <p15:guide id="9" pos="25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CC32B6E-900C-F093-4CA6-EE27471B60D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80068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C32B6E-900C-F093-4CA6-EE27471B60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/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1056000" y="1772388"/>
            <a:ext cx="3240000" cy="4392612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B7C474F-72E1-4ADA-9EA2-1BEC30461D7E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4800000" y="1772388"/>
            <a:ext cx="3240000" cy="4392612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56281752-5285-F8BF-B903-5D95BADAE05D}"/>
              </a:ext>
            </a:extLst>
          </p:cNvPr>
          <p:cNvSpPr>
            <a:spLocks noGrp="1"/>
          </p:cNvSpPr>
          <p:nvPr>
            <p:ph idx="15" hasCustomPrompt="1"/>
          </p:nvPr>
        </p:nvSpPr>
        <p:spPr bwMode="gray">
          <a:xfrm>
            <a:off x="8543875" y="1772388"/>
            <a:ext cx="3240000" cy="4392612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0AE29D70-4111-4CD2-A907-00B25AFFDEA5}" type="datetime1">
              <a:rPr lang="en-GB" smtClean="0"/>
              <a:t>07/10/2026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7943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65">
          <p15:clr>
            <a:srgbClr val="F26B43"/>
          </p15:clr>
        </p15:guide>
        <p15:guide id="2" pos="3024">
          <p15:clr>
            <a:srgbClr val="F26B43"/>
          </p15:clr>
        </p15:guide>
        <p15:guide id="3" pos="5065">
          <p15:clr>
            <a:srgbClr val="F26B43"/>
          </p15:clr>
        </p15:guide>
        <p15:guide id="4" pos="5382">
          <p15:clr>
            <a:srgbClr val="F26B43"/>
          </p15:clr>
        </p15:guide>
        <p15:guide id="5" pos="257">
          <p15:clr>
            <a:srgbClr val="A4A3A4"/>
          </p15:clr>
        </p15:guide>
        <p15:guide id="6" pos="7423">
          <p15:clr>
            <a:srgbClr val="F26B43"/>
          </p15:clr>
        </p15:guide>
        <p15:guide id="7" orient="horz" pos="1117">
          <p15:clr>
            <a:srgbClr val="F26B43"/>
          </p15:clr>
        </p15:guide>
        <p15:guide id="8" orient="horz" pos="323" userDrawn="1">
          <p15:clr>
            <a:srgbClr val="F26B43"/>
          </p15:clr>
        </p15:guide>
        <p15:guide id="9" orient="horz" pos="3883">
          <p15:clr>
            <a:srgbClr val="F26B43"/>
          </p15:clr>
        </p15:guide>
        <p15:guide id="10" pos="2706">
          <p15:clr>
            <a:srgbClr val="F26B43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>
            <a:extLst>
              <a:ext uri="{FF2B5EF4-FFF2-40B4-BE49-F238E27FC236}">
                <a16:creationId xmlns:a16="http://schemas.microsoft.com/office/drawing/2014/main" id="{07EB9DCC-A87F-E5F8-747D-4B3518DB8B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15643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think-cell data - do not delete">
                        <a:extLst>
                          <a:ext uri="{FF2B5EF4-FFF2-40B4-BE49-F238E27FC236}">
                            <a16:creationId xmlns:a16="http://schemas.microsoft.com/office/drawing/2014/main" id="{07EB9DCC-A87F-E5F8-747D-4B3518DB8B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Verlauf">
            <a:extLst>
              <a:ext uri="{FF2B5EF4-FFF2-40B4-BE49-F238E27FC236}">
                <a16:creationId xmlns:a16="http://schemas.microsoft.com/office/drawing/2014/main" id="{D20B09AF-858C-FD21-E0D5-D75B184C7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Logo">
            <a:extLst>
              <a:ext uri="{FF2B5EF4-FFF2-40B4-BE49-F238E27FC236}">
                <a16:creationId xmlns:a16="http://schemas.microsoft.com/office/drawing/2014/main" id="{9F1461C9-A40F-F091-2E1B-93C5C9A2E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11322000" y="6414338"/>
            <a:ext cx="532705" cy="210187"/>
          </a:xfrm>
          <a:prstGeom prst="rect">
            <a:avLst/>
          </a:prstGeom>
        </p:spPr>
      </p:pic>
      <p:pic>
        <p:nvPicPr>
          <p:cNvPr id="15" name="Pill">
            <a:extLst>
              <a:ext uri="{FF2B5EF4-FFF2-40B4-BE49-F238E27FC236}">
                <a16:creationId xmlns:a16="http://schemas.microsoft.com/office/drawing/2014/main" id="{81E7D753-B737-CA3A-83FF-BCF0157C4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pic>
        <p:nvPicPr>
          <p:cNvPr id="13" name="Pill">
            <a:extLst>
              <a:ext uri="{FF2B5EF4-FFF2-40B4-BE49-F238E27FC236}">
                <a16:creationId xmlns:a16="http://schemas.microsoft.com/office/drawing/2014/main" id="{16F3E94A-CFFE-84E0-3DAF-050B8F4F3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gray">
          <a:xfrm>
            <a:off x="6155900" y="6481979"/>
            <a:ext cx="216000" cy="98743"/>
          </a:xfrm>
          <a:prstGeom prst="rect">
            <a:avLst/>
          </a:prstGeom>
        </p:spPr>
      </p:pic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BF9348A-53B2-55D9-D553-B1D771B3D73E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1056025" y="1772816"/>
            <a:ext cx="3239775" cy="4392612"/>
          </a:xfrm>
          <a:prstGeom prst="rect">
            <a:avLst/>
          </a:prstGeo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55D3322A-38DF-0D56-6F80-66D59465B7D1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gray">
          <a:xfrm>
            <a:off x="4799856" y="1772816"/>
            <a:ext cx="3239775" cy="4392612"/>
          </a:xfrm>
          <a:prstGeom prst="rect">
            <a:avLst/>
          </a:prstGeo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CB33224D-BFA5-7684-C3BF-A422E774B238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8544272" y="1772388"/>
            <a:ext cx="3239775" cy="4392612"/>
          </a:xfrm>
          <a:prstGeom prst="rect">
            <a:avLst/>
          </a:prstGeo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D919E8-02AC-4908-89DD-112D4D548AFC}" type="datetime1">
              <a:rPr lang="en-GB" smtClean="0"/>
              <a:t>07/10/2026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6866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706">
          <p15:clr>
            <a:srgbClr val="F26B43"/>
          </p15:clr>
        </p15:guide>
        <p15:guide id="2" pos="3024">
          <p15:clr>
            <a:srgbClr val="F26B43"/>
          </p15:clr>
        </p15:guide>
        <p15:guide id="3" pos="5065">
          <p15:clr>
            <a:srgbClr val="F26B43"/>
          </p15:clr>
        </p15:guide>
        <p15:guide id="4" pos="5382">
          <p15:clr>
            <a:srgbClr val="F26B43"/>
          </p15:clr>
        </p15:guide>
        <p15:guide id="5" pos="7423">
          <p15:clr>
            <a:srgbClr val="F26B43"/>
          </p15:clr>
        </p15:guide>
        <p15:guide id="6" pos="665">
          <p15:clr>
            <a:srgbClr val="F26B43"/>
          </p15:clr>
        </p15:guide>
        <p15:guide id="7" pos="257">
          <p15:clr>
            <a:srgbClr val="A4A3A4"/>
          </p15:clr>
        </p15:guide>
        <p15:guide id="8" orient="horz" pos="1117">
          <p15:clr>
            <a:srgbClr val="F26B43"/>
          </p15:clr>
        </p15:guide>
        <p15:guide id="9" orient="horz" pos="3883">
          <p15:clr>
            <a:srgbClr val="F26B43"/>
          </p15:clr>
        </p15:guide>
        <p15:guide id="10" orient="horz" pos="323" userDrawn="1">
          <p15:clr>
            <a:srgbClr val="F26B43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9EAE858-7D83-1246-D5F5-645F93DD8F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24112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EAE858-7D83-1246-D5F5-645F93DD8F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1055689" y="512676"/>
            <a:ext cx="5111750" cy="1080000"/>
          </a:xfrm>
        </p:spPr>
        <p:txBody>
          <a:bodyPr vert="horz"/>
          <a:lstStyle>
            <a:lvl1pPr>
              <a:tabLst>
                <a:tab pos="981075" algn="l"/>
              </a:tabLst>
              <a:defRPr sz="3400"/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1056001" y="1772388"/>
            <a:ext cx="5111437" cy="4392612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9" name="Bildplatzhalter 3">
            <a:extLst>
              <a:ext uri="{FF2B5EF4-FFF2-40B4-BE49-F238E27FC236}">
                <a16:creationId xmlns:a16="http://schemas.microsoft.com/office/drawing/2014/main" id="{8C1DE1A5-B04A-ED93-AB14-36D90A894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72262" y="0"/>
            <a:ext cx="5519737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Add  Picture</a:t>
            </a:r>
          </a:p>
        </p:txBody>
      </p:sp>
      <p:sp>
        <p:nvSpPr>
          <p:cNvPr id="2" name="Bildkontrast">
            <a:extLst>
              <a:ext uri="{FF2B5EF4-FFF2-40B4-BE49-F238E27FC236}">
                <a16:creationId xmlns:a16="http://schemas.microsoft.com/office/drawing/2014/main" id="{DF82BC46-76C1-F13C-BA0F-B54D6BD47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2262" y="3717000"/>
            <a:ext cx="5519737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8CE09315-8CA6-25EE-10AD-C862A986A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20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>
            <a:off x="1055687" y="6453000"/>
            <a:ext cx="4752976" cy="144000"/>
          </a:xfrm>
        </p:spPr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0A95584F-82B1-B519-4C34-3052DEDAEAD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6888000" y="6453000"/>
            <a:ext cx="720000" cy="144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F9BAEB-3E19-4ECF-83E5-EF012BAFDFC5}" type="datetime1">
              <a:rPr lang="en-GB" smtClean="0"/>
              <a:t>07/10/2026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548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203">
          <p15:clr>
            <a:srgbClr val="F26B43"/>
          </p15:clr>
        </p15:guide>
        <p15:guide id="4" pos="3885">
          <p15:clr>
            <a:srgbClr val="F26B43"/>
          </p15:clr>
        </p15:guide>
        <p15:guide id="5" pos="665">
          <p15:clr>
            <a:srgbClr val="F26B43"/>
          </p15:clr>
        </p15:guide>
        <p15:guide id="6" pos="257">
          <p15:clr>
            <a:srgbClr val="A4A3A4"/>
          </p15:clr>
        </p15:guide>
        <p15:guide id="7" orient="horz" pos="323" userDrawn="1">
          <p15:clr>
            <a:srgbClr val="F26B43"/>
          </p15:clr>
        </p15:guide>
        <p15:guide id="8" orient="horz" pos="1117">
          <p15:clr>
            <a:srgbClr val="F26B43"/>
          </p15:clr>
        </p15:guide>
        <p15:guide id="9" orient="horz" pos="3883">
          <p15:clr>
            <a:srgbClr val="F26B43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>
            <a:extLst>
              <a:ext uri="{FF2B5EF4-FFF2-40B4-BE49-F238E27FC236}">
                <a16:creationId xmlns:a16="http://schemas.microsoft.com/office/drawing/2014/main" id="{7B499CE7-FD2B-27EA-F467-D09D7287B0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980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think-cell data - do not delete">
                        <a:extLst>
                          <a:ext uri="{FF2B5EF4-FFF2-40B4-BE49-F238E27FC236}">
                            <a16:creationId xmlns:a16="http://schemas.microsoft.com/office/drawing/2014/main" id="{7B499CE7-FD2B-27EA-F467-D09D7287B0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Verlauf">
            <a:extLst>
              <a:ext uri="{FF2B5EF4-FFF2-40B4-BE49-F238E27FC236}">
                <a16:creationId xmlns:a16="http://schemas.microsoft.com/office/drawing/2014/main" id="{5066E457-A55B-A414-2582-D3B3C9977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ll">
            <a:extLst>
              <a:ext uri="{FF2B5EF4-FFF2-40B4-BE49-F238E27FC236}">
                <a16:creationId xmlns:a16="http://schemas.microsoft.com/office/drawing/2014/main" id="{62D33F38-F373-2BC2-BF2E-F352055CD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pic>
        <p:nvPicPr>
          <p:cNvPr id="9" name="Pill">
            <a:extLst>
              <a:ext uri="{FF2B5EF4-FFF2-40B4-BE49-F238E27FC236}">
                <a16:creationId xmlns:a16="http://schemas.microsoft.com/office/drawing/2014/main" id="{A8DABEAB-EF89-8EF5-5E32-0F3EE1558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6155900" y="6481979"/>
            <a:ext cx="216000" cy="98743"/>
          </a:xfrm>
          <a:prstGeom prst="rect">
            <a:avLst/>
          </a:prstGeom>
        </p:spPr>
      </p:pic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1055689" y="512796"/>
            <a:ext cx="5111750" cy="1080000"/>
          </a:xfrm>
        </p:spPr>
        <p:txBody>
          <a:bodyPr vert="horz"/>
          <a:lstStyle>
            <a:lvl1pPr>
              <a:tabLst>
                <a:tab pos="1973263" algn="l"/>
              </a:tabLst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1056001" y="1772388"/>
            <a:ext cx="5111454" cy="4392612"/>
          </a:xfrm>
          <a:prstGeom prst="rect">
            <a:avLst/>
          </a:prstGeo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7DC2D9A4-1CC4-B1B6-FEB6-6A8464791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72262" y="0"/>
            <a:ext cx="5519737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Add  Picture</a:t>
            </a:r>
          </a:p>
        </p:txBody>
      </p:sp>
      <p:sp>
        <p:nvSpPr>
          <p:cNvPr id="13" name="Bildkontrast">
            <a:extLst>
              <a:ext uri="{FF2B5EF4-FFF2-40B4-BE49-F238E27FC236}">
                <a16:creationId xmlns:a16="http://schemas.microsoft.com/office/drawing/2014/main" id="{55763AF0-5E30-A5B1-66E8-7423EFD6E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2262" y="3717000"/>
            <a:ext cx="5519737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8CE09315-8CA6-25EE-10AD-C862A986A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20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>
            <a:off x="1055687" y="6453000"/>
            <a:ext cx="4752976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0A95584F-82B1-B519-4C34-3052DEDAEAD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6888000" y="6453000"/>
            <a:ext cx="720000" cy="144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5CF6B0-EA7D-47D6-8CE1-29D2B02F05A3}" type="datetime1">
              <a:rPr lang="en-GB" smtClean="0"/>
              <a:t>07/10/2026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779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pos="3885">
          <p15:clr>
            <a:srgbClr val="F26B43"/>
          </p15:clr>
        </p15:guide>
        <p15:guide id="5" pos="4203">
          <p15:clr>
            <a:srgbClr val="F26B43"/>
          </p15:clr>
        </p15:guide>
        <p15:guide id="6" pos="665">
          <p15:clr>
            <a:srgbClr val="F26B43"/>
          </p15:clr>
        </p15:guide>
        <p15:guide id="7" pos="257">
          <p15:clr>
            <a:srgbClr val="A4A3A4"/>
          </p15:clr>
        </p15:guide>
        <p15:guide id="8" orient="horz" pos="323" userDrawn="1">
          <p15:clr>
            <a:srgbClr val="F26B43"/>
          </p15:clr>
        </p15:guide>
        <p15:guide id="9" orient="horz" pos="1117">
          <p15:clr>
            <a:srgbClr val="F26B43"/>
          </p15:clr>
        </p15:guide>
        <p15:guide id="10" orient="horz" pos="3883">
          <p15:clr>
            <a:srgbClr val="F26B43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FBDD7BE-F636-39CC-30B8-30054345D71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97353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BDD7BE-F636-39CC-30B8-30054345D7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/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BC192E0D-DE58-4606-A78A-33A4683AEBDD}" type="datetime1">
              <a:rPr lang="en-GB" smtClean="0"/>
              <a:t>07/10/2026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138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665">
          <p15:clr>
            <a:srgbClr val="F26B43"/>
          </p15:clr>
        </p15:guide>
        <p15:guide id="3" pos="257">
          <p15:clr>
            <a:srgbClr val="A4A3A4"/>
          </p15:clr>
        </p15:guide>
        <p15:guide id="4" pos="7423">
          <p15:clr>
            <a:srgbClr val="F26B43"/>
          </p15:clr>
        </p15:guide>
        <p15:guide id="5" orient="horz" pos="1117">
          <p15:clr>
            <a:srgbClr val="F26B43"/>
          </p15:clr>
        </p15:guide>
        <p15:guide id="6" orient="horz" pos="3883">
          <p15:clr>
            <a:srgbClr val="F26B43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DC3066B1-77F4-F1FD-CE8E-7FCDC086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02661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3066B1-77F4-F1FD-CE8E-7FCDC086392A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Verlauf">
            <a:extLst>
              <a:ext uri="{FF2B5EF4-FFF2-40B4-BE49-F238E27FC236}">
                <a16:creationId xmlns:a16="http://schemas.microsoft.com/office/drawing/2014/main" id="{D20B09AF-858C-FD21-E0D5-D75B184C7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ll">
            <a:extLst>
              <a:ext uri="{FF2B5EF4-FFF2-40B4-BE49-F238E27FC236}">
                <a16:creationId xmlns:a16="http://schemas.microsoft.com/office/drawing/2014/main" id="{1A600FCA-A019-150E-D8EC-3F5D55E86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pic>
        <p:nvPicPr>
          <p:cNvPr id="7" name="Pill">
            <a:extLst>
              <a:ext uri="{FF2B5EF4-FFF2-40B4-BE49-F238E27FC236}">
                <a16:creationId xmlns:a16="http://schemas.microsoft.com/office/drawing/2014/main" id="{F73F360A-1697-9F18-4A08-4AB1920B3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6155900" y="6481979"/>
            <a:ext cx="216000" cy="98743"/>
          </a:xfrm>
          <a:prstGeom prst="rect">
            <a:avLst/>
          </a:prstGeom>
        </p:spPr>
      </p:pic>
      <p:pic>
        <p:nvPicPr>
          <p:cNvPr id="9" name="Logo">
            <a:extLst>
              <a:ext uri="{FF2B5EF4-FFF2-40B4-BE49-F238E27FC236}">
                <a16:creationId xmlns:a16="http://schemas.microsoft.com/office/drawing/2014/main" id="{9F1461C9-A40F-F091-2E1B-93C5C9A2E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gray">
          <a:xfrm>
            <a:off x="11322000" y="6414338"/>
            <a:ext cx="532705" cy="210187"/>
          </a:xfrm>
          <a:prstGeom prst="rect">
            <a:avLst/>
          </a:prstGeom>
        </p:spPr>
      </p:pic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4C16972-2E76-4ED4-B55F-0EF541040E6C}" type="datetime1">
              <a:rPr lang="en-GB" smtClean="0"/>
              <a:t>07/10/2026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33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7423">
          <p15:clr>
            <a:srgbClr val="F26B43"/>
          </p15:clr>
        </p15:guide>
        <p15:guide id="3" pos="665">
          <p15:clr>
            <a:srgbClr val="F26B43"/>
          </p15:clr>
        </p15:guide>
        <p15:guide id="4" pos="257">
          <p15:clr>
            <a:srgbClr val="A4A3A4"/>
          </p15:clr>
        </p15:guide>
        <p15:guide id="5" orient="horz" pos="1117">
          <p15:clr>
            <a:srgbClr val="F26B43"/>
          </p15:clr>
        </p15:guide>
        <p15:guide id="6" orient="horz" pos="3883">
          <p15:clr>
            <a:srgbClr val="F26B43"/>
          </p15:clr>
        </p15:guide>
        <p15:guide id="7" orient="horz" pos="323" userDrawn="1">
          <p15:clr>
            <a:srgbClr val="F26B43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72FBFCFB-A9AA-A84A-7D9C-B31CA5FCDC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02081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2FBFCFB-A9AA-A84A-7D9C-B31CA5FCDC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5413E72D-B03A-1B4E-6E45-0A916192C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872000" cy="981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8" name="Bildplatzhalter 3">
            <a:extLst>
              <a:ext uri="{FF2B5EF4-FFF2-40B4-BE49-F238E27FC236}">
                <a16:creationId xmlns:a16="http://schemas.microsoft.com/office/drawing/2014/main" id="{75BD02BA-3135-ABF6-C2CA-BDC4C15FC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Add  Picture</a:t>
            </a:r>
          </a:p>
        </p:txBody>
      </p:sp>
      <p:sp>
        <p:nvSpPr>
          <p:cNvPr id="12" name="Bildkontrast">
            <a:extLst>
              <a:ext uri="{FF2B5EF4-FFF2-40B4-BE49-F238E27FC236}">
                <a16:creationId xmlns:a16="http://schemas.microsoft.com/office/drawing/2014/main" id="{E0A85DBA-4C45-C312-2E67-3B22B7C61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3717000"/>
            <a:ext cx="12192000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25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Pill_TextPH">
            <a:extLst>
              <a:ext uri="{FF2B5EF4-FFF2-40B4-BE49-F238E27FC236}">
                <a16:creationId xmlns:a16="http://schemas.microsoft.com/office/drawing/2014/main" id="{3BCA9726-4623-39C2-ACEC-2ED9D720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407988" y="613857"/>
            <a:ext cx="432000" cy="19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ll_small_TextPH">
            <a:extLst>
              <a:ext uri="{FF2B5EF4-FFF2-40B4-BE49-F238E27FC236}">
                <a16:creationId xmlns:a16="http://schemas.microsoft.com/office/drawing/2014/main" id="{0850F0EC-87EA-53D9-7DD0-6C5A4C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F22EE31-1ADF-E57C-A107-DD1EBCE51A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GB"/>
              <a:t>Add a maximum two-line title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818E0518-32F6-7903-1F76-43480DB649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5650" y="1773975"/>
            <a:ext cx="7920000" cy="4391025"/>
          </a:xfrm>
        </p:spPr>
        <p:txBody>
          <a:bodyPr anchor="ctr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Add a sentence or quote.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C78BF6-93CB-4652-B099-24B9654BC578}" type="datetime1">
              <a:rPr lang="en-GB" smtClean="0"/>
              <a:t>07/10/2026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8961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654">
          <p15:clr>
            <a:srgbClr val="F26B43"/>
          </p15:clr>
        </p15:guide>
        <p15:guide id="2" orient="horz" pos="1117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665">
          <p15:clr>
            <a:srgbClr val="F26B43"/>
          </p15:clr>
        </p15:guide>
        <p15:guide id="5" orient="horz" pos="323" userDrawn="1">
          <p15:clr>
            <a:srgbClr val="F26B43"/>
          </p15:clr>
        </p15:guide>
        <p15:guide id="6" pos="7423">
          <p15:clr>
            <a:srgbClr val="A4A3A4"/>
          </p15:clr>
        </p15:guide>
        <p15:guide id="7" pos="257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7D7FBAF0-31B3-3178-3418-830251BBF1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05358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7FBAF0-31B3-3178-3418-830251BBF1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5413E72D-B03A-1B4E-6E45-0A916192C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872000" cy="981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2" name="Bildplatzhalter 9">
            <a:extLst>
              <a:ext uri="{FF2B5EF4-FFF2-40B4-BE49-F238E27FC236}">
                <a16:creationId xmlns:a16="http://schemas.microsoft.com/office/drawing/2014/main" id="{E351952E-1586-EFD7-6DF7-9AFD1741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9pPr>
          </a:lstStyle>
          <a:p>
            <a:r>
              <a:rPr lang="en-GB"/>
              <a:t>Add  Picture</a:t>
            </a:r>
          </a:p>
          <a:p>
            <a:pPr lvl="8"/>
            <a:endParaRPr lang="en-GB"/>
          </a:p>
        </p:txBody>
      </p:sp>
      <p:sp>
        <p:nvSpPr>
          <p:cNvPr id="13" name="Bildkontrast">
            <a:extLst>
              <a:ext uri="{FF2B5EF4-FFF2-40B4-BE49-F238E27FC236}">
                <a16:creationId xmlns:a16="http://schemas.microsoft.com/office/drawing/2014/main" id="{6C5587DE-1BB4-FEC4-51C5-6BCDD26BA0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3717000"/>
            <a:ext cx="12192000" cy="3141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ll_small_TextPH">
            <a:extLst>
              <a:ext uri="{FF2B5EF4-FFF2-40B4-BE49-F238E27FC236}">
                <a16:creationId xmlns:a16="http://schemas.microsoft.com/office/drawing/2014/main" id="{CAB8B82F-418E-0DA5-6388-1514CF995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Pill_TextPH">
            <a:extLst>
              <a:ext uri="{FF2B5EF4-FFF2-40B4-BE49-F238E27FC236}">
                <a16:creationId xmlns:a16="http://schemas.microsoft.com/office/drawing/2014/main" id="{78945607-C7CC-6448-E3FB-442C0A19F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407988" y="613857"/>
            <a:ext cx="432000" cy="19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F22EE31-1ADF-E57C-A107-DD1EBCE51A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7" name="Textplatzhalter 15">
            <a:extLst>
              <a:ext uri="{FF2B5EF4-FFF2-40B4-BE49-F238E27FC236}">
                <a16:creationId xmlns:a16="http://schemas.microsoft.com/office/drawing/2014/main" id="{C7557111-B1A9-101D-9318-C0C8B99CA2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5650" y="1773975"/>
            <a:ext cx="7920000" cy="4391025"/>
          </a:xfrm>
        </p:spPr>
        <p:txBody>
          <a:bodyPr anchor="ctr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Add a sentence or quote.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F31ABD-5520-400E-8A73-C5477C5CE670}" type="datetime1">
              <a:rPr lang="en-GB" smtClean="0"/>
              <a:t>07/10/2026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334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654">
          <p15:clr>
            <a:srgbClr val="F26B43"/>
          </p15:clr>
        </p15:guide>
        <p15:guide id="2" pos="665">
          <p15:clr>
            <a:srgbClr val="F26B43"/>
          </p15:clr>
        </p15:guide>
        <p15:guide id="3" pos="257">
          <p15:clr>
            <a:srgbClr val="A4A3A4"/>
          </p15:clr>
        </p15:guide>
        <p15:guide id="4" pos="7423">
          <p15:clr>
            <a:srgbClr val="A4A3A4"/>
          </p15:clr>
        </p15:guide>
        <p15:guide id="5" orient="horz" pos="1117">
          <p15:clr>
            <a:srgbClr val="F26B43"/>
          </p15:clr>
        </p15:guide>
        <p15:guide id="6" orient="horz" pos="3883">
          <p15:clr>
            <a:srgbClr val="F26B43"/>
          </p15:clr>
        </p15:guide>
        <p15:guide id="7" orient="horz" pos="323" userDrawn="1">
          <p15:clr>
            <a:srgbClr val="F26B43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card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E8FF6DB8-1B48-300B-FAA1-7D566E0A1F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57378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FF6DB8-1B48-300B-FAA1-7D566E0A1F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5413E72D-B03A-1B4E-6E45-0A916192C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872000" cy="981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3" name="Bildplatzhalter 3">
            <a:extLst>
              <a:ext uri="{FF2B5EF4-FFF2-40B4-BE49-F238E27FC236}">
                <a16:creationId xmlns:a16="http://schemas.microsoft.com/office/drawing/2014/main" id="{1C2388F7-C332-2E8F-20A9-9D4FE63ED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Add  Picture</a:t>
            </a:r>
          </a:p>
        </p:txBody>
      </p:sp>
      <p:sp>
        <p:nvSpPr>
          <p:cNvPr id="7" name="Bildkontrast">
            <a:extLst>
              <a:ext uri="{FF2B5EF4-FFF2-40B4-BE49-F238E27FC236}">
                <a16:creationId xmlns:a16="http://schemas.microsoft.com/office/drawing/2014/main" id="{AE30FB6A-A54C-85E6-CCAA-86F1BB44E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3717000"/>
            <a:ext cx="12192000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ll_small_TextPH">
            <a:extLst>
              <a:ext uri="{FF2B5EF4-FFF2-40B4-BE49-F238E27FC236}">
                <a16:creationId xmlns:a16="http://schemas.microsoft.com/office/drawing/2014/main" id="{020D6E7B-4B01-8327-B4BB-840F2198B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Pill_TextPH">
            <a:extLst>
              <a:ext uri="{FF2B5EF4-FFF2-40B4-BE49-F238E27FC236}">
                <a16:creationId xmlns:a16="http://schemas.microsoft.com/office/drawing/2014/main" id="{B4F86BE9-F3A2-2AC9-D486-8317E6831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407988" y="613857"/>
            <a:ext cx="432000" cy="19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F22EE31-1ADF-E57C-A107-DD1EBCE51A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/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12" name="Inhaltsplatzhalter 15">
            <a:extLst>
              <a:ext uri="{FF2B5EF4-FFF2-40B4-BE49-F238E27FC236}">
                <a16:creationId xmlns:a16="http://schemas.microsoft.com/office/drawing/2014/main" id="{72745784-6FC3-9DBD-BFD8-44C14446FBF0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320000" y="1773000"/>
            <a:ext cx="4032000" cy="4392000"/>
          </a:xfrm>
          <a:prstGeom prst="roundRect">
            <a:avLst>
              <a:gd name="adj" fmla="val 2835"/>
            </a:avLst>
          </a:prstGeom>
          <a:solidFill>
            <a:schemeClr val="tx2"/>
          </a:solidFill>
        </p:spPr>
        <p:txBody>
          <a:bodyPr lIns="216000" tIns="216000" rIns="216000"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4BE1F3-A87D-4994-818F-83C254C01D01}" type="datetime1">
              <a:rPr lang="en-GB" smtClean="0"/>
              <a:t>07/10/2026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7907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151">
          <p15:clr>
            <a:srgbClr val="F26B43"/>
          </p15:clr>
        </p15:guide>
        <p15:guide id="2" pos="665">
          <p15:clr>
            <a:srgbClr val="F26B43"/>
          </p15:clr>
        </p15:guide>
        <p15:guide id="3" pos="257">
          <p15:clr>
            <a:srgbClr val="A4A3A4"/>
          </p15:clr>
        </p15:guide>
        <p15:guide id="4" pos="7423">
          <p15:clr>
            <a:srgbClr val="A4A3A4"/>
          </p15:clr>
        </p15:guide>
        <p15:guide id="5" orient="horz" pos="323" userDrawn="1">
          <p15:clr>
            <a:srgbClr val="F26B43"/>
          </p15:clr>
        </p15:guide>
        <p15:guide id="6" orient="horz" pos="1117">
          <p15:clr>
            <a:srgbClr val="F26B43"/>
          </p15:clr>
        </p15:guide>
        <p15:guide id="7" orient="horz" pos="3883">
          <p15:clr>
            <a:srgbClr val="F26B43"/>
          </p15:clr>
        </p15:guide>
        <p15:guide id="8" pos="4611">
          <p15:clr>
            <a:srgbClr val="F26B43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car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B9B3D245-2CEA-9AA1-6FCF-D4FBEFA5A0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50531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9B3D245-2CEA-9AA1-6FCF-D4FBEFA5A0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5413E72D-B03A-1B4E-6E45-0A916192C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872000" cy="981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3" name="Bildplatzhalter 9">
            <a:extLst>
              <a:ext uri="{FF2B5EF4-FFF2-40B4-BE49-F238E27FC236}">
                <a16:creationId xmlns:a16="http://schemas.microsoft.com/office/drawing/2014/main" id="{9C15206D-9AF7-8060-6A49-DF17333E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9pPr>
          </a:lstStyle>
          <a:p>
            <a:r>
              <a:rPr lang="en-GB"/>
              <a:t>Add  Picture</a:t>
            </a:r>
          </a:p>
          <a:p>
            <a:pPr lvl="8"/>
            <a:endParaRPr lang="en-GB"/>
          </a:p>
        </p:txBody>
      </p:sp>
      <p:sp>
        <p:nvSpPr>
          <p:cNvPr id="7" name="Bildkontrast">
            <a:extLst>
              <a:ext uri="{FF2B5EF4-FFF2-40B4-BE49-F238E27FC236}">
                <a16:creationId xmlns:a16="http://schemas.microsoft.com/office/drawing/2014/main" id="{2209CCB1-5813-6601-5750-4C67A945006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0" y="3717000"/>
            <a:ext cx="12192000" cy="3141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ll_small_TextPH">
            <a:extLst>
              <a:ext uri="{FF2B5EF4-FFF2-40B4-BE49-F238E27FC236}">
                <a16:creationId xmlns:a16="http://schemas.microsoft.com/office/drawing/2014/main" id="{926F034F-E817-5B36-135F-E64D51D97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Pill_TextPH">
            <a:extLst>
              <a:ext uri="{FF2B5EF4-FFF2-40B4-BE49-F238E27FC236}">
                <a16:creationId xmlns:a16="http://schemas.microsoft.com/office/drawing/2014/main" id="{342DB53C-383B-5FDD-132E-21C49D902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407988" y="613857"/>
            <a:ext cx="432000" cy="19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F22EE31-1ADF-E57C-A107-DD1EBCE51A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1EE43ED3-0051-9C76-C030-0F05D83AD00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320000" y="1773000"/>
            <a:ext cx="4032000" cy="4392000"/>
          </a:xfrm>
          <a:prstGeom prst="roundRect">
            <a:avLst>
              <a:gd name="adj" fmla="val 2835"/>
            </a:avLst>
          </a:prstGeom>
          <a:solidFill>
            <a:schemeClr val="bg1"/>
          </a:solidFill>
        </p:spPr>
        <p:txBody>
          <a:bodyPr lIns="216000" tIns="216000" rIns="216000"/>
          <a:lstStyle/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FCCB1B-EEB0-4A82-902C-CC8FB08D245F}" type="datetime1">
              <a:rPr lang="en-GB" smtClean="0"/>
              <a:t>07/10/2026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307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151">
          <p15:clr>
            <a:srgbClr val="F26B43"/>
          </p15:clr>
        </p15:guide>
        <p15:guide id="4" pos="4611">
          <p15:clr>
            <a:srgbClr val="F26B43"/>
          </p15:clr>
        </p15:guide>
        <p15:guide id="5" pos="7423">
          <p15:clr>
            <a:srgbClr val="A4A3A4"/>
          </p15:clr>
        </p15:guide>
        <p15:guide id="6" pos="257">
          <p15:clr>
            <a:srgbClr val="A4A3A4"/>
          </p15:clr>
        </p15:guide>
        <p15:guide id="7" pos="665">
          <p15:clr>
            <a:srgbClr val="F26B43"/>
          </p15:clr>
        </p15:guide>
        <p15:guide id="8" orient="horz" pos="323" userDrawn="1">
          <p15:clr>
            <a:srgbClr val="F26B43"/>
          </p15:clr>
        </p15:guide>
        <p15:guide id="9" orient="horz" pos="1117">
          <p15:clr>
            <a:srgbClr val="F26B43"/>
          </p15:clr>
        </p15:guide>
        <p15:guide id="10" orient="horz" pos="3883">
          <p15:clr>
            <a:srgbClr val="F26B43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im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4A2E033-2A48-4869-3792-E33CD44E9C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25888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A2E033-2A48-4869-3792-E33CD44E9C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E0F43B14-2D94-B7D9-2480-0CD5082176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08000" y="621000"/>
            <a:ext cx="11376012" cy="554485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1">
                <a:solidFill>
                  <a:schemeClr val="tx2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tx2"/>
                </a:solidFill>
              </a:defRPr>
            </a:lvl2pPr>
            <a:lvl3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tx2"/>
                </a:solidFill>
              </a:defRPr>
            </a:lvl3pPr>
            <a:lvl4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tx2"/>
                </a:solidFill>
              </a:defRPr>
            </a:lvl4pPr>
            <a:lvl5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de-DE" sz="4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tx2"/>
                </a:solidFill>
              </a:defRPr>
            </a:lvl6pPr>
            <a:lvl7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tx2"/>
                </a:solidFill>
              </a:defRPr>
            </a:lvl7pPr>
            <a:lvl8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tx2"/>
                </a:solidFill>
              </a:defRPr>
            </a:lvl8pPr>
            <a:lvl9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Add a powerful message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2C91A2E-4FA7-42DF-8A3D-E5B0B54B7948}" type="datetime1">
              <a:rPr lang="en-GB" smtClean="0"/>
              <a:t>07/10/2026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403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orient="horz" pos="3883">
          <p15:clr>
            <a:srgbClr val="F26B43"/>
          </p15:clr>
        </p15:guide>
        <p15:guide id="3" pos="257">
          <p15:clr>
            <a:srgbClr val="F26B43"/>
          </p15:clr>
        </p15:guide>
        <p15:guide id="4" pos="7423">
          <p15:clr>
            <a:srgbClr val="F26B43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im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4F3A7955-C22B-5737-58FA-E5D7B93A5AE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59513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3A7955-C22B-5737-58FA-E5D7B93A5A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afik 10">
            <a:extLst>
              <a:ext uri="{FF2B5EF4-FFF2-40B4-BE49-F238E27FC236}">
                <a16:creationId xmlns:a16="http://schemas.microsoft.com/office/drawing/2014/main" id="{4CBDEEB2-75FC-B928-E2AF-8F3F8CC263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278021E0-1341-2E63-F4B7-7F376E56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ll_TextPH">
            <a:extLst>
              <a:ext uri="{FF2B5EF4-FFF2-40B4-BE49-F238E27FC236}">
                <a16:creationId xmlns:a16="http://schemas.microsoft.com/office/drawing/2014/main" id="{C5623078-745F-DB2B-4116-8DE5BDB2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407988" y="613857"/>
            <a:ext cx="432000" cy="19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32CD0E68-9BA8-CD6A-51AC-AE3A79583DA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08000" y="621000"/>
            <a:ext cx="11376012" cy="554485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1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bg1"/>
                </a:solidFill>
              </a:defRPr>
            </a:lvl2pPr>
            <a:lvl3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bg1"/>
                </a:solidFill>
              </a:defRPr>
            </a:lvl3pPr>
            <a:lvl4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bg1"/>
                </a:solidFill>
              </a:defRPr>
            </a:lvl4pPr>
            <a:lvl5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de-DE" sz="4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bg1"/>
                </a:solidFill>
              </a:defRPr>
            </a:lvl6pPr>
            <a:lvl7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bg1"/>
                </a:solidFill>
              </a:defRPr>
            </a:lvl7pPr>
            <a:lvl8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bg1"/>
                </a:solidFill>
              </a:defRPr>
            </a:lvl8pPr>
            <a:lvl9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Add a powerful message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FBA85C3-EF45-40DD-9881-1FAAE1C7252F}" type="datetime1">
              <a:rPr lang="en-GB" smtClean="0"/>
              <a:t>07/10/2026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555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117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257">
          <p15:clr>
            <a:srgbClr val="F26B43"/>
          </p15:clr>
        </p15:guide>
        <p15:guide id="5" pos="7423">
          <p15:clr>
            <a:srgbClr val="F26B43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im and Picture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3BA8DB1F-6471-6952-7D09-B15FFBD56A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15332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BA8DB1F-6471-6952-7D09-B15FFBD56A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Bildplatzhalter 3">
            <a:extLst>
              <a:ext uri="{FF2B5EF4-FFF2-40B4-BE49-F238E27FC236}">
                <a16:creationId xmlns:a16="http://schemas.microsoft.com/office/drawing/2014/main" id="{63CBC123-F43D-EEAD-7118-63305B58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Add  Picture</a:t>
            </a:r>
          </a:p>
        </p:txBody>
      </p:sp>
      <p:sp>
        <p:nvSpPr>
          <p:cNvPr id="10" name="Bildkontrast">
            <a:extLst>
              <a:ext uri="{FF2B5EF4-FFF2-40B4-BE49-F238E27FC236}">
                <a16:creationId xmlns:a16="http://schemas.microsoft.com/office/drawing/2014/main" id="{F75D921E-2F6A-AA9B-D8DD-AF995FD4C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3717000"/>
            <a:ext cx="12192000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278021E0-1341-2E63-F4B7-7F376E56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ll_TextPH">
            <a:extLst>
              <a:ext uri="{FF2B5EF4-FFF2-40B4-BE49-F238E27FC236}">
                <a16:creationId xmlns:a16="http://schemas.microsoft.com/office/drawing/2014/main" id="{C5623078-745F-DB2B-4116-8DE5BDB2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407988" y="613857"/>
            <a:ext cx="432000" cy="19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Logo">
            <a:extLst>
              <a:ext uri="{FF2B5EF4-FFF2-40B4-BE49-F238E27FC236}">
                <a16:creationId xmlns:a16="http://schemas.microsoft.com/office/drawing/2014/main" id="{E4C728A9-E5D0-E33B-F722-A7A517765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4295C1C6-C01D-8D3A-0B8E-2991E94B5E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08000" y="621000"/>
            <a:ext cx="11376012" cy="554485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1">
                <a:solidFill>
                  <a:schemeClr val="tx2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tx2"/>
                </a:solidFill>
              </a:defRPr>
            </a:lvl2pPr>
            <a:lvl3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tx2"/>
                </a:solidFill>
              </a:defRPr>
            </a:lvl3pPr>
            <a:lvl4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tx2"/>
                </a:solidFill>
              </a:defRPr>
            </a:lvl4pPr>
            <a:lvl5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de-DE" sz="4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tx2"/>
                </a:solidFill>
              </a:defRPr>
            </a:lvl6pPr>
            <a:lvl7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tx2"/>
                </a:solidFill>
              </a:defRPr>
            </a:lvl7pPr>
            <a:lvl8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tx2"/>
                </a:solidFill>
              </a:defRPr>
            </a:lvl8pPr>
            <a:lvl9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Add a powerful message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052296-389A-4A92-91D0-E6EAC0717912}" type="datetime1">
              <a:rPr lang="en-GB" smtClean="0"/>
              <a:t>07/10/2026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89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117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7423">
          <p15:clr>
            <a:srgbClr val="F26B43"/>
          </p15:clr>
        </p15:guide>
        <p15:guide id="5" pos="257">
          <p15:clr>
            <a:srgbClr val="F26B43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im and 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16059C98-A821-13CA-1AE8-F94496123A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84750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059C98-A821-13CA-1AE8-F94496123A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9">
            <a:extLst>
              <a:ext uri="{FF2B5EF4-FFF2-40B4-BE49-F238E27FC236}">
                <a16:creationId xmlns:a16="http://schemas.microsoft.com/office/drawing/2014/main" id="{20B3EFEC-5DFD-F347-007B-8612027C3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9pPr>
          </a:lstStyle>
          <a:p>
            <a:r>
              <a:rPr lang="en-GB"/>
              <a:t>Add  Picture</a:t>
            </a:r>
          </a:p>
          <a:p>
            <a:pPr lvl="8"/>
            <a:endParaRPr lang="en-GB"/>
          </a:p>
        </p:txBody>
      </p:sp>
      <p:sp>
        <p:nvSpPr>
          <p:cNvPr id="10" name="Bildkontrast">
            <a:extLst>
              <a:ext uri="{FF2B5EF4-FFF2-40B4-BE49-F238E27FC236}">
                <a16:creationId xmlns:a16="http://schemas.microsoft.com/office/drawing/2014/main" id="{5DD4BD8A-7FB0-3DE5-1569-DEBDA081366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0" y="3717000"/>
            <a:ext cx="12192000" cy="3141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278021E0-1341-2E63-F4B7-7F376E56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ll_TextPH">
            <a:extLst>
              <a:ext uri="{FF2B5EF4-FFF2-40B4-BE49-F238E27FC236}">
                <a16:creationId xmlns:a16="http://schemas.microsoft.com/office/drawing/2014/main" id="{C5623078-745F-DB2B-4116-8DE5BDB2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407988" y="613857"/>
            <a:ext cx="432000" cy="19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82EEFDCD-E360-6A59-4D0D-A5E3B85A39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08000" y="621000"/>
            <a:ext cx="11376012" cy="554485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1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bg1"/>
                </a:solidFill>
              </a:defRPr>
            </a:lvl2pPr>
            <a:lvl3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bg1"/>
                </a:solidFill>
              </a:defRPr>
            </a:lvl3pPr>
            <a:lvl4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bg1"/>
                </a:solidFill>
              </a:defRPr>
            </a:lvl4pPr>
            <a:lvl5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de-DE" sz="4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bg1"/>
                </a:solidFill>
              </a:defRPr>
            </a:lvl6pPr>
            <a:lvl7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bg1"/>
                </a:solidFill>
              </a:defRPr>
            </a:lvl7pPr>
            <a:lvl8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bg1"/>
                </a:solidFill>
              </a:defRPr>
            </a:lvl8pPr>
            <a:lvl9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Add a powerful message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7D8C9F0-8D5E-43DD-B134-2A3229DE90E6}" type="datetime1">
              <a:rPr lang="en-GB" smtClean="0"/>
              <a:t>07/10/2026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5140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117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257">
          <p15:clr>
            <a:srgbClr val="F26B43"/>
          </p15:clr>
        </p15:guide>
        <p15:guide id="5" pos="7423">
          <p15:clr>
            <a:srgbClr val="F26B43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14A9EE01-C724-4AFA-914D-16C3EE01EA3E}" type="datetime1">
              <a:rPr lang="en-GB" smtClean="0"/>
              <a:t>07/10/2026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343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4" orient="horz" pos="3883">
          <p15:clr>
            <a:srgbClr val="F26B43"/>
          </p15:clr>
        </p15:guide>
        <p15:guide id="5" pos="7423">
          <p15:clr>
            <a:srgbClr val="F26B43"/>
          </p15:clr>
        </p15:guide>
        <p15:guide id="6" pos="257">
          <p15:clr>
            <a:srgbClr val="A4A3A4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erlauf">
            <a:extLst>
              <a:ext uri="{FF2B5EF4-FFF2-40B4-BE49-F238E27FC236}">
                <a16:creationId xmlns:a16="http://schemas.microsoft.com/office/drawing/2014/main" id="{D20B09AF-858C-FD21-E0D5-D75B184C7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Logo">
            <a:extLst>
              <a:ext uri="{FF2B5EF4-FFF2-40B4-BE49-F238E27FC236}">
                <a16:creationId xmlns:a16="http://schemas.microsoft.com/office/drawing/2014/main" id="{9F1461C9-A40F-F091-2E1B-93C5C9A2E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11322000" y="6414338"/>
            <a:ext cx="532705" cy="210187"/>
          </a:xfrm>
          <a:prstGeom prst="rect">
            <a:avLst/>
          </a:prstGeom>
        </p:spPr>
      </p:pic>
      <p:pic>
        <p:nvPicPr>
          <p:cNvPr id="8" name="Pill">
            <a:extLst>
              <a:ext uri="{FF2B5EF4-FFF2-40B4-BE49-F238E27FC236}">
                <a16:creationId xmlns:a16="http://schemas.microsoft.com/office/drawing/2014/main" id="{E08207D5-01ED-BC36-1620-025F76780F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6155900" y="6481979"/>
            <a:ext cx="216000" cy="98743"/>
          </a:xfrm>
          <a:prstGeom prst="rect">
            <a:avLst/>
          </a:prstGeom>
        </p:spPr>
      </p:pic>
      <p:pic>
        <p:nvPicPr>
          <p:cNvPr id="10" name="Pill">
            <a:extLst>
              <a:ext uri="{FF2B5EF4-FFF2-40B4-BE49-F238E27FC236}">
                <a16:creationId xmlns:a16="http://schemas.microsoft.com/office/drawing/2014/main" id="{BE3E8EC2-95A7-7C41-9349-0E27C12B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A55BC1-CD7C-4AF8-B5F2-125A20EBAF6B}" type="datetime1">
              <a:rPr lang="en-GB" smtClean="0"/>
              <a:t>07/10/2026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2504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257">
          <p15:clr>
            <a:srgbClr val="A4A3A4"/>
          </p15:clr>
        </p15:guide>
        <p15:guide id="3" pos="665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3883">
          <p15:clr>
            <a:srgbClr val="F26B43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D9556C5-8B8C-691F-27C1-C0386C45AD2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94063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D9556C5-8B8C-691F-27C1-C0386C45AD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Logo">
            <a:extLst>
              <a:ext uri="{FF2B5EF4-FFF2-40B4-BE49-F238E27FC236}">
                <a16:creationId xmlns:a16="http://schemas.microsoft.com/office/drawing/2014/main" id="{6E8DF580-9E85-A863-0BF3-258D45166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gray">
          <a:xfrm>
            <a:off x="9945900" y="366900"/>
            <a:ext cx="1980000" cy="781224"/>
          </a:xfrm>
          <a:prstGeom prst="rect">
            <a:avLst/>
          </a:prstGeom>
        </p:spPr>
      </p:pic>
      <p:pic>
        <p:nvPicPr>
          <p:cNvPr id="8" name="Pill">
            <a:extLst>
              <a:ext uri="{FF2B5EF4-FFF2-40B4-BE49-F238E27FC236}">
                <a16:creationId xmlns:a16="http://schemas.microsoft.com/office/drawing/2014/main" id="{9D1502B7-3F24-3C3F-49CD-A47584DD3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6155900" y="6481979"/>
            <a:ext cx="216000" cy="98743"/>
          </a:xfrm>
          <a:prstGeom prst="rect">
            <a:avLst/>
          </a:prstGeom>
        </p:spPr>
      </p:pic>
      <p:pic>
        <p:nvPicPr>
          <p:cNvPr id="13" name="Pill">
            <a:extLst>
              <a:ext uri="{FF2B5EF4-FFF2-40B4-BE49-F238E27FC236}">
                <a16:creationId xmlns:a16="http://schemas.microsoft.com/office/drawing/2014/main" id="{13F1208E-2CF2-8CF2-7AE6-9167FBF68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sp>
        <p:nvSpPr>
          <p:cNvPr id="11" name="Titel 10">
            <a:extLst>
              <a:ext uri="{FF2B5EF4-FFF2-40B4-BE49-F238E27FC236}">
                <a16:creationId xmlns:a16="http://schemas.microsoft.com/office/drawing/2014/main" id="{CA3DB1B4-53DC-A4EA-7ADC-8B8505FE2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000" y="2421000"/>
            <a:ext cx="8424000" cy="3744000"/>
          </a:xfrm>
        </p:spPr>
        <p:txBody>
          <a:bodyPr vert="horz"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BA7697A-85F2-4C59-6F4E-C59772072E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99687" y="4797850"/>
            <a:ext cx="1584000" cy="1368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Add company name and address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>
            <a:off x="1055687" y="6453000"/>
            <a:ext cx="4824000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D16523-8C7E-4FD6-A47A-6AF54996CCF1}" type="datetime1">
              <a:rPr lang="en-GB" smtClean="0"/>
              <a:t>07/10/2026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487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425">
          <p15:clr>
            <a:srgbClr val="A4A3A4"/>
          </p15:clr>
        </p15:guide>
        <p15:guide id="2" orient="horz" pos="1525">
          <p15:clr>
            <a:srgbClr val="F26B43"/>
          </p15:clr>
        </p15:guide>
        <p15:guide id="7" pos="5972">
          <p15:clr>
            <a:srgbClr val="F26B43"/>
          </p15:clr>
        </p15:guide>
        <p15:guide id="9" pos="665">
          <p15:clr>
            <a:srgbClr val="F26B43"/>
          </p15:clr>
        </p15:guide>
        <p15:guide id="10" orient="horz" pos="3883">
          <p15:clr>
            <a:srgbClr val="F26B43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emf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ags" Target="../tags/tag1.xml"/><Relationship Id="rId40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55955A8-1D7E-8F99-DA1F-1A333B86FD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7"/>
            </p:custDataLst>
            <p:extLst>
              <p:ext uri="{D42A27DB-BD31-4B8C-83A1-F6EECF244321}">
                <p14:modId xmlns:p14="http://schemas.microsoft.com/office/powerpoint/2010/main" val="21969880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8" imgW="306" imgH="306" progId="TCLayout.ActiveDocument.1">
                  <p:embed/>
                </p:oleObj>
              </mc:Choice>
              <mc:Fallback>
                <p:oleObj name="think-cell Folie" r:id="rId38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5955A8-1D7E-8F99-DA1F-1A333B86FD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platzhalter 1">
            <a:extLst>
              <a:ext uri="{FF2B5EF4-FFF2-40B4-BE49-F238E27FC236}">
                <a16:creationId xmlns:a16="http://schemas.microsoft.com/office/drawing/2014/main" id="{42F7C704-568E-9258-6507-771D1CBCA90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055687" y="512676"/>
            <a:ext cx="10728000" cy="108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Add Slide Title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DA925AB6-2AC2-A545-61BB-3D2C55D53F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1055687" y="6453000"/>
            <a:ext cx="496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9pPr>
          </a:lstStyle>
          <a:p>
            <a:r>
              <a:rPr lang="en-GB"/>
              <a:t>Title of the presentation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570DD1DA-905E-8295-8AD4-DEDBD0DCA271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6492124" y="6453000"/>
            <a:ext cx="720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9pPr>
          </a:lstStyle>
          <a:p>
            <a:fld id="{BE8EF8C3-22E2-437E-B9D3-BA5071D4D14C}" type="datetime1">
              <a:rPr lang="en-GB" smtClean="0"/>
              <a:t>07/10/2026</a:t>
            </a:fld>
            <a:endParaRPr lang="en-GB"/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93598C3B-3995-3E01-D555-DCBE2E69A4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 bwMode="gray">
          <a:xfrm>
            <a:off x="11323295" y="6414338"/>
            <a:ext cx="532705" cy="210187"/>
          </a:xfrm>
          <a:prstGeom prst="rect">
            <a:avLst/>
          </a:prstGeom>
        </p:spPr>
      </p:pic>
      <p:pic>
        <p:nvPicPr>
          <p:cNvPr id="12" name="Pill">
            <a:extLst>
              <a:ext uri="{FF2B5EF4-FFF2-40B4-BE49-F238E27FC236}">
                <a16:creationId xmlns:a16="http://schemas.microsoft.com/office/drawing/2014/main" id="{E509A8B5-7344-9FB9-348F-0CFE4DF84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pic>
        <p:nvPicPr>
          <p:cNvPr id="13" name="Pill_small">
            <a:extLst>
              <a:ext uri="{FF2B5EF4-FFF2-40B4-BE49-F238E27FC236}">
                <a16:creationId xmlns:a16="http://schemas.microsoft.com/office/drawing/2014/main" id="{6CB99083-7A1F-1E8F-BB3B-52EEF2B82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 bwMode="gray">
          <a:xfrm>
            <a:off x="6154406" y="6475629"/>
            <a:ext cx="216000" cy="98743"/>
          </a:xfrm>
          <a:prstGeom prst="rect">
            <a:avLst/>
          </a:prstGeom>
        </p:spPr>
      </p:pic>
      <p:sp>
        <p:nvSpPr>
          <p:cNvPr id="14" name="Foliennummernplatzhalter 7">
            <a:extLst>
              <a:ext uri="{FF2B5EF4-FFF2-40B4-BE49-F238E27FC236}">
                <a16:creationId xmlns:a16="http://schemas.microsoft.com/office/drawing/2014/main" id="{B12BF23E-B765-D752-12DC-FDFBF0964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8000" y="6453000"/>
            <a:ext cx="5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9pPr>
          </a:lstStyle>
          <a:p>
            <a:fld id="{F2D4CAB8-B091-4116-BA82-0A812210E0F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250D2256-DEC5-4569-6453-E08666E9B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5999" y="1772999"/>
            <a:ext cx="10728013" cy="43912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48817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  <p:sldLayoutId id="2147483741" r:id="rId20"/>
    <p:sldLayoutId id="2147483742" r:id="rId21"/>
    <p:sldLayoutId id="2147483743" r:id="rId22"/>
    <p:sldLayoutId id="2147483744" r:id="rId23"/>
    <p:sldLayoutId id="2147483745" r:id="rId24"/>
    <p:sldLayoutId id="2147483746" r:id="rId25"/>
    <p:sldLayoutId id="2147483747" r:id="rId26"/>
    <p:sldLayoutId id="2147483748" r:id="rId27"/>
    <p:sldLayoutId id="2147483749" r:id="rId28"/>
    <p:sldLayoutId id="2147483750" r:id="rId29"/>
    <p:sldLayoutId id="2147483751" r:id="rId30"/>
    <p:sldLayoutId id="2147483752" r:id="rId31"/>
    <p:sldLayoutId id="2147483753" r:id="rId32"/>
    <p:sldLayoutId id="2147483754" r:id="rId33"/>
    <p:sldLayoutId id="2147483755" r:id="rId34"/>
    <p:sldLayoutId id="2147483760" r:id="rId3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Fira Sans" panose="020B0503050000020004" pitchFamily="34" charset="0"/>
        <a:buChar char="&gt;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Fira Sans" panose="020B05030500000200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Font typeface="Symbol" panose="05050102010706020507" pitchFamily="18" charset="2"/>
        <a:buNone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Tx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144000" indent="-144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Fira Sans" panose="020B0503050000020004" pitchFamily="34" charset="0"/>
        <a:buChar char="&gt;"/>
        <a:defRPr sz="10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0" indent="-144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Fira Sans" panose="020B0503050000020004" pitchFamily="34" charset="0"/>
        <a:buChar char="&gt;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432000" indent="-144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Symbol" panose="05050102010706020507" pitchFamily="18" charset="2"/>
        <a:buChar char="-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A1F_A31AB26E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0.svg"/><Relationship Id="rId4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A37_71E65716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34.x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32.bin"/><Relationship Id="rId4" Type="http://schemas.microsoft.com/office/2018/10/relationships/comments" Target="../comments/modernComment_7FFFFA36_C279889D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35.x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32.bin"/><Relationship Id="rId4" Type="http://schemas.microsoft.com/office/2018/10/relationships/comments" Target="../comments/modernComment_7FFFFA35_430C79DB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microsoft.com/office/2018/10/relationships/comments" Target="../comments/modernComment_7FFFFA2F_3306AD2B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svg"/><Relationship Id="rId18" Type="http://schemas.openxmlformats.org/officeDocument/2006/relationships/image" Target="../media/image45.svg"/><Relationship Id="rId26" Type="http://schemas.openxmlformats.org/officeDocument/2006/relationships/image" Target="../media/image53.svg"/><Relationship Id="rId39" Type="http://schemas.openxmlformats.org/officeDocument/2006/relationships/image" Target="../media/image65.png"/><Relationship Id="rId21" Type="http://schemas.openxmlformats.org/officeDocument/2006/relationships/image" Target="../media/image48.svg"/><Relationship Id="rId34" Type="http://schemas.openxmlformats.org/officeDocument/2006/relationships/image" Target="../media/image61.svg"/><Relationship Id="rId42" Type="http://schemas.openxmlformats.org/officeDocument/2006/relationships/image" Target="../media/image68.png"/><Relationship Id="rId47" Type="http://schemas.openxmlformats.org/officeDocument/2006/relationships/image" Target="../media/image72.svg"/><Relationship Id="rId7" Type="http://schemas.openxmlformats.org/officeDocument/2006/relationships/image" Target="../media/image34.svg"/><Relationship Id="rId2" Type="http://schemas.openxmlformats.org/officeDocument/2006/relationships/slideLayout" Target="../slideLayouts/slideLayout23.xml"/><Relationship Id="rId16" Type="http://schemas.openxmlformats.org/officeDocument/2006/relationships/image" Target="../media/image43.svg"/><Relationship Id="rId29" Type="http://schemas.openxmlformats.org/officeDocument/2006/relationships/image" Target="../media/image56.svg"/><Relationship Id="rId1" Type="http://schemas.openxmlformats.org/officeDocument/2006/relationships/tags" Target="../tags/tag3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24" Type="http://schemas.openxmlformats.org/officeDocument/2006/relationships/image" Target="../media/image51.svg"/><Relationship Id="rId32" Type="http://schemas.openxmlformats.org/officeDocument/2006/relationships/image" Target="../media/image59.svg"/><Relationship Id="rId37" Type="http://schemas.openxmlformats.org/officeDocument/2006/relationships/image" Target="../media/image63.png"/><Relationship Id="rId40" Type="http://schemas.openxmlformats.org/officeDocument/2006/relationships/image" Target="../media/image66.png"/><Relationship Id="rId45" Type="http://schemas.openxmlformats.org/officeDocument/2006/relationships/image" Target="../media/image13.png"/><Relationship Id="rId5" Type="http://schemas.openxmlformats.org/officeDocument/2006/relationships/image" Target="../media/image8.svg"/><Relationship Id="rId15" Type="http://schemas.openxmlformats.org/officeDocument/2006/relationships/image" Target="../media/image42.svg"/><Relationship Id="rId23" Type="http://schemas.openxmlformats.org/officeDocument/2006/relationships/image" Target="../media/image50.svg"/><Relationship Id="rId28" Type="http://schemas.openxmlformats.org/officeDocument/2006/relationships/image" Target="../media/image55.svg"/><Relationship Id="rId36" Type="http://schemas.openxmlformats.org/officeDocument/2006/relationships/image" Target="../media/image9.png"/><Relationship Id="rId10" Type="http://schemas.openxmlformats.org/officeDocument/2006/relationships/image" Target="../media/image37.svg"/><Relationship Id="rId19" Type="http://schemas.openxmlformats.org/officeDocument/2006/relationships/image" Target="../media/image46.svg"/><Relationship Id="rId31" Type="http://schemas.openxmlformats.org/officeDocument/2006/relationships/image" Target="../media/image58.svg"/><Relationship Id="rId44" Type="http://schemas.openxmlformats.org/officeDocument/2006/relationships/image" Target="../media/image70.png"/><Relationship Id="rId4" Type="http://schemas.openxmlformats.org/officeDocument/2006/relationships/image" Target="../media/image1.emf"/><Relationship Id="rId9" Type="http://schemas.openxmlformats.org/officeDocument/2006/relationships/image" Target="../media/image36.svg"/><Relationship Id="rId14" Type="http://schemas.openxmlformats.org/officeDocument/2006/relationships/image" Target="../media/image41.svg"/><Relationship Id="rId22" Type="http://schemas.openxmlformats.org/officeDocument/2006/relationships/image" Target="../media/image49.svg"/><Relationship Id="rId27" Type="http://schemas.openxmlformats.org/officeDocument/2006/relationships/image" Target="../media/image54.svg"/><Relationship Id="rId30" Type="http://schemas.openxmlformats.org/officeDocument/2006/relationships/image" Target="../media/image57.svg"/><Relationship Id="rId35" Type="http://schemas.openxmlformats.org/officeDocument/2006/relationships/image" Target="../media/image62.svg"/><Relationship Id="rId43" Type="http://schemas.openxmlformats.org/officeDocument/2006/relationships/image" Target="../media/image69.png"/><Relationship Id="rId8" Type="http://schemas.openxmlformats.org/officeDocument/2006/relationships/image" Target="../media/image35.svg"/><Relationship Id="rId3" Type="http://schemas.openxmlformats.org/officeDocument/2006/relationships/oleObject" Target="../embeddings/oleObject33.bin"/><Relationship Id="rId12" Type="http://schemas.openxmlformats.org/officeDocument/2006/relationships/image" Target="../media/image39.svg"/><Relationship Id="rId17" Type="http://schemas.openxmlformats.org/officeDocument/2006/relationships/image" Target="../media/image44.svg"/><Relationship Id="rId25" Type="http://schemas.openxmlformats.org/officeDocument/2006/relationships/image" Target="../media/image52.svg"/><Relationship Id="rId33" Type="http://schemas.openxmlformats.org/officeDocument/2006/relationships/image" Target="../media/image60.svg"/><Relationship Id="rId38" Type="http://schemas.openxmlformats.org/officeDocument/2006/relationships/image" Target="../media/image64.png"/><Relationship Id="rId46" Type="http://schemas.openxmlformats.org/officeDocument/2006/relationships/image" Target="../media/image71.png"/><Relationship Id="rId20" Type="http://schemas.openxmlformats.org/officeDocument/2006/relationships/image" Target="../media/image47.svg"/><Relationship Id="rId41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1B8DB0-6A92-9E83-74F7-5947348F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AI Agent Repository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B6C01F2-E59F-70F8-496E-55A0B9394C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Post-Interview </a:t>
            </a:r>
            <a:r>
              <a:rPr lang="de-DE" err="1"/>
              <a:t>Requirements</a:t>
            </a:r>
            <a:r>
              <a:rPr lang="de-DE"/>
              <a:t> Review and Workshop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DFA13DB-ACC6-99FF-2906-8B76961815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/>
              <a:t>Darmstadt | 12.10.2026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CC90BE3-83ED-E722-4B6C-3EFB44A18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" name="Grafik 5" descr="Das blaue Merck-Logo - Download Galerie">
            <a:extLst>
              <a:ext uri="{FF2B5EF4-FFF2-40B4-BE49-F238E27FC236}">
                <a16:creationId xmlns:a16="http://schemas.microsoft.com/office/drawing/2014/main" id="{9BB47BA9-9F72-8076-4F62-9945DAAA13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25" t="35432" r="3932" b="37794"/>
          <a:stretch>
            <a:fillRect/>
          </a:stretch>
        </p:blipFill>
        <p:spPr>
          <a:xfrm>
            <a:off x="7471342" y="548679"/>
            <a:ext cx="1944216" cy="427418"/>
          </a:xfrm>
          <a:prstGeom prst="rect">
            <a:avLst/>
          </a:prstGeom>
        </p:spPr>
      </p:pic>
      <p:sp>
        <p:nvSpPr>
          <p:cNvPr id="7" name="Multiplizieren 6">
            <a:extLst>
              <a:ext uri="{FF2B5EF4-FFF2-40B4-BE49-F238E27FC236}">
                <a16:creationId xmlns:a16="http://schemas.microsoft.com/office/drawing/2014/main" id="{3AD274E6-D115-072F-3A91-497AFCA2721D}"/>
              </a:ext>
            </a:extLst>
          </p:cNvPr>
          <p:cNvSpPr/>
          <p:nvPr/>
        </p:nvSpPr>
        <p:spPr>
          <a:xfrm>
            <a:off x="9474232" y="439510"/>
            <a:ext cx="726224" cy="645757"/>
          </a:xfrm>
          <a:prstGeom prst="mathMultiply">
            <a:avLst>
              <a:gd name="adj1" fmla="val 10821"/>
            </a:avLst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6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B2429-23F7-2250-E999-472FB62C1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30ABC138-C9E2-3B35-E110-F726BB0129D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055686" y="512676"/>
            <a:ext cx="7272561" cy="711825"/>
          </a:xfrm>
        </p:spPr>
        <p:txBody>
          <a:bodyPr/>
          <a:lstStyle/>
          <a:p>
            <a:r>
              <a:rPr lang="de-DE"/>
              <a:t>Agenda</a:t>
            </a:r>
            <a:endParaRPr lang="en-GB" noProof="0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9C2948FF-0739-D4DC-7B37-440068375471}"/>
              </a:ext>
            </a:extLst>
          </p:cNvPr>
          <p:cNvGrpSpPr/>
          <p:nvPr/>
        </p:nvGrpSpPr>
        <p:grpSpPr>
          <a:xfrm>
            <a:off x="864491" y="1224501"/>
            <a:ext cx="8674030" cy="591676"/>
            <a:chOff x="1063004" y="1366711"/>
            <a:chExt cx="8674030" cy="595884"/>
          </a:xfrm>
        </p:grpSpPr>
        <p:sp>
          <p:nvSpPr>
            <p:cNvPr id="5" name="Abgerundetes Rechteck 4">
              <a:extLst>
                <a:ext uri="{FF2B5EF4-FFF2-40B4-BE49-F238E27FC236}">
                  <a16:creationId xmlns:a16="http://schemas.microsoft.com/office/drawing/2014/main" id="{4B3575E6-B26E-8200-D917-FB811D528460}"/>
                </a:ext>
              </a:extLst>
            </p:cNvPr>
            <p:cNvSpPr/>
            <p:nvPr/>
          </p:nvSpPr>
          <p:spPr>
            <a:xfrm>
              <a:off x="1063004" y="1366711"/>
              <a:ext cx="8674030" cy="595884"/>
            </a:xfrm>
            <a:prstGeom prst="roundRect">
              <a:avLst>
                <a:gd name="adj" fmla="val 20073"/>
              </a:avLst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FFFFFF"/>
                </a:buClr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endParaRPr>
            </a:p>
          </p:txBody>
        </p:sp>
        <p:sp>
          <p:nvSpPr>
            <p:cNvPr id="10" name="Textplatzhalter 9">
              <a:extLst>
                <a:ext uri="{FF2B5EF4-FFF2-40B4-BE49-F238E27FC236}">
                  <a16:creationId xmlns:a16="http://schemas.microsoft.com/office/drawing/2014/main" id="{B4525BD6-D897-66C6-F80D-179ABAD19861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806660" y="1515592"/>
              <a:ext cx="468000" cy="3770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numCol="1" spcCol="50400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chemeClr val="tx2"/>
                </a:buClr>
                <a:buFontTx/>
                <a:buNone/>
                <a:defRPr sz="1800" b="1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+mj-lt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4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Char char="&gt;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rgbClr val="006EC7"/>
                </a:buClr>
                <a:buSzTx/>
                <a:buFontTx/>
                <a:buNone/>
                <a:tabLst/>
                <a:defRPr/>
              </a:pPr>
              <a:r>
                <a:rPr kumimoji="0" lang="en-GB" sz="2200" b="1" i="0" u="none" strike="noStrike" kern="1200" cap="none" spc="0" normalizeH="0" baseline="0" noProof="0">
                  <a:ln>
                    <a:noFill/>
                  </a:ln>
                  <a:solidFill>
                    <a:srgbClr val="006EC7"/>
                  </a:solidFill>
                  <a:effectLst/>
                  <a:uLnTx/>
                  <a:uFillTx/>
                  <a:latin typeface="Fira Sans Condensed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1" name="Textplatzhalter 9">
              <a:extLst>
                <a:ext uri="{FF2B5EF4-FFF2-40B4-BE49-F238E27FC236}">
                  <a16:creationId xmlns:a16="http://schemas.microsoft.com/office/drawing/2014/main" id="{850958E5-4787-4C73-69F6-FE0D863209B1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287038" y="1476148"/>
              <a:ext cx="1260000" cy="37701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6"/>
              </a:solidFill>
            </a:ln>
          </p:spPr>
          <p:txBody>
            <a:bodyPr lIns="0" tIns="72000" rIns="0" bIns="72000" numCol="1" spcCol="50400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chemeClr val="tx2"/>
                </a:buClr>
                <a:buFontTx/>
                <a:buNone/>
                <a:defRPr sz="1800" b="1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+mj-lt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4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Char char="&gt;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1200">
                  <a:solidFill>
                    <a:schemeClr val="accent6"/>
                  </a:solidFill>
                </a:rPr>
                <a:t>13:00-13:15</a:t>
              </a:r>
            </a:p>
          </p:txBody>
        </p:sp>
        <p:pic>
          <p:nvPicPr>
            <p:cNvPr id="22" name="!!Arrow">
              <a:extLst>
                <a:ext uri="{FF2B5EF4-FFF2-40B4-BE49-F238E27FC236}">
                  <a16:creationId xmlns:a16="http://schemas.microsoft.com/office/drawing/2014/main" id="{4D79F45E-01BC-5A85-87C7-E46136923B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38010" y="1522968"/>
              <a:ext cx="283369" cy="283369"/>
            </a:xfrm>
            <a:prstGeom prst="rect">
              <a:avLst/>
            </a:prstGeom>
          </p:spPr>
        </p:pic>
        <p:sp>
          <p:nvSpPr>
            <p:cNvPr id="3" name="Textplatzhalter 9">
              <a:extLst>
                <a:ext uri="{FF2B5EF4-FFF2-40B4-BE49-F238E27FC236}">
                  <a16:creationId xmlns:a16="http://schemas.microsoft.com/office/drawing/2014/main" id="{8906B4B2-AD0B-002C-0231-7C9DF7830FC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2250271" y="1515592"/>
              <a:ext cx="3839155" cy="3770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numCol="1" spcCol="50400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chemeClr val="tx2"/>
                </a:buClr>
                <a:buFontTx/>
                <a:buNone/>
                <a:defRPr sz="1800" b="1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+mj-lt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4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Char char="&gt;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rgbClr val="006EC7"/>
                </a:buClr>
                <a:buSzTx/>
                <a:buFontTx/>
                <a:buNone/>
                <a:tabLst/>
                <a:defRPr/>
              </a:pPr>
              <a:r>
                <a:rPr kumimoji="0" lang="en-GB" sz="2200" b="1" i="0" u="none" strike="noStrike" kern="1200" cap="none" spc="0" normalizeH="0" baseline="0" noProof="0">
                  <a:ln>
                    <a:noFill/>
                  </a:ln>
                  <a:solidFill>
                    <a:srgbClr val="006EC7"/>
                  </a:solidFill>
                  <a:effectLst/>
                  <a:uLnTx/>
                  <a:uFillTx/>
                  <a:latin typeface="Fira Sans Condensed"/>
                  <a:ea typeface="+mn-ea"/>
                  <a:cs typeface="+mn-cs"/>
                </a:rPr>
                <a:t>Project timeline </a:t>
              </a:r>
            </a:p>
          </p:txBody>
        </p:sp>
      </p:grpSp>
      <p:sp>
        <p:nvSpPr>
          <p:cNvPr id="21" name="Foliennummernplatzhalter 20">
            <a:extLst>
              <a:ext uri="{FF2B5EF4-FFF2-40B4-BE49-F238E27FC236}">
                <a16:creationId xmlns:a16="http://schemas.microsoft.com/office/drawing/2014/main" id="{ECD80A96-D96B-334F-36D7-DCA365485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en-GB" smtClean="0"/>
              <a:pPr/>
              <a:t>2</a:t>
            </a:fld>
            <a:endParaRPr lang="en-GB"/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E9C6862D-BA56-D85D-962D-1520F8CE7B10}"/>
              </a:ext>
            </a:extLst>
          </p:cNvPr>
          <p:cNvGrpSpPr/>
          <p:nvPr/>
        </p:nvGrpSpPr>
        <p:grpSpPr>
          <a:xfrm>
            <a:off x="875985" y="1898885"/>
            <a:ext cx="8674030" cy="591676"/>
            <a:chOff x="1063004" y="2081524"/>
            <a:chExt cx="8674030" cy="595884"/>
          </a:xfrm>
        </p:grpSpPr>
        <p:sp>
          <p:nvSpPr>
            <p:cNvPr id="38" name="Abgerundetes Rechteck 37">
              <a:extLst>
                <a:ext uri="{FF2B5EF4-FFF2-40B4-BE49-F238E27FC236}">
                  <a16:creationId xmlns:a16="http://schemas.microsoft.com/office/drawing/2014/main" id="{C8DD70A4-0497-9155-FA31-C086CE1764BD}"/>
                </a:ext>
              </a:extLst>
            </p:cNvPr>
            <p:cNvSpPr/>
            <p:nvPr/>
          </p:nvSpPr>
          <p:spPr>
            <a:xfrm>
              <a:off x="1063004" y="2081524"/>
              <a:ext cx="8674030" cy="595884"/>
            </a:xfrm>
            <a:prstGeom prst="roundRect">
              <a:avLst>
                <a:gd name="adj" fmla="val 20073"/>
              </a:avLst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FFFFFF"/>
                </a:buClr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endParaRPr>
            </a:p>
          </p:txBody>
        </p:sp>
        <p:sp>
          <p:nvSpPr>
            <p:cNvPr id="39" name="Textplatzhalter 9">
              <a:extLst>
                <a:ext uri="{FF2B5EF4-FFF2-40B4-BE49-F238E27FC236}">
                  <a16:creationId xmlns:a16="http://schemas.microsoft.com/office/drawing/2014/main" id="{BF23835D-998F-1338-BA23-A75821BB58D3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806659" y="2213446"/>
              <a:ext cx="468000" cy="3770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numCol="1" spcCol="50400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chemeClr val="tx2"/>
                </a:buClr>
                <a:buFontTx/>
                <a:buNone/>
                <a:defRPr sz="1800" b="1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+mj-lt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4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Char char="&gt;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rgbClr val="006EC7"/>
                </a:buClr>
                <a:buSzTx/>
                <a:buFontTx/>
                <a:buNone/>
                <a:tabLst/>
                <a:defRPr/>
              </a:pPr>
              <a:r>
                <a:rPr kumimoji="0" lang="en-GB" sz="2200" b="1" i="0" u="none" strike="noStrike" kern="1200" cap="none" spc="0" normalizeH="0" baseline="0" noProof="0">
                  <a:ln>
                    <a:noFill/>
                  </a:ln>
                  <a:solidFill>
                    <a:srgbClr val="006EC7"/>
                  </a:solidFill>
                  <a:effectLst/>
                  <a:uLnTx/>
                  <a:uFillTx/>
                  <a:latin typeface="Fira Sans Condensed"/>
                  <a:ea typeface="+mn-ea"/>
                  <a:cs typeface="+mn-cs"/>
                </a:rPr>
                <a:t>02</a:t>
              </a:r>
            </a:p>
          </p:txBody>
        </p:sp>
        <p:pic>
          <p:nvPicPr>
            <p:cNvPr id="42" name="!!Arrow">
              <a:extLst>
                <a:ext uri="{FF2B5EF4-FFF2-40B4-BE49-F238E27FC236}">
                  <a16:creationId xmlns:a16="http://schemas.microsoft.com/office/drawing/2014/main" id="{9CB966B8-CF7D-002C-F4A4-7E3A85A8CD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38010" y="2237782"/>
              <a:ext cx="283369" cy="283369"/>
            </a:xfrm>
            <a:prstGeom prst="rect">
              <a:avLst/>
            </a:prstGeom>
          </p:spPr>
        </p:pic>
        <p:sp>
          <p:nvSpPr>
            <p:cNvPr id="4" name="Textplatzhalter 9">
              <a:extLst>
                <a:ext uri="{FF2B5EF4-FFF2-40B4-BE49-F238E27FC236}">
                  <a16:creationId xmlns:a16="http://schemas.microsoft.com/office/drawing/2014/main" id="{16E66041-D467-36AD-F29A-8E59F92074C4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2250271" y="2213446"/>
              <a:ext cx="5279316" cy="3770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numCol="1" spcCol="50400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chemeClr val="tx2"/>
                </a:buClr>
                <a:buFontTx/>
                <a:buNone/>
                <a:defRPr sz="1800" b="1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+mj-lt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4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Char char="&gt;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buClr>
                  <a:srgbClr val="006EC7"/>
                </a:buClr>
                <a:defRPr/>
              </a:pPr>
              <a:r>
                <a:rPr lang="en-GB" sz="2200">
                  <a:solidFill>
                    <a:srgbClr val="006EC7"/>
                  </a:solidFill>
                  <a:latin typeface="Fira Sans Condensed"/>
                </a:rPr>
                <a:t>Interview Summary + Main Findings</a:t>
              </a:r>
            </a:p>
            <a:p>
              <a:pPr lvl="0">
                <a:buClr>
                  <a:srgbClr val="006EC7"/>
                </a:buClr>
                <a:defRPr/>
              </a:pPr>
              <a:endParaRPr lang="en-GB" sz="2200">
                <a:solidFill>
                  <a:srgbClr val="006EC7"/>
                </a:solidFill>
                <a:latin typeface="Fira Sans Condensed"/>
              </a:endParaRPr>
            </a:p>
            <a:p>
              <a:pPr lvl="0">
                <a:buClr>
                  <a:srgbClr val="006EC7"/>
                </a:buClr>
                <a:defRPr/>
              </a:pPr>
              <a:endParaRPr lang="en-GB" sz="2200">
                <a:solidFill>
                  <a:srgbClr val="006EC7"/>
                </a:solidFill>
                <a:latin typeface="Fira Sans Condensed"/>
              </a:endParaRPr>
            </a:p>
          </p:txBody>
        </p:sp>
        <p:sp>
          <p:nvSpPr>
            <p:cNvPr id="25" name="Textplatzhalter 9">
              <a:extLst>
                <a:ext uri="{FF2B5EF4-FFF2-40B4-BE49-F238E27FC236}">
                  <a16:creationId xmlns:a16="http://schemas.microsoft.com/office/drawing/2014/main" id="{37924C77-69FC-B0BB-B251-5E26F04ED2F8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321674" y="2180801"/>
              <a:ext cx="1260000" cy="37701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6"/>
              </a:solidFill>
            </a:ln>
          </p:spPr>
          <p:txBody>
            <a:bodyPr lIns="0" tIns="72000" rIns="0" bIns="72000" numCol="1" spcCol="50400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chemeClr val="tx2"/>
                </a:buClr>
                <a:buFontTx/>
                <a:buNone/>
                <a:defRPr sz="1800" b="1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+mj-lt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4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Char char="&gt;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1200">
                  <a:solidFill>
                    <a:schemeClr val="accent6"/>
                  </a:solidFill>
                </a:rPr>
                <a:t>13:15-13:50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CFEE72A4-D670-BF69-D1B2-6F1865892E66}"/>
              </a:ext>
            </a:extLst>
          </p:cNvPr>
          <p:cNvGrpSpPr/>
          <p:nvPr/>
        </p:nvGrpSpPr>
        <p:grpSpPr>
          <a:xfrm>
            <a:off x="875985" y="2573269"/>
            <a:ext cx="8674030" cy="591676"/>
            <a:chOff x="1027910" y="2776684"/>
            <a:chExt cx="8674030" cy="595884"/>
          </a:xfrm>
        </p:grpSpPr>
        <p:sp>
          <p:nvSpPr>
            <p:cNvPr id="43" name="Abgerundetes Rechteck 42">
              <a:extLst>
                <a:ext uri="{FF2B5EF4-FFF2-40B4-BE49-F238E27FC236}">
                  <a16:creationId xmlns:a16="http://schemas.microsoft.com/office/drawing/2014/main" id="{AB88F3AC-2CA7-B876-D5DF-276467A1BF3C}"/>
                </a:ext>
              </a:extLst>
            </p:cNvPr>
            <p:cNvSpPr/>
            <p:nvPr/>
          </p:nvSpPr>
          <p:spPr>
            <a:xfrm>
              <a:off x="1027910" y="2776684"/>
              <a:ext cx="8674030" cy="595884"/>
            </a:xfrm>
            <a:prstGeom prst="roundRect">
              <a:avLst>
                <a:gd name="adj" fmla="val 20073"/>
              </a:avLst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FFFFFF"/>
                </a:buClr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endParaRPr>
            </a:p>
          </p:txBody>
        </p:sp>
        <p:sp>
          <p:nvSpPr>
            <p:cNvPr id="44" name="Textplatzhalter 9">
              <a:extLst>
                <a:ext uri="{FF2B5EF4-FFF2-40B4-BE49-F238E27FC236}">
                  <a16:creationId xmlns:a16="http://schemas.microsoft.com/office/drawing/2014/main" id="{8DED5D45-C438-3AE9-4613-814CB73A739A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799342" y="2908607"/>
              <a:ext cx="468000" cy="3770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numCol="1" spcCol="50400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chemeClr val="tx2"/>
                </a:buClr>
                <a:buFontTx/>
                <a:buNone/>
                <a:defRPr sz="1800" b="1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+mj-lt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4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Char char="&gt;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rgbClr val="006EC7"/>
                </a:buClr>
                <a:buSzTx/>
                <a:buFontTx/>
                <a:buNone/>
                <a:tabLst/>
                <a:defRPr/>
              </a:pPr>
              <a:r>
                <a:rPr kumimoji="0" lang="en-GB" sz="2200" b="1" i="0" u="none" strike="noStrike" kern="1200" cap="none" spc="0" normalizeH="0" baseline="0" noProof="0">
                  <a:ln>
                    <a:noFill/>
                  </a:ln>
                  <a:solidFill>
                    <a:srgbClr val="006EC7"/>
                  </a:solidFill>
                  <a:effectLst/>
                  <a:uLnTx/>
                  <a:uFillTx/>
                  <a:latin typeface="Fira Sans Condensed"/>
                  <a:ea typeface="+mn-ea"/>
                  <a:cs typeface="+mn-cs"/>
                </a:rPr>
                <a:t>03</a:t>
              </a:r>
            </a:p>
          </p:txBody>
        </p:sp>
        <p:pic>
          <p:nvPicPr>
            <p:cNvPr id="47" name="!!Arrow">
              <a:extLst>
                <a:ext uri="{FF2B5EF4-FFF2-40B4-BE49-F238E27FC236}">
                  <a16:creationId xmlns:a16="http://schemas.microsoft.com/office/drawing/2014/main" id="{7286FC01-7112-F550-222F-15455629D4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30692" y="2932943"/>
              <a:ext cx="283369" cy="283369"/>
            </a:xfrm>
            <a:prstGeom prst="rect">
              <a:avLst/>
            </a:prstGeom>
          </p:spPr>
        </p:pic>
        <p:sp>
          <p:nvSpPr>
            <p:cNvPr id="9" name="Textplatzhalter 9">
              <a:extLst>
                <a:ext uri="{FF2B5EF4-FFF2-40B4-BE49-F238E27FC236}">
                  <a16:creationId xmlns:a16="http://schemas.microsoft.com/office/drawing/2014/main" id="{A75E3D46-2AB6-57AC-80EB-69D8D2A12641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2242954" y="2908607"/>
              <a:ext cx="5725254" cy="3770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numCol="1" spcCol="50400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chemeClr val="tx2"/>
                </a:buClr>
                <a:buFontTx/>
                <a:buNone/>
                <a:defRPr sz="1800" b="1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+mj-lt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4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Char char="&gt;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buClr>
                  <a:srgbClr val="006EC7"/>
                </a:buClr>
                <a:defRPr/>
              </a:pPr>
              <a:r>
                <a:rPr lang="en-GB" sz="2200">
                  <a:solidFill>
                    <a:srgbClr val="006EC7"/>
                  </a:solidFill>
                  <a:latin typeface="Fira Sans Condensed"/>
                </a:rPr>
                <a:t>Discussion: What is the entry requirement?</a:t>
              </a:r>
            </a:p>
            <a:p>
              <a:pPr lvl="0">
                <a:buClr>
                  <a:srgbClr val="006EC7"/>
                </a:buClr>
                <a:defRPr/>
              </a:pPr>
              <a:endParaRPr lang="en-GB" sz="2200">
                <a:solidFill>
                  <a:srgbClr val="006EC7"/>
                </a:solidFill>
                <a:latin typeface="Fira Sans Condensed"/>
              </a:endParaRPr>
            </a:p>
            <a:p>
              <a:pPr lvl="0">
                <a:buClr>
                  <a:srgbClr val="006EC7"/>
                </a:buClr>
                <a:defRPr/>
              </a:pPr>
              <a:endParaRPr lang="en-GB" sz="2200">
                <a:solidFill>
                  <a:srgbClr val="006EC7"/>
                </a:solidFill>
                <a:latin typeface="Fira Sans Condensed"/>
              </a:endParaRPr>
            </a:p>
          </p:txBody>
        </p:sp>
        <p:sp>
          <p:nvSpPr>
            <p:cNvPr id="26" name="Textplatzhalter 9">
              <a:extLst>
                <a:ext uri="{FF2B5EF4-FFF2-40B4-BE49-F238E27FC236}">
                  <a16:creationId xmlns:a16="http://schemas.microsoft.com/office/drawing/2014/main" id="{5CFB4E7F-3EE6-A036-9A39-3039A1F46A13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326402" y="2871388"/>
              <a:ext cx="1260000" cy="37701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6"/>
              </a:solidFill>
            </a:ln>
          </p:spPr>
          <p:txBody>
            <a:bodyPr lIns="0" tIns="72000" rIns="0" bIns="72000" numCol="1" spcCol="50400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chemeClr val="tx2"/>
                </a:buClr>
                <a:buFontTx/>
                <a:buNone/>
                <a:defRPr sz="1800" b="1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+mj-lt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4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Char char="&gt;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1200">
                  <a:solidFill>
                    <a:schemeClr val="accent6"/>
                  </a:solidFill>
                </a:rPr>
                <a:t>13:50-15:00</a:t>
              </a:r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224071CF-F0B2-95C2-AAED-448CDD1700F0}"/>
              </a:ext>
            </a:extLst>
          </p:cNvPr>
          <p:cNvGrpSpPr/>
          <p:nvPr/>
        </p:nvGrpSpPr>
        <p:grpSpPr>
          <a:xfrm>
            <a:off x="846438" y="4280553"/>
            <a:ext cx="8674030" cy="591676"/>
            <a:chOff x="1055686" y="4941168"/>
            <a:chExt cx="8674030" cy="595884"/>
          </a:xfrm>
        </p:grpSpPr>
        <p:sp>
          <p:nvSpPr>
            <p:cNvPr id="61" name="Abgerundetes Rechteck 42">
              <a:extLst>
                <a:ext uri="{FF2B5EF4-FFF2-40B4-BE49-F238E27FC236}">
                  <a16:creationId xmlns:a16="http://schemas.microsoft.com/office/drawing/2014/main" id="{CB03F840-F8CD-250C-CEDE-50B91693F17A}"/>
                </a:ext>
              </a:extLst>
            </p:cNvPr>
            <p:cNvSpPr/>
            <p:nvPr/>
          </p:nvSpPr>
          <p:spPr>
            <a:xfrm>
              <a:off x="1055686" y="4941168"/>
              <a:ext cx="8674030" cy="595884"/>
            </a:xfrm>
            <a:prstGeom prst="roundRect">
              <a:avLst>
                <a:gd name="adj" fmla="val 20073"/>
              </a:avLst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FFFFFF"/>
                </a:buClr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endParaRPr>
            </a:p>
          </p:txBody>
        </p:sp>
        <p:sp>
          <p:nvSpPr>
            <p:cNvPr id="62" name="Textplatzhalter 9">
              <a:extLst>
                <a:ext uri="{FF2B5EF4-FFF2-40B4-BE49-F238E27FC236}">
                  <a16:creationId xmlns:a16="http://schemas.microsoft.com/office/drawing/2014/main" id="{60DF067C-F038-4161-F839-78B1FE9B00D6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799342" y="5076267"/>
              <a:ext cx="468000" cy="3770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numCol="1" spcCol="50400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chemeClr val="tx2"/>
                </a:buClr>
                <a:buFontTx/>
                <a:buNone/>
                <a:defRPr sz="1800" b="1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+mj-lt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4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Char char="&gt;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rgbClr val="006EC7"/>
                </a:buClr>
                <a:buSzTx/>
                <a:buFontTx/>
                <a:buNone/>
                <a:tabLst/>
                <a:defRPr/>
              </a:pPr>
              <a:r>
                <a:rPr kumimoji="0" lang="en-GB" sz="2200" b="1" i="0" u="none" strike="noStrike" kern="1200" cap="none" spc="0" normalizeH="0" baseline="0" noProof="0">
                  <a:ln>
                    <a:noFill/>
                  </a:ln>
                  <a:solidFill>
                    <a:srgbClr val="006EC7"/>
                  </a:solidFill>
                  <a:effectLst/>
                  <a:uLnTx/>
                  <a:uFillTx/>
                  <a:latin typeface="Fira Sans Condensed"/>
                  <a:ea typeface="+mn-ea"/>
                  <a:cs typeface="+mn-cs"/>
                </a:rPr>
                <a:t>06</a:t>
              </a:r>
            </a:p>
          </p:txBody>
        </p:sp>
        <p:pic>
          <p:nvPicPr>
            <p:cNvPr id="63" name="!!Arrow">
              <a:extLst>
                <a:ext uri="{FF2B5EF4-FFF2-40B4-BE49-F238E27FC236}">
                  <a16:creationId xmlns:a16="http://schemas.microsoft.com/office/drawing/2014/main" id="{E6C3D271-E933-444B-EF2A-86066D1B91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30692" y="5100603"/>
              <a:ext cx="283369" cy="283369"/>
            </a:xfrm>
            <a:prstGeom prst="rect">
              <a:avLst/>
            </a:prstGeom>
          </p:spPr>
        </p:pic>
        <p:sp>
          <p:nvSpPr>
            <p:cNvPr id="14" name="Textplatzhalter 9">
              <a:extLst>
                <a:ext uri="{FF2B5EF4-FFF2-40B4-BE49-F238E27FC236}">
                  <a16:creationId xmlns:a16="http://schemas.microsoft.com/office/drawing/2014/main" id="{C7967E84-470A-CED1-255A-2E7FB5B793FB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2242954" y="5076267"/>
              <a:ext cx="5142617" cy="3770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numCol="1" spcCol="50400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chemeClr val="tx2"/>
                </a:buClr>
                <a:buFontTx/>
                <a:buNone/>
                <a:defRPr sz="1800" b="1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+mj-lt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4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Char char="&gt;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buClr>
                  <a:srgbClr val="006EC7"/>
                </a:buClr>
                <a:defRPr/>
              </a:pPr>
              <a:r>
                <a:rPr lang="en-GB" sz="2200">
                  <a:solidFill>
                    <a:srgbClr val="006EC7"/>
                  </a:solidFill>
                  <a:latin typeface="Fira Sans Condensed"/>
                </a:rPr>
                <a:t>Review &amp; Confirm: Requirements </a:t>
              </a:r>
            </a:p>
            <a:p>
              <a:pPr lvl="0">
                <a:buClr>
                  <a:srgbClr val="006EC7"/>
                </a:buClr>
                <a:defRPr/>
              </a:pPr>
              <a:endParaRPr lang="en-GB" sz="2200">
                <a:solidFill>
                  <a:srgbClr val="006EC7"/>
                </a:solidFill>
                <a:latin typeface="Fira Sans Condensed"/>
              </a:endParaRPr>
            </a:p>
            <a:p>
              <a:pPr lvl="0">
                <a:buClr>
                  <a:srgbClr val="006EC7"/>
                </a:buClr>
                <a:defRPr/>
              </a:pPr>
              <a:endParaRPr lang="en-GB" sz="2200">
                <a:solidFill>
                  <a:srgbClr val="006EC7"/>
                </a:solidFill>
                <a:latin typeface="Fira Sans Condensed"/>
              </a:endParaRPr>
            </a:p>
          </p:txBody>
        </p:sp>
        <p:sp>
          <p:nvSpPr>
            <p:cNvPr id="29" name="Textplatzhalter 9">
              <a:extLst>
                <a:ext uri="{FF2B5EF4-FFF2-40B4-BE49-F238E27FC236}">
                  <a16:creationId xmlns:a16="http://schemas.microsoft.com/office/drawing/2014/main" id="{6294A1A2-E7E7-8F97-760F-5BCDE58DDAF8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331008" y="5053781"/>
              <a:ext cx="1260000" cy="37701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6"/>
              </a:solidFill>
            </a:ln>
          </p:spPr>
          <p:txBody>
            <a:bodyPr lIns="0" tIns="72000" rIns="0" bIns="72000" numCol="1" spcCol="50400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chemeClr val="tx2"/>
                </a:buClr>
                <a:buFontTx/>
                <a:buNone/>
                <a:defRPr sz="1800" b="1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+mj-lt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4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Char char="&gt;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1200">
                  <a:solidFill>
                    <a:schemeClr val="accent6"/>
                  </a:solidFill>
                </a:rPr>
                <a:t>15:15-16:00</a:t>
              </a:r>
            </a:p>
          </p:txBody>
        </p:sp>
      </p:grpSp>
      <p:sp>
        <p:nvSpPr>
          <p:cNvPr id="15" name="Abgerundetes Rechteck 14">
            <a:extLst>
              <a:ext uri="{FF2B5EF4-FFF2-40B4-BE49-F238E27FC236}">
                <a16:creationId xmlns:a16="http://schemas.microsoft.com/office/drawing/2014/main" id="{0DBA183D-494D-8C50-E0D5-8A5022CC48E4}"/>
              </a:ext>
            </a:extLst>
          </p:cNvPr>
          <p:cNvSpPr/>
          <p:nvPr/>
        </p:nvSpPr>
        <p:spPr>
          <a:xfrm>
            <a:off x="875985" y="3247653"/>
            <a:ext cx="8674030" cy="287911"/>
          </a:xfrm>
          <a:prstGeom prst="roundRect">
            <a:avLst>
              <a:gd name="adj" fmla="val 20073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lang="de-DE">
                <a:solidFill>
                  <a:schemeClr val="tx2"/>
                </a:solidFill>
                <a:latin typeface="Fira Sans"/>
              </a:rPr>
              <a:t>Break</a:t>
            </a: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 15 min</a:t>
            </a:r>
          </a:p>
        </p:txBody>
      </p:sp>
      <p:sp>
        <p:nvSpPr>
          <p:cNvPr id="16" name="Fußzeilenplatzhalter 3">
            <a:extLst>
              <a:ext uri="{FF2B5EF4-FFF2-40B4-BE49-F238E27FC236}">
                <a16:creationId xmlns:a16="http://schemas.microsoft.com/office/drawing/2014/main" id="{4AD7B183-3FA8-7E84-0AB8-18D98CC59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55687" y="6453000"/>
            <a:ext cx="4968000" cy="144000"/>
          </a:xfrm>
        </p:spPr>
        <p:txBody>
          <a:bodyPr/>
          <a:lstStyle/>
          <a:p>
            <a:r>
              <a:rPr lang="en-GB"/>
              <a:t>AI Agent Repository – Interview &amp; Requirement Review &amp; Workshop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78A9893-83DC-F9B7-9A53-3FDDE1BE8836}"/>
              </a:ext>
            </a:extLst>
          </p:cNvPr>
          <p:cNvSpPr/>
          <p:nvPr/>
        </p:nvSpPr>
        <p:spPr>
          <a:xfrm>
            <a:off x="10776520" y="620688"/>
            <a:ext cx="864096" cy="792088"/>
          </a:xfrm>
          <a:prstGeom prst="ellipse">
            <a:avLst/>
          </a:prstGeom>
          <a:solidFill>
            <a:srgbClr val="FFFF0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CA3D773B-505E-7CE3-7B30-2A92B368ED9C}"/>
              </a:ext>
            </a:extLst>
          </p:cNvPr>
          <p:cNvGrpSpPr/>
          <p:nvPr/>
        </p:nvGrpSpPr>
        <p:grpSpPr>
          <a:xfrm>
            <a:off x="875985" y="5337661"/>
            <a:ext cx="8674030" cy="591676"/>
            <a:chOff x="1055686" y="4941168"/>
            <a:chExt cx="8674030" cy="595884"/>
          </a:xfrm>
        </p:grpSpPr>
        <p:sp>
          <p:nvSpPr>
            <p:cNvPr id="41" name="Abgerundetes Rechteck 42">
              <a:extLst>
                <a:ext uri="{FF2B5EF4-FFF2-40B4-BE49-F238E27FC236}">
                  <a16:creationId xmlns:a16="http://schemas.microsoft.com/office/drawing/2014/main" id="{7EC74AEB-0838-2370-B4CF-7CFEC364B56F}"/>
                </a:ext>
              </a:extLst>
            </p:cNvPr>
            <p:cNvSpPr/>
            <p:nvPr/>
          </p:nvSpPr>
          <p:spPr>
            <a:xfrm>
              <a:off x="1055686" y="4941168"/>
              <a:ext cx="8674030" cy="595884"/>
            </a:xfrm>
            <a:prstGeom prst="roundRect">
              <a:avLst>
                <a:gd name="adj" fmla="val 20073"/>
              </a:avLst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FFFFFF"/>
                </a:buClr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endParaRPr>
            </a:p>
          </p:txBody>
        </p:sp>
        <p:sp>
          <p:nvSpPr>
            <p:cNvPr id="45" name="Textplatzhalter 9">
              <a:extLst>
                <a:ext uri="{FF2B5EF4-FFF2-40B4-BE49-F238E27FC236}">
                  <a16:creationId xmlns:a16="http://schemas.microsoft.com/office/drawing/2014/main" id="{7F0C2E7E-6B75-4F42-0F8B-8D901D4927EA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799342" y="5076267"/>
              <a:ext cx="468000" cy="3770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numCol="1" spcCol="50400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chemeClr val="tx2"/>
                </a:buClr>
                <a:buFontTx/>
                <a:buNone/>
                <a:defRPr sz="1800" b="1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+mj-lt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4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Char char="&gt;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rgbClr val="006EC7"/>
                </a:buClr>
                <a:buSzTx/>
                <a:buFontTx/>
                <a:buNone/>
                <a:tabLst/>
                <a:defRPr/>
              </a:pPr>
              <a:r>
                <a:rPr kumimoji="0" lang="en-GB" sz="2200" b="1" i="0" u="none" strike="noStrike" kern="1200" cap="none" spc="0" normalizeH="0" baseline="0" noProof="0">
                  <a:ln>
                    <a:noFill/>
                  </a:ln>
                  <a:solidFill>
                    <a:srgbClr val="006EC7"/>
                  </a:solidFill>
                  <a:effectLst/>
                  <a:uLnTx/>
                  <a:uFillTx/>
                  <a:latin typeface="Fira Sans Condensed"/>
                  <a:ea typeface="+mn-ea"/>
                  <a:cs typeface="+mn-cs"/>
                </a:rPr>
                <a:t>07</a:t>
              </a:r>
            </a:p>
          </p:txBody>
        </p:sp>
        <p:pic>
          <p:nvPicPr>
            <p:cNvPr id="46" name="!!Arrow">
              <a:extLst>
                <a:ext uri="{FF2B5EF4-FFF2-40B4-BE49-F238E27FC236}">
                  <a16:creationId xmlns:a16="http://schemas.microsoft.com/office/drawing/2014/main" id="{E8848BC5-687B-0FE9-547F-E7D18280CE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30692" y="5100603"/>
              <a:ext cx="283369" cy="283369"/>
            </a:xfrm>
            <a:prstGeom prst="rect">
              <a:avLst/>
            </a:prstGeom>
          </p:spPr>
        </p:pic>
        <p:sp>
          <p:nvSpPr>
            <p:cNvPr id="48" name="Textplatzhalter 9">
              <a:extLst>
                <a:ext uri="{FF2B5EF4-FFF2-40B4-BE49-F238E27FC236}">
                  <a16:creationId xmlns:a16="http://schemas.microsoft.com/office/drawing/2014/main" id="{0F91272F-A7F8-2B98-0B88-5CD4897750E2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2242954" y="5076267"/>
              <a:ext cx="5142617" cy="3770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numCol="1" spcCol="50400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chemeClr val="tx2"/>
                </a:buClr>
                <a:buFontTx/>
                <a:buNone/>
                <a:defRPr sz="1800" b="1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+mj-lt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4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Char char="&gt;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buClr>
                  <a:srgbClr val="006EC7"/>
                </a:buClr>
                <a:defRPr/>
              </a:pPr>
              <a:r>
                <a:rPr lang="en-GB" sz="2200">
                  <a:solidFill>
                    <a:srgbClr val="006EC7"/>
                  </a:solidFill>
                  <a:latin typeface="Fira Sans Condensed"/>
                </a:rPr>
                <a:t>Decisions &amp; Next Steps</a:t>
              </a:r>
            </a:p>
            <a:p>
              <a:pPr lvl="0">
                <a:buClr>
                  <a:srgbClr val="006EC7"/>
                </a:buClr>
                <a:defRPr/>
              </a:pPr>
              <a:endParaRPr lang="en-GB" sz="2200">
                <a:solidFill>
                  <a:srgbClr val="006EC7"/>
                </a:solidFill>
                <a:latin typeface="Fira Sans Condensed"/>
              </a:endParaRPr>
            </a:p>
            <a:p>
              <a:pPr lvl="0">
                <a:buClr>
                  <a:srgbClr val="006EC7"/>
                </a:buClr>
                <a:defRPr/>
              </a:pPr>
              <a:endParaRPr lang="en-GB" sz="2200">
                <a:solidFill>
                  <a:srgbClr val="006EC7"/>
                </a:solidFill>
                <a:latin typeface="Fira Sans Condensed"/>
              </a:endParaRPr>
            </a:p>
          </p:txBody>
        </p:sp>
        <p:sp>
          <p:nvSpPr>
            <p:cNvPr id="49" name="Textplatzhalter 9">
              <a:extLst>
                <a:ext uri="{FF2B5EF4-FFF2-40B4-BE49-F238E27FC236}">
                  <a16:creationId xmlns:a16="http://schemas.microsoft.com/office/drawing/2014/main" id="{64172137-A34D-561D-9DAB-6CDBD11FEB94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331008" y="5053781"/>
              <a:ext cx="1260000" cy="37701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6"/>
              </a:solidFill>
            </a:ln>
          </p:spPr>
          <p:txBody>
            <a:bodyPr lIns="0" tIns="72000" rIns="0" bIns="72000" numCol="1" spcCol="50400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chemeClr val="tx2"/>
                </a:buClr>
                <a:buFontTx/>
                <a:buNone/>
                <a:defRPr sz="1800" b="1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+mj-lt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4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Char char="&gt;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1200">
                  <a:solidFill>
                    <a:schemeClr val="accent6"/>
                  </a:solidFill>
                </a:rPr>
                <a:t>15:30-16:00</a:t>
              </a:r>
            </a:p>
          </p:txBody>
        </p:sp>
      </p:grpSp>
      <p:sp>
        <p:nvSpPr>
          <p:cNvPr id="50" name="Abgerundetes Rechteck 49">
            <a:extLst>
              <a:ext uri="{FF2B5EF4-FFF2-40B4-BE49-F238E27FC236}">
                <a16:creationId xmlns:a16="http://schemas.microsoft.com/office/drawing/2014/main" id="{1E51C668-B848-05C4-7A59-D46C9CF78B49}"/>
              </a:ext>
            </a:extLst>
          </p:cNvPr>
          <p:cNvSpPr/>
          <p:nvPr/>
        </p:nvSpPr>
        <p:spPr>
          <a:xfrm>
            <a:off x="864491" y="4967040"/>
            <a:ext cx="8674030" cy="287911"/>
          </a:xfrm>
          <a:prstGeom prst="roundRect">
            <a:avLst>
              <a:gd name="adj" fmla="val 20073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lang="de-DE">
                <a:solidFill>
                  <a:schemeClr val="tx2"/>
                </a:solidFill>
                <a:latin typeface="Fira Sans"/>
              </a:rPr>
              <a:t>Break</a:t>
            </a: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 10 min</a:t>
            </a:r>
          </a:p>
        </p:txBody>
      </p: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2E0A18D-51EB-8F22-5043-71F04BFCBE17}"/>
              </a:ext>
            </a:extLst>
          </p:cNvPr>
          <p:cNvGrpSpPr/>
          <p:nvPr/>
        </p:nvGrpSpPr>
        <p:grpSpPr>
          <a:xfrm>
            <a:off x="864491" y="3630375"/>
            <a:ext cx="8674030" cy="591676"/>
            <a:chOff x="1055686" y="4941169"/>
            <a:chExt cx="8674030" cy="595884"/>
          </a:xfrm>
        </p:grpSpPr>
        <p:sp>
          <p:nvSpPr>
            <p:cNvPr id="52" name="Abgerundetes Rechteck 42">
              <a:extLst>
                <a:ext uri="{FF2B5EF4-FFF2-40B4-BE49-F238E27FC236}">
                  <a16:creationId xmlns:a16="http://schemas.microsoft.com/office/drawing/2014/main" id="{AB2ABCF5-7718-7935-344D-6D1965E114D3}"/>
                </a:ext>
              </a:extLst>
            </p:cNvPr>
            <p:cNvSpPr/>
            <p:nvPr/>
          </p:nvSpPr>
          <p:spPr>
            <a:xfrm>
              <a:off x="1055686" y="4941169"/>
              <a:ext cx="8674030" cy="595884"/>
            </a:xfrm>
            <a:prstGeom prst="roundRect">
              <a:avLst>
                <a:gd name="adj" fmla="val 20073"/>
              </a:avLst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FFFFFF"/>
                </a:buClr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endParaRPr>
            </a:p>
          </p:txBody>
        </p:sp>
        <p:sp>
          <p:nvSpPr>
            <p:cNvPr id="55" name="Textplatzhalter 9">
              <a:extLst>
                <a:ext uri="{FF2B5EF4-FFF2-40B4-BE49-F238E27FC236}">
                  <a16:creationId xmlns:a16="http://schemas.microsoft.com/office/drawing/2014/main" id="{875A17A6-2144-D0E3-C380-035BD5742FD1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799342" y="5076267"/>
              <a:ext cx="468000" cy="3770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numCol="1" spcCol="50400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chemeClr val="tx2"/>
                </a:buClr>
                <a:buFontTx/>
                <a:buNone/>
                <a:defRPr sz="1800" b="1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+mj-lt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4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Char char="&gt;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rgbClr val="006EC7"/>
                </a:buClr>
                <a:buSzTx/>
                <a:buFontTx/>
                <a:buNone/>
                <a:tabLst/>
                <a:defRPr/>
              </a:pPr>
              <a:r>
                <a:rPr kumimoji="0" lang="en-GB" sz="2200" b="1" i="0" u="none" strike="noStrike" kern="1200" cap="none" spc="0" normalizeH="0" baseline="0" noProof="0">
                  <a:ln>
                    <a:noFill/>
                  </a:ln>
                  <a:solidFill>
                    <a:srgbClr val="006EC7"/>
                  </a:solidFill>
                  <a:effectLst/>
                  <a:uLnTx/>
                  <a:uFillTx/>
                  <a:latin typeface="Fira Sans Condensed"/>
                  <a:ea typeface="+mn-ea"/>
                  <a:cs typeface="+mn-cs"/>
                </a:rPr>
                <a:t>04</a:t>
              </a:r>
            </a:p>
          </p:txBody>
        </p:sp>
        <p:pic>
          <p:nvPicPr>
            <p:cNvPr id="56" name="!!Arrow">
              <a:extLst>
                <a:ext uri="{FF2B5EF4-FFF2-40B4-BE49-F238E27FC236}">
                  <a16:creationId xmlns:a16="http://schemas.microsoft.com/office/drawing/2014/main" id="{ADD0AEDF-879A-5C1C-8D7A-5F45D9983A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30692" y="5100603"/>
              <a:ext cx="283369" cy="283369"/>
            </a:xfrm>
            <a:prstGeom prst="rect">
              <a:avLst/>
            </a:prstGeom>
          </p:spPr>
        </p:pic>
        <p:sp>
          <p:nvSpPr>
            <p:cNvPr id="58" name="Textplatzhalter 9">
              <a:extLst>
                <a:ext uri="{FF2B5EF4-FFF2-40B4-BE49-F238E27FC236}">
                  <a16:creationId xmlns:a16="http://schemas.microsoft.com/office/drawing/2014/main" id="{58EE3BEF-8CD2-DC3F-03F9-3BE753BCD480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2242954" y="5076267"/>
              <a:ext cx="5142617" cy="3770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numCol="1" spcCol="504000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chemeClr val="tx2"/>
                </a:buClr>
                <a:buFontTx/>
                <a:buNone/>
                <a:defRPr sz="1800" b="1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+mj-lt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4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Char char="&gt;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buClr>
                  <a:srgbClr val="006EC7"/>
                </a:buClr>
                <a:defRPr/>
              </a:pPr>
              <a:r>
                <a:rPr lang="en-GB" sz="2200">
                  <a:solidFill>
                    <a:srgbClr val="006EC7"/>
                  </a:solidFill>
                  <a:latin typeface="Fira Sans Condensed"/>
                </a:rPr>
                <a:t>MVP Suggestion</a:t>
              </a:r>
            </a:p>
            <a:p>
              <a:pPr lvl="0">
                <a:buClr>
                  <a:srgbClr val="006EC7"/>
                </a:buClr>
                <a:defRPr/>
              </a:pPr>
              <a:endParaRPr lang="en-GB" sz="2200">
                <a:solidFill>
                  <a:srgbClr val="006EC7"/>
                </a:solidFill>
                <a:latin typeface="Fira Sans Condensed"/>
              </a:endParaRPr>
            </a:p>
            <a:p>
              <a:pPr lvl="0">
                <a:buClr>
                  <a:srgbClr val="006EC7"/>
                </a:buClr>
                <a:defRPr/>
              </a:pPr>
              <a:endParaRPr lang="en-GB" sz="2200">
                <a:solidFill>
                  <a:srgbClr val="006EC7"/>
                </a:solidFill>
                <a:latin typeface="Fira Sans Condensed"/>
              </a:endParaRPr>
            </a:p>
          </p:txBody>
        </p:sp>
        <p:sp>
          <p:nvSpPr>
            <p:cNvPr id="59" name="Textplatzhalter 9">
              <a:extLst>
                <a:ext uri="{FF2B5EF4-FFF2-40B4-BE49-F238E27FC236}">
                  <a16:creationId xmlns:a16="http://schemas.microsoft.com/office/drawing/2014/main" id="{FF00C571-FC18-FD99-0BC5-0BF88677707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331008" y="5053781"/>
              <a:ext cx="1260000" cy="37701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6"/>
              </a:solidFill>
            </a:ln>
          </p:spPr>
          <p:txBody>
            <a:bodyPr lIns="0" tIns="72000" rIns="0" bIns="72000" numCol="1" spcCol="504000"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200"/>
                </a:spcAft>
                <a:buClr>
                  <a:schemeClr val="tx2"/>
                </a:buClr>
                <a:buFontTx/>
                <a:buNone/>
                <a:defRPr sz="1800" b="1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+mj-lt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4000" indent="-144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Fira Sans" panose="020B0503050000020004" pitchFamily="34" charset="0"/>
                <a:buChar char="&gt;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0000" indent="-180000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1200">
                  <a:solidFill>
                    <a:schemeClr val="accent6"/>
                  </a:solidFill>
                </a:rPr>
                <a:t>16:00-16:30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6435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27B47-89A6-1079-9B07-A66D6115E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AE9BBD8E-3850-B244-1CF1-36D5D6EBF9F8}"/>
              </a:ext>
            </a:extLst>
          </p:cNvPr>
          <p:cNvSpPr txBox="1">
            <a:spLocks/>
          </p:cNvSpPr>
          <p:nvPr/>
        </p:nvSpPr>
        <p:spPr bwMode="gray">
          <a:xfrm>
            <a:off x="8544686" y="512676"/>
            <a:ext cx="3240000" cy="2736304"/>
          </a:xfrm>
          <a:prstGeom prst="roundRect">
            <a:avLst>
              <a:gd name="adj" fmla="val 4177"/>
            </a:avLst>
          </a:prstGeom>
          <a:solidFill>
            <a:schemeClr val="tx2"/>
          </a:solidFill>
        </p:spPr>
        <p:txBody>
          <a:bodyPr lIns="216000" tIns="1080000" rIns="216000" bIns="216000"/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Symbol" panose="05050102010706020507" pitchFamily="18" charset="2"/>
              <a:buChar char="-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Symbol" panose="05050102010706020507" pitchFamily="18" charset="2"/>
              <a:buChar char="-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Tx/>
              <a:buNone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288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Fira Sans" panose="020B0503050000020004" pitchFamily="34" charset="0"/>
              <a:buChar char="&gt;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432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Font typeface="Symbol" panose="05050102010706020507" pitchFamily="18" charset="2"/>
              <a:buChar char="-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GB" noProof="0"/>
              <a:t>Review &amp; Discuss Requirements</a:t>
            </a:r>
          </a:p>
          <a:p>
            <a:pPr lvl="5"/>
            <a:r>
              <a:rPr lang="de-DE" sz="1200" err="1"/>
              <a:t>What</a:t>
            </a:r>
            <a:r>
              <a:rPr lang="de-DE" sz="1200"/>
              <a:t> </a:t>
            </a:r>
            <a:r>
              <a:rPr lang="de-DE" sz="1200" err="1"/>
              <a:t>counts</a:t>
            </a:r>
            <a:r>
              <a:rPr lang="de-DE" sz="1200"/>
              <a:t> as an "</a:t>
            </a:r>
            <a:r>
              <a:rPr lang="de-DE" sz="1200" err="1"/>
              <a:t>agent</a:t>
            </a:r>
            <a:r>
              <a:rPr lang="de-DE" sz="1200"/>
              <a:t>" in </a:t>
            </a:r>
            <a:r>
              <a:rPr lang="de-DE" sz="1200" err="1"/>
              <a:t>scope</a:t>
            </a:r>
            <a:r>
              <a:rPr lang="de-DE" sz="1200"/>
              <a:t> and </a:t>
            </a:r>
            <a:r>
              <a:rPr lang="de-DE" sz="1200" err="1"/>
              <a:t>what</a:t>
            </a:r>
            <a:r>
              <a:rPr lang="de-DE" sz="1200"/>
              <a:t> </a:t>
            </a:r>
            <a:r>
              <a:rPr lang="de-DE" sz="1200" err="1"/>
              <a:t>doesn't</a:t>
            </a:r>
            <a:r>
              <a:rPr lang="de-DE" sz="1200"/>
              <a:t>? </a:t>
            </a:r>
            <a:r>
              <a:rPr lang="de-DE" sz="1200" err="1"/>
              <a:t>What</a:t>
            </a:r>
            <a:r>
              <a:rPr lang="de-DE" sz="1200"/>
              <a:t> </a:t>
            </a:r>
            <a:r>
              <a:rPr lang="de-DE" sz="1200" err="1"/>
              <a:t>must</a:t>
            </a:r>
            <a:r>
              <a:rPr lang="de-DE" sz="1200"/>
              <a:t> a registered </a:t>
            </a:r>
            <a:r>
              <a:rPr lang="de-DE" sz="1200" err="1"/>
              <a:t>agent</a:t>
            </a:r>
            <a:r>
              <a:rPr lang="de-DE" sz="1200"/>
              <a:t> </a:t>
            </a:r>
            <a:r>
              <a:rPr lang="de-DE" sz="1200" err="1"/>
              <a:t>fulfill</a:t>
            </a:r>
            <a:r>
              <a:rPr lang="de-DE" sz="1200"/>
              <a:t>: </a:t>
            </a:r>
            <a:r>
              <a:rPr lang="de-DE" sz="1200" err="1"/>
              <a:t>ownership</a:t>
            </a:r>
            <a:r>
              <a:rPr lang="de-DE" sz="1200"/>
              <a:t>, </a:t>
            </a:r>
            <a:r>
              <a:rPr lang="de-DE" sz="1200" err="1"/>
              <a:t>risk</a:t>
            </a:r>
            <a:r>
              <a:rPr lang="de-DE" sz="1200"/>
              <a:t> </a:t>
            </a:r>
            <a:r>
              <a:rPr lang="de-DE" sz="1200" err="1"/>
              <a:t>classification</a:t>
            </a:r>
            <a:r>
              <a:rPr lang="de-DE" sz="1200"/>
              <a:t>, </a:t>
            </a:r>
            <a:r>
              <a:rPr lang="de-DE" sz="1200" err="1"/>
              <a:t>lifecycle</a:t>
            </a:r>
            <a:r>
              <a:rPr lang="de-DE" sz="1200"/>
              <a:t>, </a:t>
            </a:r>
            <a:r>
              <a:rPr lang="de-DE" sz="1200" err="1"/>
              <a:t>access</a:t>
            </a:r>
            <a:r>
              <a:rPr lang="de-DE" sz="1200"/>
              <a:t>? </a:t>
            </a:r>
            <a:r>
              <a:rPr lang="de-DE" sz="1200" err="1"/>
              <a:t>Where</a:t>
            </a:r>
            <a:r>
              <a:rPr lang="de-DE" sz="1200"/>
              <a:t> do </a:t>
            </a:r>
            <a:r>
              <a:rPr lang="de-DE" sz="1200" err="1"/>
              <a:t>requirements</a:t>
            </a:r>
            <a:r>
              <a:rPr lang="de-DE" sz="1200"/>
              <a:t> </a:t>
            </a:r>
            <a:r>
              <a:rPr lang="de-DE" sz="1200" err="1"/>
              <a:t>conflict</a:t>
            </a:r>
            <a:r>
              <a:rPr lang="de-DE" sz="1200"/>
              <a:t> </a:t>
            </a:r>
            <a:r>
              <a:rPr lang="de-DE" sz="1200" err="1"/>
              <a:t>or</a:t>
            </a:r>
            <a:r>
              <a:rPr lang="de-DE" sz="1200"/>
              <a:t> </a:t>
            </a:r>
            <a:r>
              <a:rPr lang="de-DE" sz="1200" err="1"/>
              <a:t>have</a:t>
            </a:r>
            <a:r>
              <a:rPr lang="de-DE" sz="1200"/>
              <a:t> </a:t>
            </a:r>
            <a:r>
              <a:rPr lang="de-DE" sz="1200" err="1"/>
              <a:t>gaps</a:t>
            </a:r>
            <a:r>
              <a:rPr lang="de-DE" sz="1200"/>
              <a:t>?</a:t>
            </a:r>
            <a:endParaRPr lang="en-GB" sz="1200" noProof="0"/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57A2A125-EF49-B9B8-4A18-4E7261489BCC}"/>
              </a:ext>
            </a:extLst>
          </p:cNvPr>
          <p:cNvSpPr txBox="1">
            <a:spLocks/>
          </p:cNvSpPr>
          <p:nvPr/>
        </p:nvSpPr>
        <p:spPr bwMode="gray">
          <a:xfrm>
            <a:off x="6671168" y="3465304"/>
            <a:ext cx="3240000" cy="2700000"/>
          </a:xfrm>
          <a:prstGeom prst="roundRect">
            <a:avLst>
              <a:gd name="adj" fmla="val 4177"/>
            </a:avLst>
          </a:prstGeom>
          <a:solidFill>
            <a:srgbClr val="461EBE"/>
          </a:solidFill>
        </p:spPr>
        <p:txBody>
          <a:bodyPr vert="horz" wrap="square" lIns="216000" tIns="1080000" rIns="216000" bIns="216000" rtlCol="0">
            <a:no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Tx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2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GB">
                <a:solidFill>
                  <a:schemeClr val="bg1"/>
                </a:solidFill>
              </a:rPr>
              <a:t>Scope and Sign-Off</a:t>
            </a:r>
            <a:endParaRPr lang="en-GB" noProof="0">
              <a:solidFill>
                <a:schemeClr val="bg1"/>
              </a:solidFill>
            </a:endParaRPr>
          </a:p>
          <a:p>
            <a:pPr lvl="5"/>
            <a:r>
              <a:rPr lang="de-DE" sz="1200" err="1">
                <a:solidFill>
                  <a:schemeClr val="bg1"/>
                </a:solidFill>
              </a:rPr>
              <a:t>What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goes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into</a:t>
            </a:r>
            <a:r>
              <a:rPr lang="de-DE" sz="1200">
                <a:solidFill>
                  <a:schemeClr val="bg1"/>
                </a:solidFill>
              </a:rPr>
              <a:t> the MVP in </a:t>
            </a:r>
            <a:r>
              <a:rPr lang="de-DE" sz="1200" err="1">
                <a:solidFill>
                  <a:schemeClr val="bg1"/>
                </a:solidFill>
              </a:rPr>
              <a:t>scope</a:t>
            </a:r>
            <a:r>
              <a:rPr lang="de-DE" sz="1200">
                <a:solidFill>
                  <a:schemeClr val="bg1"/>
                </a:solidFill>
              </a:rPr>
              <a:t>, out of </a:t>
            </a:r>
            <a:r>
              <a:rPr lang="de-DE" sz="1200" err="1">
                <a:solidFill>
                  <a:schemeClr val="bg1"/>
                </a:solidFill>
              </a:rPr>
              <a:t>scope</a:t>
            </a:r>
            <a:r>
              <a:rPr lang="de-DE" sz="1200">
                <a:solidFill>
                  <a:schemeClr val="bg1"/>
                </a:solidFill>
              </a:rPr>
              <a:t>, </a:t>
            </a:r>
            <a:r>
              <a:rPr lang="de-DE" sz="1200" err="1">
                <a:solidFill>
                  <a:schemeClr val="bg1"/>
                </a:solidFill>
              </a:rPr>
              <a:t>parked</a:t>
            </a:r>
            <a:r>
              <a:rPr lang="de-DE" sz="1200">
                <a:solidFill>
                  <a:schemeClr val="bg1"/>
                </a:solidFill>
              </a:rPr>
              <a:t> for </a:t>
            </a:r>
            <a:r>
              <a:rPr lang="de-DE" sz="1200" err="1">
                <a:solidFill>
                  <a:schemeClr val="bg1"/>
                </a:solidFill>
              </a:rPr>
              <a:t>later</a:t>
            </a:r>
            <a:r>
              <a:rPr lang="de-DE" sz="1200">
                <a:solidFill>
                  <a:schemeClr val="bg1"/>
                </a:solidFill>
              </a:rPr>
              <a:t>? </a:t>
            </a:r>
            <a:r>
              <a:rPr lang="de-DE" sz="1200" err="1">
                <a:solidFill>
                  <a:schemeClr val="bg1"/>
                </a:solidFill>
              </a:rPr>
              <a:t>What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would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make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this</a:t>
            </a:r>
            <a:r>
              <a:rPr lang="de-DE" sz="1200">
                <a:solidFill>
                  <a:schemeClr val="bg1"/>
                </a:solidFill>
              </a:rPr>
              <a:t> fail, and </a:t>
            </a:r>
            <a:r>
              <a:rPr lang="de-DE" sz="1200" err="1">
                <a:solidFill>
                  <a:schemeClr val="bg1"/>
                </a:solidFill>
              </a:rPr>
              <a:t>what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haven't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we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considered</a:t>
            </a:r>
            <a:r>
              <a:rPr lang="de-DE" sz="1200">
                <a:solidFill>
                  <a:schemeClr val="bg1"/>
                </a:solidFill>
              </a:rPr>
              <a:t>? </a:t>
            </a:r>
            <a:r>
              <a:rPr lang="de-DE" sz="1200" err="1">
                <a:solidFill>
                  <a:schemeClr val="bg1"/>
                </a:solidFill>
              </a:rPr>
              <a:t>What</a:t>
            </a:r>
            <a:r>
              <a:rPr lang="de-DE" sz="1200">
                <a:solidFill>
                  <a:schemeClr val="bg1"/>
                </a:solidFill>
              </a:rPr>
              <a:t> do </a:t>
            </a:r>
            <a:r>
              <a:rPr lang="de-DE" sz="1200" err="1">
                <a:solidFill>
                  <a:schemeClr val="bg1"/>
                </a:solidFill>
              </a:rPr>
              <a:t>we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agree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today</a:t>
            </a:r>
            <a:r>
              <a:rPr lang="de-DE" sz="1200">
                <a:solidFill>
                  <a:schemeClr val="bg1"/>
                </a:solidFill>
              </a:rPr>
              <a:t>, and </a:t>
            </a:r>
            <a:r>
              <a:rPr lang="de-DE" sz="1200" err="1">
                <a:solidFill>
                  <a:schemeClr val="bg1"/>
                </a:solidFill>
              </a:rPr>
              <a:t>how</a:t>
            </a:r>
            <a:r>
              <a:rPr lang="de-DE" sz="1200">
                <a:solidFill>
                  <a:schemeClr val="bg1"/>
                </a:solidFill>
              </a:rPr>
              <a:t> do </a:t>
            </a:r>
            <a:r>
              <a:rPr lang="de-DE" sz="1200" err="1">
                <a:solidFill>
                  <a:schemeClr val="bg1"/>
                </a:solidFill>
              </a:rPr>
              <a:t>we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proceed</a:t>
            </a:r>
            <a:r>
              <a:rPr lang="de-DE" sz="1200">
                <a:solidFill>
                  <a:schemeClr val="bg1"/>
                </a:solidFill>
              </a:rPr>
              <a:t>?</a:t>
            </a:r>
            <a:endParaRPr lang="en-GB" sz="1200" noProof="0">
              <a:solidFill>
                <a:schemeClr val="bg1"/>
              </a:solidFill>
            </a:endParaRP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6551990E-A68D-01A1-7631-4AA2C57E988C}"/>
              </a:ext>
            </a:extLst>
          </p:cNvPr>
          <p:cNvSpPr txBox="1">
            <a:spLocks/>
          </p:cNvSpPr>
          <p:nvPr/>
        </p:nvSpPr>
        <p:spPr bwMode="gray">
          <a:xfrm>
            <a:off x="5051168" y="512254"/>
            <a:ext cx="3240000" cy="2736726"/>
          </a:xfrm>
          <a:prstGeom prst="roundRect">
            <a:avLst>
              <a:gd name="adj" fmla="val 4177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vert="horz" wrap="square" lIns="216000" tIns="1080000" rIns="216000" bIns="216000" rtlCol="0">
            <a:no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Tx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2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GB" noProof="0"/>
              <a:t>Give an overview</a:t>
            </a:r>
          </a:p>
          <a:p>
            <a:pPr lvl="5"/>
            <a:r>
              <a:rPr lang="de-DE" sz="1200" err="1"/>
              <a:t>Where</a:t>
            </a:r>
            <a:r>
              <a:rPr lang="de-DE" sz="1200"/>
              <a:t> do </a:t>
            </a:r>
            <a:r>
              <a:rPr lang="de-DE" sz="1200" err="1"/>
              <a:t>we</a:t>
            </a:r>
            <a:r>
              <a:rPr lang="de-DE" sz="1200"/>
              <a:t> stand </a:t>
            </a:r>
            <a:r>
              <a:rPr lang="de-DE" sz="1200" err="1"/>
              <a:t>today</a:t>
            </a:r>
            <a:r>
              <a:rPr lang="de-DE" sz="1200"/>
              <a:t> </a:t>
            </a:r>
            <a:r>
              <a:rPr lang="de-DE" sz="1200" err="1"/>
              <a:t>across</a:t>
            </a:r>
            <a:r>
              <a:rPr lang="de-DE" sz="1200"/>
              <a:t> </a:t>
            </a:r>
            <a:r>
              <a:rPr lang="de-DE" sz="1200" err="1"/>
              <a:t>platforms</a:t>
            </a:r>
            <a:r>
              <a:rPr lang="de-DE" sz="1200"/>
              <a:t> and </a:t>
            </a:r>
            <a:r>
              <a:rPr lang="de-DE" sz="1200" err="1"/>
              <a:t>existing</a:t>
            </a:r>
            <a:r>
              <a:rPr lang="de-DE" sz="1200"/>
              <a:t> </a:t>
            </a:r>
            <a:r>
              <a:rPr lang="de-DE" sz="1200" err="1"/>
              <a:t>governance</a:t>
            </a:r>
            <a:r>
              <a:rPr lang="de-DE" sz="1200"/>
              <a:t>? </a:t>
            </a:r>
            <a:r>
              <a:rPr lang="de-DE" sz="1200" err="1"/>
              <a:t>What</a:t>
            </a:r>
            <a:r>
              <a:rPr lang="de-DE" sz="1200"/>
              <a:t> </a:t>
            </a:r>
            <a:r>
              <a:rPr lang="de-DE" sz="1200" err="1"/>
              <a:t>did</a:t>
            </a:r>
            <a:r>
              <a:rPr lang="de-DE" sz="1200"/>
              <a:t> </a:t>
            </a:r>
            <a:r>
              <a:rPr lang="de-DE" sz="1200" err="1"/>
              <a:t>we</a:t>
            </a:r>
            <a:r>
              <a:rPr lang="de-DE" sz="1200"/>
              <a:t> </a:t>
            </a:r>
            <a:r>
              <a:rPr lang="de-DE" sz="1200" err="1"/>
              <a:t>hear</a:t>
            </a:r>
            <a:r>
              <a:rPr lang="de-DE" sz="1200"/>
              <a:t> </a:t>
            </a:r>
            <a:r>
              <a:rPr lang="de-DE" sz="1200" err="1"/>
              <a:t>consistently</a:t>
            </a:r>
            <a:r>
              <a:rPr lang="de-DE" sz="1200"/>
              <a:t> </a:t>
            </a:r>
            <a:r>
              <a:rPr lang="de-DE" sz="1200" err="1"/>
              <a:t>across</a:t>
            </a:r>
            <a:r>
              <a:rPr lang="de-DE" sz="1200"/>
              <a:t> </a:t>
            </a:r>
            <a:r>
              <a:rPr lang="de-DE" sz="1200" err="1"/>
              <a:t>interviews</a:t>
            </a:r>
            <a:r>
              <a:rPr lang="de-DE" sz="1200"/>
              <a:t>: </a:t>
            </a:r>
            <a:r>
              <a:rPr lang="de-DE" sz="1200" err="1"/>
              <a:t>shared</a:t>
            </a:r>
            <a:r>
              <a:rPr lang="de-DE" sz="1200"/>
              <a:t> </a:t>
            </a:r>
            <a:r>
              <a:rPr lang="de-DE" sz="1200" err="1"/>
              <a:t>pain</a:t>
            </a:r>
            <a:r>
              <a:rPr lang="de-DE" sz="1200"/>
              <a:t> </a:t>
            </a:r>
            <a:r>
              <a:rPr lang="de-DE" sz="1200" err="1"/>
              <a:t>points</a:t>
            </a:r>
            <a:r>
              <a:rPr lang="de-DE" sz="1200"/>
              <a:t>, </a:t>
            </a:r>
            <a:r>
              <a:rPr lang="de-DE" sz="1200" err="1"/>
              <a:t>wishes</a:t>
            </a:r>
            <a:r>
              <a:rPr lang="de-DE" sz="1200"/>
              <a:t>, and open </a:t>
            </a:r>
            <a:r>
              <a:rPr lang="de-DE" sz="1200" err="1"/>
              <a:t>questions</a:t>
            </a:r>
            <a:r>
              <a:rPr lang="de-DE" sz="1200"/>
              <a:t>? </a:t>
            </a:r>
            <a:r>
              <a:rPr lang="de-DE" sz="1200" err="1"/>
              <a:t>What</a:t>
            </a:r>
            <a:r>
              <a:rPr lang="de-DE" sz="1200"/>
              <a:t> </a:t>
            </a:r>
            <a:r>
              <a:rPr lang="de-DE" sz="1200" err="1"/>
              <a:t>should</a:t>
            </a:r>
            <a:r>
              <a:rPr lang="de-DE" sz="1200"/>
              <a:t> </a:t>
            </a:r>
            <a:r>
              <a:rPr lang="de-DE" sz="1200" err="1"/>
              <a:t>we</a:t>
            </a:r>
            <a:r>
              <a:rPr lang="de-DE" sz="1200"/>
              <a:t> park for </a:t>
            </a:r>
            <a:r>
              <a:rPr lang="de-DE" sz="1200" err="1"/>
              <a:t>now</a:t>
            </a:r>
            <a:r>
              <a:rPr lang="de-DE" sz="1200"/>
              <a:t>, and </a:t>
            </a:r>
            <a:r>
              <a:rPr lang="de-DE" sz="1200" err="1"/>
              <a:t>revisit</a:t>
            </a:r>
            <a:r>
              <a:rPr lang="de-DE" sz="1200"/>
              <a:t> </a:t>
            </a:r>
            <a:r>
              <a:rPr lang="de-DE" sz="1200" err="1"/>
              <a:t>later</a:t>
            </a:r>
            <a:r>
              <a:rPr lang="de-DE" sz="1200"/>
              <a:t>?</a:t>
            </a:r>
            <a:endParaRPr lang="en-GB" sz="1200" noProof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A725366-323F-8DF0-6F2C-37C3DA273F7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055688" y="512763"/>
            <a:ext cx="3240087" cy="1079500"/>
          </a:xfrm>
        </p:spPr>
        <p:txBody>
          <a:bodyPr/>
          <a:lstStyle/>
          <a:p>
            <a:r>
              <a:rPr lang="en-GB" noProof="0"/>
              <a:t>Today’s objectives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83EDF98-0D30-E47B-D1F0-E9FF9A74F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</p:spPr>
        <p:txBody>
          <a:bodyPr/>
          <a:lstStyle/>
          <a:p>
            <a:fld id="{8FF9B0DE-3FEB-4AA0-B465-B80EF7C1333D}" type="slidenum">
              <a:rPr lang="en-GB" noProof="0" smtClean="0"/>
              <a:pPr/>
              <a:t>3</a:t>
            </a:fld>
            <a:endParaRPr lang="en-GB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5ABCF40-2C0C-69E2-7848-FCEEAB4C3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055687" y="6453000"/>
            <a:ext cx="4968000" cy="144000"/>
          </a:xfrm>
        </p:spPr>
        <p:txBody>
          <a:bodyPr/>
          <a:lstStyle/>
          <a:p>
            <a:r>
              <a:rPr lang="en-GB" noProof="0"/>
              <a:t>Merck | AI Agent Repository Requirement Review</a:t>
            </a:r>
          </a:p>
        </p:txBody>
      </p:sp>
      <p:sp>
        <p:nvSpPr>
          <p:cNvPr id="9" name="Textplatzhalter 24">
            <a:extLst>
              <a:ext uri="{FF2B5EF4-FFF2-40B4-BE49-F238E27FC236}">
                <a16:creationId xmlns:a16="http://schemas.microsoft.com/office/drawing/2014/main" id="{A9FE093D-CB5A-03D0-E143-9FCF42FEFB3D}"/>
              </a:ext>
            </a:extLst>
          </p:cNvPr>
          <p:cNvSpPr txBox="1">
            <a:spLocks/>
          </p:cNvSpPr>
          <p:nvPr/>
        </p:nvSpPr>
        <p:spPr bwMode="gray">
          <a:xfrm>
            <a:off x="5051312" y="513478"/>
            <a:ext cx="3240000" cy="935526"/>
          </a:xfrm>
          <a:prstGeom prst="rect">
            <a:avLst/>
          </a:prstGeom>
        </p:spPr>
        <p:txBody>
          <a:bodyPr lIns="216000" tIns="216000" rIns="21600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5200" noProof="0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10" name="Textplatzhalter 24">
            <a:extLst>
              <a:ext uri="{FF2B5EF4-FFF2-40B4-BE49-F238E27FC236}">
                <a16:creationId xmlns:a16="http://schemas.microsoft.com/office/drawing/2014/main" id="{CA48DEE8-5EC7-1D28-0CA8-63515E47472C}"/>
              </a:ext>
            </a:extLst>
          </p:cNvPr>
          <p:cNvSpPr txBox="1">
            <a:spLocks/>
          </p:cNvSpPr>
          <p:nvPr/>
        </p:nvSpPr>
        <p:spPr bwMode="gray">
          <a:xfrm>
            <a:off x="8544088" y="513478"/>
            <a:ext cx="3240000" cy="935526"/>
          </a:xfrm>
          <a:prstGeom prst="rect">
            <a:avLst/>
          </a:prstGeom>
        </p:spPr>
        <p:txBody>
          <a:bodyPr lIns="216000" tIns="216000" rIns="21600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5200" noProof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12" name="Textplatzhalter 24">
            <a:extLst>
              <a:ext uri="{FF2B5EF4-FFF2-40B4-BE49-F238E27FC236}">
                <a16:creationId xmlns:a16="http://schemas.microsoft.com/office/drawing/2014/main" id="{9363A6E1-EDA0-AE23-D2D1-845A29894FFE}"/>
              </a:ext>
            </a:extLst>
          </p:cNvPr>
          <p:cNvSpPr txBox="1">
            <a:spLocks/>
          </p:cNvSpPr>
          <p:nvPr/>
        </p:nvSpPr>
        <p:spPr bwMode="gray">
          <a:xfrm>
            <a:off x="6672000" y="3466200"/>
            <a:ext cx="3240000" cy="935526"/>
          </a:xfrm>
          <a:prstGeom prst="rect">
            <a:avLst/>
          </a:prstGeom>
        </p:spPr>
        <p:txBody>
          <a:bodyPr lIns="216000" tIns="216000" rIns="21600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5200" noProof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AFF3EC83-A765-7777-6FB4-DB886C28D48F}"/>
              </a:ext>
            </a:extLst>
          </p:cNvPr>
          <p:cNvSpPr txBox="1">
            <a:spLocks/>
          </p:cNvSpPr>
          <p:nvPr/>
        </p:nvSpPr>
        <p:spPr bwMode="gray">
          <a:xfrm>
            <a:off x="1057027" y="2276871"/>
            <a:ext cx="3238748" cy="388739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Tx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2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/>
              <a:t>Over the </a:t>
            </a:r>
            <a:r>
              <a:rPr lang="de-DE" err="1"/>
              <a:t>past</a:t>
            </a:r>
            <a:r>
              <a:rPr lang="de-DE"/>
              <a:t> </a:t>
            </a:r>
            <a:r>
              <a:rPr lang="de-DE" err="1"/>
              <a:t>weeks</a:t>
            </a:r>
            <a:r>
              <a:rPr lang="de-DE"/>
              <a:t>, </a:t>
            </a:r>
            <a:r>
              <a:rPr lang="de-DE" err="1"/>
              <a:t>we</a:t>
            </a:r>
            <a:r>
              <a:rPr lang="de-DE"/>
              <a:t> ran </a:t>
            </a:r>
            <a:r>
              <a:rPr lang="de-DE" err="1"/>
              <a:t>structured</a:t>
            </a:r>
            <a:r>
              <a:rPr lang="de-DE"/>
              <a:t> </a:t>
            </a:r>
            <a:r>
              <a:rPr lang="de-DE" err="1"/>
              <a:t>interviews</a:t>
            </a:r>
            <a:r>
              <a:rPr lang="de-DE"/>
              <a:t> </a:t>
            </a:r>
            <a:r>
              <a:rPr lang="de-DE" err="1"/>
              <a:t>across</a:t>
            </a:r>
            <a:r>
              <a:rPr lang="de-DE"/>
              <a:t> </a:t>
            </a:r>
            <a:r>
              <a:rPr lang="de-DE" err="1"/>
              <a:t>sectors</a:t>
            </a:r>
            <a:r>
              <a:rPr lang="de-DE"/>
              <a:t> (Life Science, </a:t>
            </a:r>
            <a:r>
              <a:rPr lang="de-DE" err="1"/>
              <a:t>Healthcare</a:t>
            </a:r>
            <a:r>
              <a:rPr lang="de-DE"/>
              <a:t>, Electronics, </a:t>
            </a:r>
            <a:r>
              <a:rPr lang="de-DE" err="1"/>
              <a:t>Enabling</a:t>
            </a:r>
            <a:r>
              <a:rPr lang="de-DE"/>
              <a:t> </a:t>
            </a:r>
            <a:r>
              <a:rPr lang="de-DE" err="1"/>
              <a:t>Functions</a:t>
            </a:r>
            <a:r>
              <a:rPr lang="de-DE"/>
              <a:t>) and </a:t>
            </a:r>
            <a:r>
              <a:rPr lang="de-DE" err="1"/>
              <a:t>platform</a:t>
            </a:r>
            <a:r>
              <a:rPr lang="de-DE"/>
              <a:t> </a:t>
            </a:r>
            <a:r>
              <a:rPr lang="de-DE" err="1"/>
              <a:t>owners</a:t>
            </a:r>
            <a:r>
              <a:rPr lang="de-DE"/>
              <a:t> (UPTIMIZE, </a:t>
            </a:r>
            <a:r>
              <a:rPr lang="de-DE" err="1"/>
              <a:t>myGPT</a:t>
            </a:r>
            <a:r>
              <a:rPr lang="de-DE"/>
              <a:t>, Salesforce, SAP Joule, </a:t>
            </a:r>
            <a:r>
              <a:rPr lang="de-DE" err="1"/>
              <a:t>UiPath</a:t>
            </a:r>
            <a:r>
              <a:rPr lang="de-DE"/>
              <a:t>, MS Copilot). </a:t>
            </a:r>
            <a:r>
              <a:rPr lang="de-DE" err="1"/>
              <a:t>Several</a:t>
            </a:r>
            <a:r>
              <a:rPr lang="de-DE"/>
              <a:t> of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already</a:t>
            </a:r>
            <a:r>
              <a:rPr lang="de-DE"/>
              <a:t> </a:t>
            </a:r>
            <a:r>
              <a:rPr lang="de-DE" err="1"/>
              <a:t>contributed</a:t>
            </a:r>
            <a:r>
              <a:rPr lang="de-DE"/>
              <a:t> </a:t>
            </a:r>
            <a:r>
              <a:rPr lang="de-DE" err="1"/>
              <a:t>directly</a:t>
            </a:r>
            <a:r>
              <a:rPr lang="de-DE"/>
              <a:t>.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This </a:t>
            </a:r>
            <a:r>
              <a:rPr lang="de-DE" err="1"/>
              <a:t>workshop</a:t>
            </a:r>
            <a:r>
              <a:rPr lang="de-DE"/>
              <a:t> </a:t>
            </a:r>
            <a:r>
              <a:rPr lang="de-DE" err="1"/>
              <a:t>turns</a:t>
            </a:r>
            <a:r>
              <a:rPr lang="de-DE"/>
              <a:t> </a:t>
            </a:r>
            <a:r>
              <a:rPr lang="de-DE" err="1"/>
              <a:t>that</a:t>
            </a:r>
            <a:r>
              <a:rPr lang="de-DE"/>
              <a:t> </a:t>
            </a:r>
            <a:r>
              <a:rPr lang="de-DE" err="1"/>
              <a:t>input</a:t>
            </a:r>
            <a:r>
              <a:rPr lang="de-DE"/>
              <a:t> </a:t>
            </a:r>
            <a:r>
              <a:rPr lang="de-DE" err="1"/>
              <a:t>into</a:t>
            </a:r>
            <a:r>
              <a:rPr lang="de-DE"/>
              <a:t> </a:t>
            </a:r>
            <a:r>
              <a:rPr lang="de-DE" err="1"/>
              <a:t>aligned</a:t>
            </a:r>
            <a:r>
              <a:rPr lang="de-DE"/>
              <a:t> </a:t>
            </a:r>
            <a:r>
              <a:rPr lang="de-DE" err="1"/>
              <a:t>requirements</a:t>
            </a:r>
            <a:r>
              <a:rPr lang="de-DE"/>
              <a:t> and a </a:t>
            </a:r>
            <a:r>
              <a:rPr lang="de-DE" err="1"/>
              <a:t>concrete</a:t>
            </a:r>
            <a:r>
              <a:rPr lang="de-DE"/>
              <a:t> MVP </a:t>
            </a:r>
            <a:r>
              <a:rPr lang="de-DE" err="1"/>
              <a:t>scope</a:t>
            </a:r>
            <a:r>
              <a:rPr lang="de-DE"/>
              <a:t>.</a:t>
            </a:r>
          </a:p>
          <a:p>
            <a:pPr lvl="5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53251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93614A1C-1983-E543-CE6E-DDAA5AC3242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055687" y="512676"/>
            <a:ext cx="10728000" cy="1080000"/>
          </a:xfrm>
        </p:spPr>
        <p:txBody>
          <a:bodyPr/>
          <a:lstStyle/>
          <a:p>
            <a:r>
              <a:rPr lang="en-GB"/>
              <a:t>Project Scope at a glance</a:t>
            </a:r>
            <a:endParaRPr lang="en-GB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B6FF8F-23C1-8B2B-2FBE-8147D7BD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</p:spPr>
        <p:txBody>
          <a:bodyPr/>
          <a:lstStyle/>
          <a:p>
            <a:fld id="{8FF9B0DE-3FEB-4AA0-B465-B80EF7C1333D}" type="slidenum">
              <a:rPr lang="en-GB" noProof="0" smtClean="0"/>
              <a:pPr/>
              <a:t>4</a:t>
            </a:fld>
            <a:endParaRPr lang="en-GB" noProof="0"/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8E7B2B5E-9758-79E7-D5A7-A9120E4988CD}"/>
              </a:ext>
            </a:extLst>
          </p:cNvPr>
          <p:cNvSpPr txBox="1">
            <a:spLocks/>
          </p:cNvSpPr>
          <p:nvPr/>
        </p:nvSpPr>
        <p:spPr bwMode="gray">
          <a:xfrm>
            <a:off x="1056000" y="1448780"/>
            <a:ext cx="5111438" cy="50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Tx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2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GB" noProof="0"/>
              <a:t>Phase 1 - Design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C8EC59A7-0B16-1A19-8513-8FEF541602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6328905" y="1556780"/>
            <a:ext cx="181692" cy="288000"/>
          </a:xfrm>
          <a:prstGeom prst="rect">
            <a:avLst/>
          </a:prstGeom>
        </p:spPr>
      </p:pic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E5CA9D67-75D7-02FE-5B77-E05289B0D04A}"/>
              </a:ext>
            </a:extLst>
          </p:cNvPr>
          <p:cNvSpPr txBox="1">
            <a:spLocks/>
          </p:cNvSpPr>
          <p:nvPr/>
        </p:nvSpPr>
        <p:spPr bwMode="gray">
          <a:xfrm>
            <a:off x="6672064" y="1448780"/>
            <a:ext cx="5111438" cy="50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Tx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2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GB" noProof="0"/>
              <a:t>Phase 2 - Build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0C884BBB-BEF2-6C3A-2D50-1964B7D89882}"/>
              </a:ext>
            </a:extLst>
          </p:cNvPr>
          <p:cNvCxnSpPr>
            <a:cxnSpLocks/>
          </p:cNvCxnSpPr>
          <p:nvPr/>
        </p:nvCxnSpPr>
        <p:spPr bwMode="gray">
          <a:xfrm>
            <a:off x="1055688" y="1952836"/>
            <a:ext cx="5111750" cy="0"/>
          </a:xfrm>
          <a:prstGeom prst="line">
            <a:avLst/>
          </a:prstGeom>
          <a:ln w="12700">
            <a:solidFill>
              <a:schemeClr val="tx2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58D8E155-B611-560B-56AD-F39B3E64F46B}"/>
              </a:ext>
            </a:extLst>
          </p:cNvPr>
          <p:cNvCxnSpPr>
            <a:cxnSpLocks/>
          </p:cNvCxnSpPr>
          <p:nvPr/>
        </p:nvCxnSpPr>
        <p:spPr bwMode="gray">
          <a:xfrm>
            <a:off x="6672064" y="1952836"/>
            <a:ext cx="5111750" cy="0"/>
          </a:xfrm>
          <a:prstGeom prst="line">
            <a:avLst/>
          </a:prstGeom>
          <a:ln w="12700">
            <a:solidFill>
              <a:schemeClr val="tx2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30B7E82C-9ADD-3A88-8A9A-813D63D9FFE0}"/>
              </a:ext>
            </a:extLst>
          </p:cNvPr>
          <p:cNvSpPr/>
          <p:nvPr/>
        </p:nvSpPr>
        <p:spPr>
          <a:xfrm>
            <a:off x="1055687" y="2114815"/>
            <a:ext cx="4968552" cy="3744416"/>
          </a:xfrm>
          <a:prstGeom prst="round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216000" tIns="216000" rIns="216000" bIns="216000" rtlCol="0" anchor="ctr" anchorCtr="0">
            <a:noAutofit/>
          </a:bodyPr>
          <a:lstStyle/>
          <a:p>
            <a:pPr marL="180000" indent="-180000">
              <a:buFont typeface="Fira Sans" panose="020B0503050000020004" pitchFamily="34" charset="0"/>
              <a:buChar char="&gt;"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1C1A82BB-C432-C289-5911-CBD2E558BB8B}"/>
              </a:ext>
            </a:extLst>
          </p:cNvPr>
          <p:cNvSpPr/>
          <p:nvPr/>
        </p:nvSpPr>
        <p:spPr>
          <a:xfrm>
            <a:off x="6702778" y="2114815"/>
            <a:ext cx="4968552" cy="3744416"/>
          </a:xfrm>
          <a:prstGeom prst="roundRect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216000" tIns="216000" rIns="216000" bIns="216000" rtlCol="0" anchor="ctr" anchorCtr="0">
            <a:noAutofit/>
          </a:bodyPr>
          <a:lstStyle/>
          <a:p>
            <a:pPr marL="180000" indent="-180000">
              <a:buFont typeface="Fira Sans" panose="020B0503050000020004" pitchFamily="34" charset="0"/>
              <a:buChar char="&gt;"/>
            </a:pPr>
            <a:endParaRPr lang="en-US"/>
          </a:p>
        </p:txBody>
      </p:sp>
      <p:sp>
        <p:nvSpPr>
          <p:cNvPr id="25" name="Textplatzhalter 8">
            <a:extLst>
              <a:ext uri="{FF2B5EF4-FFF2-40B4-BE49-F238E27FC236}">
                <a16:creationId xmlns:a16="http://schemas.microsoft.com/office/drawing/2014/main" id="{386D6EAA-7847-49AD-7B87-B3C0E4EBC54C}"/>
              </a:ext>
            </a:extLst>
          </p:cNvPr>
          <p:cNvSpPr txBox="1">
            <a:spLocks/>
          </p:cNvSpPr>
          <p:nvPr/>
        </p:nvSpPr>
        <p:spPr bwMode="gray">
          <a:xfrm>
            <a:off x="1307439" y="2384649"/>
            <a:ext cx="4464496" cy="2322233"/>
          </a:xfrm>
          <a:prstGeom prst="roundRect">
            <a:avLst>
              <a:gd name="adj" fmla="val 13229"/>
            </a:avLst>
          </a:prstGeom>
          <a:noFill/>
        </p:spPr>
        <p:txBody>
          <a:bodyPr vert="horz" wrap="square" lIns="0" tIns="216000" rIns="216000" bIns="216000" rtlCol="0" anchor="ctr" anchorCtr="0">
            <a:no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Tx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2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5" indent="-342900">
              <a:buAutoNum type="arabicPeriod"/>
            </a:pPr>
            <a:r>
              <a:rPr lang="en-GB" noProof="0">
                <a:solidFill>
                  <a:schemeClr val="bg1"/>
                </a:solidFill>
              </a:rPr>
              <a:t>Collect requirements across AI agents, governance, products and architecture </a:t>
            </a:r>
          </a:p>
          <a:p>
            <a:pPr marL="342900" lvl="5" indent="-342900">
              <a:buAutoNum type="arabicPeriod"/>
            </a:pPr>
            <a:r>
              <a:rPr lang="en-GB">
                <a:solidFill>
                  <a:schemeClr val="bg1"/>
                </a:solidFill>
              </a:rPr>
              <a:t>Facilitate “value of agent” discussion to align repository scope</a:t>
            </a:r>
          </a:p>
          <a:p>
            <a:pPr marL="342900" lvl="5" indent="-342900">
              <a:buAutoNum type="arabicPeriod"/>
            </a:pPr>
            <a:r>
              <a:rPr lang="en-GB" noProof="0">
                <a:solidFill>
                  <a:schemeClr val="bg1"/>
                </a:solidFill>
              </a:rPr>
              <a:t>Access feasibility and integration requirements for key platforms</a:t>
            </a:r>
            <a:endParaRPr lang="en-GB">
              <a:solidFill>
                <a:schemeClr val="bg1"/>
              </a:solidFill>
            </a:endParaRPr>
          </a:p>
          <a:p>
            <a:pPr marL="342900" lvl="5" indent="-342900">
              <a:buAutoNum type="arabicPeriod"/>
            </a:pPr>
            <a:r>
              <a:rPr lang="en-GB" noProof="0">
                <a:solidFill>
                  <a:schemeClr val="bg1"/>
                </a:solidFill>
              </a:rPr>
              <a:t>Design data model (extension) and target architecture </a:t>
            </a:r>
          </a:p>
        </p:txBody>
      </p:sp>
      <p:sp>
        <p:nvSpPr>
          <p:cNvPr id="6" name="Textplatzhalter 8">
            <a:extLst>
              <a:ext uri="{FF2B5EF4-FFF2-40B4-BE49-F238E27FC236}">
                <a16:creationId xmlns:a16="http://schemas.microsoft.com/office/drawing/2014/main" id="{2F690A2A-ADF7-060D-3248-5657E88555E4}"/>
              </a:ext>
            </a:extLst>
          </p:cNvPr>
          <p:cNvSpPr txBox="1">
            <a:spLocks/>
          </p:cNvSpPr>
          <p:nvPr/>
        </p:nvSpPr>
        <p:spPr bwMode="gray">
          <a:xfrm>
            <a:off x="1307439" y="4592483"/>
            <a:ext cx="4464496" cy="873453"/>
          </a:xfrm>
          <a:prstGeom prst="roundRect">
            <a:avLst>
              <a:gd name="adj" fmla="val 13229"/>
            </a:avLst>
          </a:prstGeom>
          <a:noFill/>
        </p:spPr>
        <p:txBody>
          <a:bodyPr vert="horz" wrap="square" lIns="0" tIns="216000" rIns="216000" bIns="216000" rtlCol="0" anchor="ctr" anchorCtr="0">
            <a:no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Tx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2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5"/>
            <a:r>
              <a:rPr lang="en-GB" b="1" noProof="0">
                <a:solidFill>
                  <a:schemeClr val="bg1"/>
                </a:solidFill>
              </a:rPr>
              <a:t>&gt; Requirements, scope (MVP) and clear concept with refined click-dummy / </a:t>
            </a:r>
            <a:r>
              <a:rPr lang="en-GB" b="1" noProof="0" err="1">
                <a:solidFill>
                  <a:schemeClr val="bg1"/>
                </a:solidFill>
              </a:rPr>
              <a:t>demov</a:t>
            </a:r>
            <a:endParaRPr lang="en-GB" b="1" noProof="0">
              <a:solidFill>
                <a:schemeClr val="bg1"/>
              </a:solidFill>
            </a:endParaRP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C81B5D17-614A-BECB-2BAF-5D167BCF6634}"/>
              </a:ext>
            </a:extLst>
          </p:cNvPr>
          <p:cNvSpPr txBox="1">
            <a:spLocks/>
          </p:cNvSpPr>
          <p:nvPr/>
        </p:nvSpPr>
        <p:spPr bwMode="gray">
          <a:xfrm>
            <a:off x="6954806" y="2339818"/>
            <a:ext cx="4464496" cy="2322233"/>
          </a:xfrm>
          <a:prstGeom prst="roundRect">
            <a:avLst>
              <a:gd name="adj" fmla="val 13229"/>
            </a:avLst>
          </a:prstGeom>
          <a:noFill/>
        </p:spPr>
        <p:txBody>
          <a:bodyPr vert="horz" wrap="square" lIns="0" tIns="216000" rIns="216000" bIns="216000" rtlCol="0" anchor="ctr" anchorCtr="0">
            <a:no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Tx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2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5" indent="-342900">
              <a:buAutoNum type="arabicPeriod"/>
            </a:pPr>
            <a:r>
              <a:rPr lang="en-GB" noProof="0">
                <a:solidFill>
                  <a:schemeClr val="bg1"/>
                </a:solidFill>
              </a:rPr>
              <a:t>Implementation of AI Agent Repository based on signed-off architecture (into data marketplace)</a:t>
            </a:r>
          </a:p>
          <a:p>
            <a:pPr marL="342900" lvl="5" indent="-342900">
              <a:buAutoNum type="arabicPeriod"/>
            </a:pPr>
            <a:r>
              <a:rPr lang="en-GB">
                <a:solidFill>
                  <a:schemeClr val="bg1"/>
                </a:solidFill>
              </a:rPr>
              <a:t>Build integration to defined platforms</a:t>
            </a:r>
          </a:p>
          <a:p>
            <a:pPr marL="342900" lvl="5" indent="-342900">
              <a:buAutoNum type="arabicPeriod"/>
            </a:pPr>
            <a:r>
              <a:rPr lang="en-GB">
                <a:solidFill>
                  <a:schemeClr val="bg1"/>
                </a:solidFill>
              </a:rPr>
              <a:t>Central dashboard for monitoring and managing agent inventory</a:t>
            </a:r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0A4A2C52-877F-C09E-E087-D2A4441851DC}"/>
              </a:ext>
            </a:extLst>
          </p:cNvPr>
          <p:cNvSpPr txBox="1">
            <a:spLocks/>
          </p:cNvSpPr>
          <p:nvPr/>
        </p:nvSpPr>
        <p:spPr bwMode="gray">
          <a:xfrm>
            <a:off x="6995535" y="4579971"/>
            <a:ext cx="4464496" cy="873453"/>
          </a:xfrm>
          <a:prstGeom prst="roundRect">
            <a:avLst>
              <a:gd name="adj" fmla="val 13229"/>
            </a:avLst>
          </a:prstGeom>
          <a:noFill/>
        </p:spPr>
        <p:txBody>
          <a:bodyPr vert="horz" wrap="square" lIns="0" tIns="216000" rIns="216000" bIns="216000" rtlCol="0" anchor="ctr" anchorCtr="0">
            <a:no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Tx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2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5"/>
            <a:r>
              <a:rPr lang="en-GB" b="1" noProof="0">
                <a:solidFill>
                  <a:schemeClr val="bg1"/>
                </a:solidFill>
              </a:rPr>
              <a:t>&gt; Production-ready AI Agent Repository with live platform integration and central dashboarding </a:t>
            </a:r>
          </a:p>
        </p:txBody>
      </p:sp>
      <p:sp>
        <p:nvSpPr>
          <p:cNvPr id="16" name="Abgerundete rechteckige Legende 15">
            <a:extLst>
              <a:ext uri="{FF2B5EF4-FFF2-40B4-BE49-F238E27FC236}">
                <a16:creationId xmlns:a16="http://schemas.microsoft.com/office/drawing/2014/main" id="{55734296-4B85-7691-5C90-DEB29858FA63}"/>
              </a:ext>
            </a:extLst>
          </p:cNvPr>
          <p:cNvSpPr/>
          <p:nvPr/>
        </p:nvSpPr>
        <p:spPr>
          <a:xfrm>
            <a:off x="152190" y="1941962"/>
            <a:ext cx="1114520" cy="723935"/>
          </a:xfrm>
          <a:prstGeom prst="wedgeRoundRectCallout">
            <a:avLst>
              <a:gd name="adj1" fmla="val 53665"/>
              <a:gd name="adj2" fmla="val 90199"/>
              <a:gd name="adj3" fmla="val 16667"/>
            </a:avLst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r>
              <a:rPr lang="en-US" sz="1200" i="1">
                <a:solidFill>
                  <a:schemeClr val="bg1"/>
                </a:solidFill>
              </a:rPr>
              <a:t>We are here</a:t>
            </a:r>
          </a:p>
        </p:txBody>
      </p:sp>
      <p:sp>
        <p:nvSpPr>
          <p:cNvPr id="29" name="Fußzeilenplatzhalter 6">
            <a:extLst>
              <a:ext uri="{FF2B5EF4-FFF2-40B4-BE49-F238E27FC236}">
                <a16:creationId xmlns:a16="http://schemas.microsoft.com/office/drawing/2014/main" id="{3B947A69-5C70-69FC-082B-9FC9A7B30AB6}"/>
              </a:ext>
            </a:extLst>
          </p:cNvPr>
          <p:cNvSpPr txBox="1">
            <a:spLocks/>
          </p:cNvSpPr>
          <p:nvPr/>
        </p:nvSpPr>
        <p:spPr bwMode="gray">
          <a:xfrm>
            <a:off x="1055687" y="6453000"/>
            <a:ext cx="496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9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9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Merck | AI Agent Repository Requirement Review</a:t>
            </a:r>
          </a:p>
        </p:txBody>
      </p:sp>
    </p:spTree>
    <p:extLst>
      <p:ext uri="{BB962C8B-B14F-4D97-AF65-F5344CB8AC3E}">
        <p14:creationId xmlns:p14="http://schemas.microsoft.com/office/powerpoint/2010/main" val="83930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29">
            <a:extLst>
              <a:ext uri="{FF2B5EF4-FFF2-40B4-BE49-F238E27FC236}">
                <a16:creationId xmlns:a16="http://schemas.microsoft.com/office/drawing/2014/main" id="{507DA3F0-4298-11DC-552F-1DF240F436D4}"/>
              </a:ext>
            </a:extLst>
          </p:cNvPr>
          <p:cNvSpPr/>
          <p:nvPr/>
        </p:nvSpPr>
        <p:spPr>
          <a:xfrm>
            <a:off x="3445297" y="1556200"/>
            <a:ext cx="3453890" cy="3429556"/>
          </a:xfrm>
          <a:prstGeom prst="ellipse">
            <a:avLst/>
          </a:prstGeom>
          <a:solidFill>
            <a:srgbClr val="002060">
              <a:alpha val="23137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A96EC8-95D9-2861-32F0-27FEC60329FC}"/>
              </a:ext>
            </a:extLst>
          </p:cNvPr>
          <p:cNvSpPr/>
          <p:nvPr/>
        </p:nvSpPr>
        <p:spPr>
          <a:xfrm>
            <a:off x="6953175" y="29247"/>
            <a:ext cx="4949882" cy="3429556"/>
          </a:xfrm>
          <a:prstGeom prst="ellipse">
            <a:avLst/>
          </a:prstGeom>
          <a:solidFill>
            <a:srgbClr val="00B0F0">
              <a:alpha val="23137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2223499-8299-FCEE-8ED6-800CEAAE2511}"/>
              </a:ext>
            </a:extLst>
          </p:cNvPr>
          <p:cNvSpPr/>
          <p:nvPr/>
        </p:nvSpPr>
        <p:spPr>
          <a:xfrm>
            <a:off x="6419687" y="3531574"/>
            <a:ext cx="5220139" cy="3143761"/>
          </a:xfrm>
          <a:prstGeom prst="ellipse">
            <a:avLst/>
          </a:prstGeom>
          <a:solidFill>
            <a:srgbClr val="0070C0">
              <a:alpha val="23137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EDB42B8-5A74-7FE5-F22B-52B20C5FE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7" y="444278"/>
            <a:ext cx="10728000" cy="1080000"/>
          </a:xfrm>
        </p:spPr>
        <p:txBody>
          <a:bodyPr/>
          <a:lstStyle/>
          <a:p>
            <a:r>
              <a:rPr lang="de-DE"/>
              <a:t>Interview Summary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6EB901-B837-FF0B-ECFB-7680931D018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08000" y="6453000"/>
            <a:ext cx="360000" cy="144000"/>
          </a:xfrm>
        </p:spPr>
        <p:txBody>
          <a:bodyPr/>
          <a:lstStyle/>
          <a:p>
            <a:fld id="{8FF9B0DE-3FEB-4AA0-B465-B80EF7C1333D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97450D1-673B-ADEC-10B0-76D3B731451C}"/>
              </a:ext>
            </a:extLst>
          </p:cNvPr>
          <p:cNvSpPr/>
          <p:nvPr/>
        </p:nvSpPr>
        <p:spPr>
          <a:xfrm>
            <a:off x="391880" y="1794563"/>
            <a:ext cx="1826151" cy="1694568"/>
          </a:xfrm>
          <a:prstGeom prst="ellipse">
            <a:avLst/>
          </a:prstGeom>
          <a:solidFill>
            <a:srgbClr val="A9F1DD">
              <a:alpha val="81961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800" b="1">
                <a:solidFill>
                  <a:schemeClr val="tx2"/>
                </a:solidFill>
              </a:rPr>
              <a:t>12 Interviews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F82DC2F-95DE-A973-9EA7-78AA00D0AF39}"/>
              </a:ext>
            </a:extLst>
          </p:cNvPr>
          <p:cNvSpPr/>
          <p:nvPr/>
        </p:nvSpPr>
        <p:spPr>
          <a:xfrm>
            <a:off x="1242614" y="3613477"/>
            <a:ext cx="1826151" cy="1694568"/>
          </a:xfrm>
          <a:prstGeom prst="ellipse">
            <a:avLst/>
          </a:prstGeom>
          <a:solidFill>
            <a:srgbClr val="A9F1DD">
              <a:alpha val="81961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800" b="1">
                <a:solidFill>
                  <a:schemeClr val="tx2"/>
                </a:solidFill>
              </a:rPr>
              <a:t>29 </a:t>
            </a:r>
          </a:p>
          <a:p>
            <a:pPr algn="ctr">
              <a:buClr>
                <a:schemeClr val="bg1"/>
              </a:buClr>
            </a:pPr>
            <a:r>
              <a:rPr lang="en-US" sz="1800" b="1">
                <a:solidFill>
                  <a:schemeClr val="tx2"/>
                </a:solidFill>
              </a:rPr>
              <a:t>Stake-holders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34DE37D-858E-7B09-35CE-2566EF58E704}"/>
              </a:ext>
            </a:extLst>
          </p:cNvPr>
          <p:cNvSpPr/>
          <p:nvPr/>
        </p:nvSpPr>
        <p:spPr>
          <a:xfrm>
            <a:off x="3703322" y="2375211"/>
            <a:ext cx="1359486" cy="1260260"/>
          </a:xfrm>
          <a:prstGeom prst="ellipse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200">
                <a:solidFill>
                  <a:schemeClr val="bg1"/>
                </a:solidFill>
              </a:rPr>
              <a:t>UPTIMIZE Foundry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F0C8CC-9773-C57E-55EA-BBBD5A02481F}"/>
              </a:ext>
            </a:extLst>
          </p:cNvPr>
          <p:cNvSpPr/>
          <p:nvPr/>
        </p:nvSpPr>
        <p:spPr>
          <a:xfrm>
            <a:off x="5238961" y="2446521"/>
            <a:ext cx="1359486" cy="1260260"/>
          </a:xfrm>
          <a:prstGeom prst="ellipse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200">
                <a:solidFill>
                  <a:schemeClr val="bg1"/>
                </a:solidFill>
              </a:rPr>
              <a:t>UPTIMIZE Agents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B72056E-6398-A9E9-C657-DA2C931EF1C6}"/>
              </a:ext>
            </a:extLst>
          </p:cNvPr>
          <p:cNvSpPr/>
          <p:nvPr/>
        </p:nvSpPr>
        <p:spPr>
          <a:xfrm>
            <a:off x="4428399" y="3588310"/>
            <a:ext cx="1359486" cy="1260260"/>
          </a:xfrm>
          <a:prstGeom prst="ellipse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200" err="1">
                <a:solidFill>
                  <a:schemeClr val="bg1"/>
                </a:solidFill>
              </a:rPr>
              <a:t>myGPT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021841-6ED3-F774-EF63-EF04E4A9FBD7}"/>
              </a:ext>
            </a:extLst>
          </p:cNvPr>
          <p:cNvSpPr/>
          <p:nvPr/>
        </p:nvSpPr>
        <p:spPr>
          <a:xfrm>
            <a:off x="6638920" y="4407923"/>
            <a:ext cx="1359486" cy="1260260"/>
          </a:xfrm>
          <a:prstGeom prst="ellipse">
            <a:avLst/>
          </a:prstGeom>
          <a:solidFill>
            <a:srgbClr val="006EC7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200">
                <a:solidFill>
                  <a:schemeClr val="bg1"/>
                </a:solidFill>
              </a:rPr>
              <a:t>SAP Joule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7C2192E-B1A2-3CC0-E2D4-3F59FF4545ED}"/>
              </a:ext>
            </a:extLst>
          </p:cNvPr>
          <p:cNvSpPr/>
          <p:nvPr/>
        </p:nvSpPr>
        <p:spPr>
          <a:xfrm>
            <a:off x="8226210" y="1812035"/>
            <a:ext cx="1359486" cy="1260260"/>
          </a:xfrm>
          <a:prstGeom prst="ellipse">
            <a:avLst/>
          </a:prstGeom>
          <a:solidFill>
            <a:srgbClr val="00B0F0">
              <a:alpha val="62353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200">
                <a:solidFill>
                  <a:schemeClr val="bg1"/>
                </a:solidFill>
              </a:rPr>
              <a:t>Life Science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EAEFBC-4B05-8C93-8701-D1942636063B}"/>
              </a:ext>
            </a:extLst>
          </p:cNvPr>
          <p:cNvSpPr/>
          <p:nvPr/>
        </p:nvSpPr>
        <p:spPr>
          <a:xfrm>
            <a:off x="9096600" y="737860"/>
            <a:ext cx="1359486" cy="1260260"/>
          </a:xfrm>
          <a:prstGeom prst="ellipse">
            <a:avLst/>
          </a:prstGeom>
          <a:solidFill>
            <a:srgbClr val="00B0F0">
              <a:alpha val="62353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200">
                <a:solidFill>
                  <a:schemeClr val="bg1"/>
                </a:solidFill>
              </a:rPr>
              <a:t>Electronics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CBFBA5C-E689-929D-9A7F-7501799134A0}"/>
              </a:ext>
            </a:extLst>
          </p:cNvPr>
          <p:cNvSpPr/>
          <p:nvPr/>
        </p:nvSpPr>
        <p:spPr>
          <a:xfrm>
            <a:off x="9913020" y="1816554"/>
            <a:ext cx="1359486" cy="1260260"/>
          </a:xfrm>
          <a:prstGeom prst="ellipse">
            <a:avLst/>
          </a:prstGeom>
          <a:solidFill>
            <a:srgbClr val="00B0F0">
              <a:alpha val="62353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200">
                <a:solidFill>
                  <a:schemeClr val="bg1"/>
                </a:solidFill>
              </a:rPr>
              <a:t>Enabling Functions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CEDAC55-C9DC-4546-E867-E5BB1675E5CB}"/>
              </a:ext>
            </a:extLst>
          </p:cNvPr>
          <p:cNvSpPr/>
          <p:nvPr/>
        </p:nvSpPr>
        <p:spPr>
          <a:xfrm>
            <a:off x="7318150" y="779683"/>
            <a:ext cx="1359486" cy="1260260"/>
          </a:xfrm>
          <a:prstGeom prst="ellipse">
            <a:avLst/>
          </a:prstGeom>
          <a:solidFill>
            <a:srgbClr val="00B0F0">
              <a:alpha val="62353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200">
                <a:solidFill>
                  <a:schemeClr val="bg1"/>
                </a:solidFill>
              </a:rPr>
              <a:t>Healthcare (HIVE)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D1EE1F7-EB37-06CA-E7EC-FAE34A167A13}"/>
              </a:ext>
            </a:extLst>
          </p:cNvPr>
          <p:cNvSpPr/>
          <p:nvPr/>
        </p:nvSpPr>
        <p:spPr>
          <a:xfrm>
            <a:off x="7885114" y="5255802"/>
            <a:ext cx="1359486" cy="1260260"/>
          </a:xfrm>
          <a:prstGeom prst="ellipse">
            <a:avLst/>
          </a:prstGeom>
          <a:solidFill>
            <a:srgbClr val="006EC7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200">
                <a:solidFill>
                  <a:schemeClr val="bg1"/>
                </a:solidFill>
              </a:rPr>
              <a:t>Salesforce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28434A2-500A-958D-73BF-39C35347CBFD}"/>
              </a:ext>
            </a:extLst>
          </p:cNvPr>
          <p:cNvSpPr/>
          <p:nvPr/>
        </p:nvSpPr>
        <p:spPr>
          <a:xfrm>
            <a:off x="9166391" y="4539096"/>
            <a:ext cx="1359486" cy="1260260"/>
          </a:xfrm>
          <a:prstGeom prst="ellipse">
            <a:avLst/>
          </a:prstGeom>
          <a:solidFill>
            <a:srgbClr val="006EC7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200">
                <a:solidFill>
                  <a:schemeClr val="bg1"/>
                </a:solidFill>
              </a:rPr>
              <a:t>UI Path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57B54B9-46F2-81C9-160A-9CE9BA302F58}"/>
              </a:ext>
            </a:extLst>
          </p:cNvPr>
          <p:cNvSpPr/>
          <p:nvPr/>
        </p:nvSpPr>
        <p:spPr>
          <a:xfrm>
            <a:off x="7912513" y="3849999"/>
            <a:ext cx="1359486" cy="1260260"/>
          </a:xfrm>
          <a:prstGeom prst="ellipse">
            <a:avLst/>
          </a:prstGeom>
          <a:solidFill>
            <a:srgbClr val="006EC7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200">
                <a:solidFill>
                  <a:schemeClr val="bg1"/>
                </a:solidFill>
              </a:rPr>
              <a:t>MS Copilot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D6E010EB-753A-B129-6EB9-360D8BDE06C3}"/>
              </a:ext>
            </a:extLst>
          </p:cNvPr>
          <p:cNvSpPr txBox="1"/>
          <p:nvPr/>
        </p:nvSpPr>
        <p:spPr>
          <a:xfrm>
            <a:off x="4460526" y="1880730"/>
            <a:ext cx="1487566" cy="5586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02060"/>
                </a:solidFill>
              </a:rPr>
              <a:t>Agentic AI @UPTIMIZE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FA778C6-2864-F8DE-787A-FF1BEA6B954D}"/>
              </a:ext>
            </a:extLst>
          </p:cNvPr>
          <p:cNvSpPr txBox="1"/>
          <p:nvPr/>
        </p:nvSpPr>
        <p:spPr>
          <a:xfrm>
            <a:off x="8049208" y="352509"/>
            <a:ext cx="1487566" cy="28661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0B0F0"/>
                </a:solidFill>
              </a:rPr>
              <a:t>Business Areas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31FDEFA-1D9A-89A0-E15E-2372ED559055}"/>
              </a:ext>
            </a:extLst>
          </p:cNvPr>
          <p:cNvSpPr txBox="1"/>
          <p:nvPr/>
        </p:nvSpPr>
        <p:spPr>
          <a:xfrm>
            <a:off x="9244600" y="4017373"/>
            <a:ext cx="1487566" cy="28661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chemeClr val="tx2"/>
                </a:solidFill>
              </a:rPr>
              <a:t>Platforms / SaaS</a:t>
            </a:r>
          </a:p>
        </p:txBody>
      </p:sp>
      <p:sp>
        <p:nvSpPr>
          <p:cNvPr id="34" name="Fußzeilenplatzhalter 6">
            <a:extLst>
              <a:ext uri="{FF2B5EF4-FFF2-40B4-BE49-F238E27FC236}">
                <a16:creationId xmlns:a16="http://schemas.microsoft.com/office/drawing/2014/main" id="{56A6DA96-3163-45E0-852E-392B3BC94D12}"/>
              </a:ext>
            </a:extLst>
          </p:cNvPr>
          <p:cNvSpPr txBox="1">
            <a:spLocks/>
          </p:cNvSpPr>
          <p:nvPr/>
        </p:nvSpPr>
        <p:spPr bwMode="gray">
          <a:xfrm>
            <a:off x="1055687" y="6453000"/>
            <a:ext cx="496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9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9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Merck | AI Agent Repository Requirement Review</a:t>
            </a:r>
          </a:p>
        </p:txBody>
      </p:sp>
    </p:spTree>
    <p:extLst>
      <p:ext uri="{BB962C8B-B14F-4D97-AF65-F5344CB8AC3E}">
        <p14:creationId xmlns:p14="http://schemas.microsoft.com/office/powerpoint/2010/main" val="307986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B1CDF64-38E3-76B5-8EEA-5654CAF19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4A72760-E1AD-7990-B203-66DE6B6D6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Interview Summary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BC6979-9F34-721D-B5E4-E9CEF63989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08000" y="6453000"/>
            <a:ext cx="360000" cy="144000"/>
          </a:xfrm>
        </p:spPr>
        <p:txBody>
          <a:bodyPr/>
          <a:lstStyle/>
          <a:p>
            <a:fld id="{8FF9B0DE-3FEB-4AA0-B465-B80EF7C1333D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26EAA8-3319-891E-EB42-E995E418E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55687" y="6453000"/>
            <a:ext cx="4968000" cy="144000"/>
          </a:xfrm>
        </p:spPr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6376104-74E8-903B-B570-AF7612E0458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492124" y="6453000"/>
            <a:ext cx="720000" cy="144000"/>
          </a:xfrm>
        </p:spPr>
        <p:txBody>
          <a:bodyPr/>
          <a:lstStyle/>
          <a:p>
            <a:fld id="{91DC8993-8D2E-4DE0-9E9C-34605DBD02AA}" type="datetime1">
              <a:rPr lang="en-GB" smtClean="0"/>
              <a:pPr/>
              <a:t>07/10/2026</a:t>
            </a:fld>
            <a:endParaRPr lang="en-GB"/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89D8A76D-ABCB-DA45-C488-FDED68A2E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037189"/>
              </p:ext>
            </p:extLst>
          </p:nvPr>
        </p:nvGraphicFramePr>
        <p:xfrm>
          <a:off x="983432" y="1340768"/>
          <a:ext cx="9343606" cy="4428072"/>
        </p:xfrm>
        <a:graphic>
          <a:graphicData uri="http://schemas.openxmlformats.org/drawingml/2006/table">
            <a:tbl>
              <a:tblPr>
                <a:tableStyleId>{B45C9562-1D88-4959-98E0-DF01EE10AB55}</a:tableStyleId>
              </a:tblPr>
              <a:tblGrid>
                <a:gridCol w="993992">
                  <a:extLst>
                    <a:ext uri="{9D8B030D-6E8A-4147-A177-3AD203B41FA5}">
                      <a16:colId xmlns:a16="http://schemas.microsoft.com/office/drawing/2014/main" val="241607839"/>
                    </a:ext>
                  </a:extLst>
                </a:gridCol>
                <a:gridCol w="4174807">
                  <a:extLst>
                    <a:ext uri="{9D8B030D-6E8A-4147-A177-3AD203B41FA5}">
                      <a16:colId xmlns:a16="http://schemas.microsoft.com/office/drawing/2014/main" val="4056364250"/>
                    </a:ext>
                  </a:extLst>
                </a:gridCol>
                <a:gridCol w="4174807">
                  <a:extLst>
                    <a:ext uri="{9D8B030D-6E8A-4147-A177-3AD203B41FA5}">
                      <a16:colId xmlns:a16="http://schemas.microsoft.com/office/drawing/2014/main" val="1493261783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Date</a:t>
                      </a:r>
                      <a:endParaRPr lang="de-DE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de-DE" sz="1000" u="none" strike="noStrike" err="1">
                          <a:effectLst/>
                        </a:rPr>
                        <a:t>Interviewee</a:t>
                      </a:r>
                      <a:endParaRPr lang="de-DE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de-DE" sz="10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Area Of Expertise</a:t>
                      </a:r>
                    </a:p>
                  </a:txBody>
                  <a:tcPr marL="8389" marR="8389" marT="8389" marB="0"/>
                </a:tc>
                <a:extLst>
                  <a:ext uri="{0D108BD9-81ED-4DB2-BD59-A6C34878D82A}">
                    <a16:rowId xmlns:a16="http://schemas.microsoft.com/office/drawing/2014/main" val="1868407772"/>
                  </a:ext>
                </a:extLst>
              </a:tr>
              <a:tr h="35794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2026-09-17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Dominik A. Schneider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Architecture</a:t>
                      </a:r>
                    </a:p>
                  </a:txBody>
                  <a:tcPr marL="8389" marR="8389" marT="8389" marB="0"/>
                </a:tc>
                <a:extLst>
                  <a:ext uri="{0D108BD9-81ED-4DB2-BD59-A6C34878D82A}">
                    <a16:rowId xmlns:a16="http://schemas.microsoft.com/office/drawing/2014/main" val="4271059664"/>
                  </a:ext>
                </a:extLst>
              </a:tr>
              <a:tr h="53692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2026-09-21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Kristina </a:t>
                      </a:r>
                      <a:r>
                        <a:rPr lang="de-DE" sz="1000" u="none" strike="noStrike" err="1">
                          <a:effectLst/>
                        </a:rPr>
                        <a:t>Bausen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</a:t>
                      </a:r>
                      <a:r>
                        <a:rPr lang="de-DE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Governance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/>
                </a:tc>
                <a:extLst>
                  <a:ext uri="{0D108BD9-81ED-4DB2-BD59-A6C34878D82A}">
                    <a16:rowId xmlns:a16="http://schemas.microsoft.com/office/drawing/2014/main" val="1084108647"/>
                  </a:ext>
                </a:extLst>
              </a:tr>
              <a:tr h="53692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2026-09-23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Harsha </a:t>
                      </a:r>
                      <a:r>
                        <a:rPr lang="de-DE" sz="1000" u="none" strike="noStrike" err="1">
                          <a:effectLst/>
                        </a:rPr>
                        <a:t>Gurulingappa</a:t>
                      </a:r>
                      <a:r>
                        <a:rPr lang="de-DE" sz="1000" u="none" strike="noStrike">
                          <a:effectLst/>
                        </a:rPr>
                        <a:t>; Shikhar Bhardwaj; Oliver Vetter; Florian Metz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UPTIMIZE </a:t>
                      </a:r>
                      <a:r>
                        <a:rPr lang="de-DE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Agents</a:t>
                      </a:r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Integration Hub, </a:t>
                      </a:r>
                      <a:r>
                        <a:rPr lang="de-DE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myGPT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/>
                </a:tc>
                <a:extLst>
                  <a:ext uri="{0D108BD9-81ED-4DB2-BD59-A6C34878D82A}">
                    <a16:rowId xmlns:a16="http://schemas.microsoft.com/office/drawing/2014/main" val="1326123078"/>
                  </a:ext>
                </a:extLst>
              </a:tr>
              <a:tr h="3036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2026-09-29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Mike Jung; Carsten </a:t>
                      </a:r>
                      <a:r>
                        <a:rPr lang="de-DE" sz="1000" u="none" strike="noStrike" err="1">
                          <a:effectLst/>
                        </a:rPr>
                        <a:t>Goepp</a:t>
                      </a:r>
                      <a:r>
                        <a:rPr lang="de-DE" sz="1000" u="none" strike="noStrike">
                          <a:effectLst/>
                        </a:rPr>
                        <a:t>; Olivier Dury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Life Science</a:t>
                      </a:r>
                    </a:p>
                  </a:txBody>
                  <a:tcPr marL="8389" marR="8389" marT="8389" marB="0" anchor="b"/>
                </a:tc>
                <a:extLst>
                  <a:ext uri="{0D108BD9-81ED-4DB2-BD59-A6C34878D82A}">
                    <a16:rowId xmlns:a16="http://schemas.microsoft.com/office/drawing/2014/main" val="1543008100"/>
                  </a:ext>
                </a:extLst>
              </a:tr>
              <a:tr h="1677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2026-09-30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Vladimir Stojanovic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Electronics</a:t>
                      </a:r>
                    </a:p>
                  </a:txBody>
                  <a:tcPr marL="8389" marR="8389" marT="8389" marB="0" anchor="b"/>
                </a:tc>
                <a:extLst>
                  <a:ext uri="{0D108BD9-81ED-4DB2-BD59-A6C34878D82A}">
                    <a16:rowId xmlns:a16="http://schemas.microsoft.com/office/drawing/2014/main" val="1186193397"/>
                  </a:ext>
                </a:extLst>
              </a:tr>
              <a:tr h="3036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2026-09-30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Anand Deshpande; Prasanthi </a:t>
                      </a:r>
                      <a:r>
                        <a:rPr lang="de-DE" sz="1000" u="none" strike="noStrike" err="1">
                          <a:effectLst/>
                        </a:rPr>
                        <a:t>Desiraju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SAP Joule</a:t>
                      </a:r>
                    </a:p>
                  </a:txBody>
                  <a:tcPr marL="8389" marR="8389" marT="8389" marB="0" anchor="b"/>
                </a:tc>
                <a:extLst>
                  <a:ext uri="{0D108BD9-81ED-4DB2-BD59-A6C34878D82A}">
                    <a16:rowId xmlns:a16="http://schemas.microsoft.com/office/drawing/2014/main" val="219768550"/>
                  </a:ext>
                </a:extLst>
              </a:tr>
              <a:tr h="1677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2026-10-02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Natalia </a:t>
                      </a:r>
                      <a:r>
                        <a:rPr lang="de-DE" sz="1000" u="none" strike="noStrike" err="1">
                          <a:effectLst/>
                        </a:rPr>
                        <a:t>Smeljanski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Enabling</a:t>
                      </a:r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Functions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 anchor="b"/>
                </a:tc>
                <a:extLst>
                  <a:ext uri="{0D108BD9-81ED-4DB2-BD59-A6C34878D82A}">
                    <a16:rowId xmlns:a16="http://schemas.microsoft.com/office/drawing/2014/main" val="4171659592"/>
                  </a:ext>
                </a:extLst>
              </a:tr>
              <a:tr h="5990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2026-10-02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Florens Focke; Sylvain Cecilio; Rolf Roth; Alexander Helmboldt; Kartik Vijay; Pranav Khurana; Nadia Terranova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Healthcare</a:t>
                      </a:r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HIVE</a:t>
                      </a:r>
                    </a:p>
                  </a:txBody>
                  <a:tcPr marL="8389" marR="8389" marT="8389" marB="0" anchor="b"/>
                </a:tc>
                <a:extLst>
                  <a:ext uri="{0D108BD9-81ED-4DB2-BD59-A6C34878D82A}">
                    <a16:rowId xmlns:a16="http://schemas.microsoft.com/office/drawing/2014/main" val="3541288454"/>
                  </a:ext>
                </a:extLst>
              </a:tr>
              <a:tr h="3036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2026-10-02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Rajkumar Ramaswamy; Hari Singh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Salesforce</a:t>
                      </a:r>
                    </a:p>
                  </a:txBody>
                  <a:tcPr marL="8389" marR="8389" marT="8389" marB="0" anchor="b"/>
                </a:tc>
                <a:extLst>
                  <a:ext uri="{0D108BD9-81ED-4DB2-BD59-A6C34878D82A}">
                    <a16:rowId xmlns:a16="http://schemas.microsoft.com/office/drawing/2014/main" val="525676091"/>
                  </a:ext>
                </a:extLst>
              </a:tr>
              <a:tr h="1677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2026-10-02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Katharina Egert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UPTIMIZE Foundry</a:t>
                      </a:r>
                    </a:p>
                  </a:txBody>
                  <a:tcPr marL="8389" marR="8389" marT="8389" marB="0" anchor="b"/>
                </a:tc>
                <a:extLst>
                  <a:ext uri="{0D108BD9-81ED-4DB2-BD59-A6C34878D82A}">
                    <a16:rowId xmlns:a16="http://schemas.microsoft.com/office/drawing/2014/main" val="895103625"/>
                  </a:ext>
                </a:extLst>
              </a:tr>
              <a:tr h="5990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2026-10-05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Harish </a:t>
                      </a:r>
                      <a:r>
                        <a:rPr lang="de-DE" sz="1000" u="none" strike="noStrike" err="1">
                          <a:effectLst/>
                        </a:rPr>
                        <a:t>Thimmegowda</a:t>
                      </a:r>
                      <a:r>
                        <a:rPr lang="de-DE" sz="1000" u="none" strike="noStrike">
                          <a:effectLst/>
                        </a:rPr>
                        <a:t>; Hanif Choudhury; Kiran </a:t>
                      </a:r>
                      <a:r>
                        <a:rPr lang="de-DE" sz="1000" u="none" strike="noStrike" err="1">
                          <a:effectLst/>
                        </a:rPr>
                        <a:t>Colonakuduru</a:t>
                      </a:r>
                      <a:r>
                        <a:rPr lang="de-DE" sz="1000" u="none" strike="noStrike">
                          <a:effectLst/>
                        </a:rPr>
                        <a:t>; Riyaj Adam </a:t>
                      </a:r>
                      <a:r>
                        <a:rPr lang="de-DE" sz="1000" u="none" strike="noStrike" err="1">
                          <a:effectLst/>
                        </a:rPr>
                        <a:t>Makandar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UIPath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 anchor="b"/>
                </a:tc>
                <a:extLst>
                  <a:ext uri="{0D108BD9-81ED-4DB2-BD59-A6C34878D82A}">
                    <a16:rowId xmlns:a16="http://schemas.microsoft.com/office/drawing/2014/main" val="235936316"/>
                  </a:ext>
                </a:extLst>
              </a:tr>
              <a:tr h="1677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2026-10-05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Igor Lakic</a:t>
                      </a:r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9" marR="8389" marT="838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MS Copilot Studios</a:t>
                      </a:r>
                    </a:p>
                  </a:txBody>
                  <a:tcPr marL="8389" marR="8389" marT="8389" marB="0" anchor="b"/>
                </a:tc>
                <a:extLst>
                  <a:ext uri="{0D108BD9-81ED-4DB2-BD59-A6C34878D82A}">
                    <a16:rowId xmlns:a16="http://schemas.microsoft.com/office/drawing/2014/main" val="535887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522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A6CBBE-1D8E-A319-DA4C-A4EFFBE99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majority sees the need of the same requirements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AAE034-AFC2-C2C5-4D5B-1D578ED4498B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lvl="0">
              <a:lnSpc>
                <a:spcPct val="200000"/>
              </a:lnSpc>
            </a:pPr>
            <a:r>
              <a:rPr lang="de-DE" sz="1600" b="1"/>
              <a:t>The </a:t>
            </a:r>
            <a:r>
              <a:rPr lang="de-DE" sz="1600" b="1" err="1"/>
              <a:t>needs</a:t>
            </a:r>
            <a:r>
              <a:rPr lang="de-DE" sz="1600" b="1"/>
              <a:t> for a </a:t>
            </a:r>
            <a:r>
              <a:rPr lang="de-DE" sz="1600" b="1" err="1"/>
              <a:t>cross-platform</a:t>
            </a:r>
            <a:r>
              <a:rPr lang="de-DE" sz="1600" b="1"/>
              <a:t> </a:t>
            </a:r>
            <a:r>
              <a:rPr lang="de-DE" sz="1600" b="1" err="1"/>
              <a:t>transparency</a:t>
            </a:r>
            <a:r>
              <a:rPr lang="de-DE" sz="1600" b="1"/>
              <a:t> as the </a:t>
            </a:r>
            <a:r>
              <a:rPr lang="de-DE" sz="1600" b="1" err="1"/>
              <a:t>baseline</a:t>
            </a:r>
            <a:r>
              <a:rPr lang="de-DE" sz="1600"/>
              <a:t> </a:t>
            </a:r>
          </a:p>
          <a:p>
            <a:pPr>
              <a:lnSpc>
                <a:spcPct val="200000"/>
              </a:lnSpc>
            </a:pPr>
            <a:r>
              <a:rPr lang="de-DE" sz="1600" b="1"/>
              <a:t>Minimum </a:t>
            </a:r>
            <a:r>
              <a:rPr lang="de-DE" sz="1600" b="1" err="1"/>
              <a:t>information</a:t>
            </a:r>
            <a:r>
              <a:rPr lang="de-DE" sz="1600" b="1"/>
              <a:t> </a:t>
            </a:r>
            <a:r>
              <a:rPr lang="de-DE" sz="1600" b="1" err="1"/>
              <a:t>set</a:t>
            </a:r>
            <a:r>
              <a:rPr lang="de-DE" sz="1600" b="1"/>
              <a:t> per </a:t>
            </a:r>
            <a:r>
              <a:rPr lang="de-DE" sz="1600" b="1" err="1"/>
              <a:t>agent</a:t>
            </a:r>
            <a:r>
              <a:rPr lang="de-DE" sz="1600" b="1"/>
              <a:t> -</a:t>
            </a:r>
            <a:r>
              <a:rPr lang="de-DE" sz="1600"/>
              <a:t> </a:t>
            </a:r>
            <a:r>
              <a:rPr lang="de-DE" sz="1600" err="1"/>
              <a:t>owner</a:t>
            </a:r>
            <a:r>
              <a:rPr lang="de-DE" sz="1600"/>
              <a:t>/</a:t>
            </a:r>
            <a:r>
              <a:rPr lang="de-DE" sz="1600" err="1"/>
              <a:t>contact</a:t>
            </a:r>
            <a:r>
              <a:rPr lang="de-DE" sz="1600"/>
              <a:t>, </a:t>
            </a:r>
            <a:r>
              <a:rPr lang="de-DE" sz="1600" err="1"/>
              <a:t>risk</a:t>
            </a:r>
            <a:r>
              <a:rPr lang="de-DE" sz="1600"/>
              <a:t> </a:t>
            </a:r>
            <a:r>
              <a:rPr lang="de-DE" sz="1600" err="1"/>
              <a:t>level</a:t>
            </a:r>
            <a:r>
              <a:rPr lang="de-DE" sz="1600"/>
              <a:t>, </a:t>
            </a:r>
            <a:r>
              <a:rPr lang="de-DE" sz="1600" err="1"/>
              <a:t>description</a:t>
            </a:r>
            <a:r>
              <a:rPr lang="de-DE" sz="1600"/>
              <a:t>, </a:t>
            </a:r>
            <a:r>
              <a:rPr lang="de-DE" sz="1600" err="1"/>
              <a:t>cost</a:t>
            </a:r>
            <a:endParaRPr lang="de-DE" sz="1600"/>
          </a:p>
          <a:p>
            <a:pPr>
              <a:lnSpc>
                <a:spcPct val="200000"/>
              </a:lnSpc>
            </a:pPr>
            <a:r>
              <a:rPr lang="de-DE" sz="1600" b="1"/>
              <a:t>A </a:t>
            </a:r>
            <a:r>
              <a:rPr lang="de-DE" sz="1600" b="1" err="1"/>
              <a:t>business</a:t>
            </a:r>
            <a:r>
              <a:rPr lang="de-DE" sz="1600" b="1"/>
              <a:t> </a:t>
            </a:r>
            <a:r>
              <a:rPr lang="de-DE" sz="1600" b="1" err="1"/>
              <a:t>layer</a:t>
            </a:r>
            <a:r>
              <a:rPr lang="de-DE" sz="1600" b="1"/>
              <a:t> separate </a:t>
            </a:r>
            <a:r>
              <a:rPr lang="de-DE" sz="1600" b="1" err="1"/>
              <a:t>from</a:t>
            </a:r>
            <a:r>
              <a:rPr lang="de-DE" sz="1600" b="1"/>
              <a:t> the </a:t>
            </a:r>
            <a:r>
              <a:rPr lang="de-DE" sz="1600" b="1" err="1"/>
              <a:t>technical</a:t>
            </a:r>
            <a:r>
              <a:rPr lang="de-DE" sz="1600" b="1"/>
              <a:t> </a:t>
            </a:r>
            <a:r>
              <a:rPr lang="de-DE" sz="1600" b="1" err="1"/>
              <a:t>catalog</a:t>
            </a:r>
            <a:r>
              <a:rPr lang="de-DE" sz="1600" b="1"/>
              <a:t> - </a:t>
            </a:r>
            <a:r>
              <a:rPr lang="de-DE" sz="1600" err="1"/>
              <a:t>technical</a:t>
            </a:r>
            <a:r>
              <a:rPr lang="de-DE" sz="1600"/>
              <a:t> and a separate, business-</a:t>
            </a:r>
            <a:r>
              <a:rPr lang="de-DE" sz="1600" err="1"/>
              <a:t>oriented</a:t>
            </a:r>
            <a:r>
              <a:rPr lang="de-DE" sz="1600"/>
              <a:t> </a:t>
            </a:r>
            <a:r>
              <a:rPr lang="de-DE" sz="1600" err="1"/>
              <a:t>view</a:t>
            </a:r>
            <a:r>
              <a:rPr lang="de-DE" sz="1600"/>
              <a:t> </a:t>
            </a:r>
          </a:p>
          <a:p>
            <a:pPr>
              <a:lnSpc>
                <a:spcPct val="200000"/>
              </a:lnSpc>
            </a:pPr>
            <a:r>
              <a:rPr lang="de-DE" sz="1600" b="1" err="1"/>
              <a:t>Cost</a:t>
            </a:r>
            <a:r>
              <a:rPr lang="de-DE" sz="1600" b="1"/>
              <a:t> </a:t>
            </a:r>
            <a:r>
              <a:rPr lang="de-DE" sz="1600" b="1" err="1"/>
              <a:t>transparency</a:t>
            </a:r>
            <a:r>
              <a:rPr lang="de-DE" sz="1600" b="1"/>
              <a:t> per </a:t>
            </a:r>
            <a:r>
              <a:rPr lang="de-DE" sz="1600" b="1" err="1"/>
              <a:t>agent</a:t>
            </a:r>
            <a:r>
              <a:rPr lang="de-DE" sz="1600"/>
              <a:t> – warn </a:t>
            </a:r>
            <a:r>
              <a:rPr lang="de-DE" sz="1600" err="1"/>
              <a:t>business</a:t>
            </a:r>
            <a:r>
              <a:rPr lang="de-DE" sz="1600"/>
              <a:t> </a:t>
            </a:r>
            <a:r>
              <a:rPr lang="de-DE" sz="1600" err="1"/>
              <a:t>users</a:t>
            </a:r>
            <a:r>
              <a:rPr lang="de-DE" sz="1600"/>
              <a:t> </a:t>
            </a:r>
            <a:r>
              <a:rPr lang="de-DE" sz="1600" err="1"/>
              <a:t>before</a:t>
            </a:r>
            <a:r>
              <a:rPr lang="de-DE" sz="1600"/>
              <a:t> expensive </a:t>
            </a:r>
            <a:r>
              <a:rPr lang="de-DE" sz="1600" err="1"/>
              <a:t>usage</a:t>
            </a:r>
            <a:endParaRPr lang="de-DE" sz="1600"/>
          </a:p>
          <a:p>
            <a:pPr lvl="0">
              <a:lnSpc>
                <a:spcPct val="200000"/>
              </a:lnSpc>
            </a:pPr>
            <a:r>
              <a:rPr lang="de-DE" sz="1600" b="1"/>
              <a:t>Focus on </a:t>
            </a:r>
            <a:r>
              <a:rPr lang="de-DE" sz="1600" b="1" err="1"/>
              <a:t>reuse</a:t>
            </a:r>
            <a:r>
              <a:rPr lang="de-DE" sz="1600" b="1"/>
              <a:t> </a:t>
            </a:r>
            <a:r>
              <a:rPr lang="de-DE" sz="1600" b="1" err="1"/>
              <a:t>before</a:t>
            </a:r>
            <a:r>
              <a:rPr lang="de-DE" sz="1600" b="1"/>
              <a:t> </a:t>
            </a:r>
            <a:r>
              <a:rPr lang="de-DE" sz="1600" b="1" err="1"/>
              <a:t>rebuild</a:t>
            </a:r>
            <a:r>
              <a:rPr lang="de-DE" sz="1600"/>
              <a:t> – </a:t>
            </a:r>
            <a:r>
              <a:rPr lang="de-DE" sz="1600" err="1"/>
              <a:t>using</a:t>
            </a:r>
            <a:r>
              <a:rPr lang="de-DE" sz="1600"/>
              <a:t> </a:t>
            </a:r>
            <a:r>
              <a:rPr lang="de-DE" sz="1600" err="1"/>
              <a:t>existing</a:t>
            </a:r>
            <a:r>
              <a:rPr lang="de-DE" sz="1600"/>
              <a:t> </a:t>
            </a:r>
            <a:r>
              <a:rPr lang="de-DE" sz="1600" err="1"/>
              <a:t>agents</a:t>
            </a:r>
            <a:r>
              <a:rPr lang="de-DE" sz="1600"/>
              <a:t> </a:t>
            </a:r>
            <a:r>
              <a:rPr lang="de-DE" sz="1600" err="1"/>
              <a:t>than</a:t>
            </a:r>
            <a:r>
              <a:rPr lang="de-DE" sz="1600"/>
              <a:t> </a:t>
            </a:r>
            <a:r>
              <a:rPr lang="de-DE" sz="1600" err="1"/>
              <a:t>using</a:t>
            </a:r>
            <a:r>
              <a:rPr lang="de-DE" sz="1600"/>
              <a:t> </a:t>
            </a:r>
            <a:r>
              <a:rPr lang="de-DE" sz="1600" err="1"/>
              <a:t>more</a:t>
            </a:r>
            <a:r>
              <a:rPr lang="de-DE" sz="1600"/>
              <a:t> </a:t>
            </a:r>
          </a:p>
          <a:p>
            <a:pPr lvl="0">
              <a:lnSpc>
                <a:spcPct val="200000"/>
              </a:lnSpc>
            </a:pPr>
            <a:r>
              <a:rPr lang="de-DE" sz="1600" b="1"/>
              <a:t>Audit </a:t>
            </a:r>
            <a:r>
              <a:rPr lang="de-DE" sz="1600" b="1" err="1"/>
              <a:t>trail</a:t>
            </a:r>
            <a:r>
              <a:rPr lang="de-DE" sz="1600" b="1"/>
              <a:t> &amp; </a:t>
            </a:r>
            <a:r>
              <a:rPr lang="de-DE" sz="1600" b="1" err="1"/>
              <a:t>traceability</a:t>
            </a:r>
            <a:r>
              <a:rPr lang="de-DE" sz="1600" b="1"/>
              <a:t> of </a:t>
            </a:r>
            <a:r>
              <a:rPr lang="de-DE" sz="1600" b="1" err="1"/>
              <a:t>changes</a:t>
            </a:r>
            <a:r>
              <a:rPr lang="de-DE" sz="1600"/>
              <a:t> – </a:t>
            </a:r>
            <a:r>
              <a:rPr lang="de-DE" sz="1600" err="1"/>
              <a:t>security</a:t>
            </a:r>
            <a:r>
              <a:rPr lang="de-DE" sz="1600"/>
              <a:t>/</a:t>
            </a:r>
            <a:r>
              <a:rPr lang="de-DE" sz="1600" err="1"/>
              <a:t>compliance</a:t>
            </a:r>
            <a:r>
              <a:rPr lang="de-DE" sz="1600"/>
              <a:t> </a:t>
            </a:r>
            <a:r>
              <a:rPr lang="de-DE" sz="1600" err="1"/>
              <a:t>requirement</a:t>
            </a:r>
            <a:endParaRPr lang="de-DE" sz="1600"/>
          </a:p>
          <a:p>
            <a:pPr lvl="0">
              <a:lnSpc>
                <a:spcPct val="200000"/>
              </a:lnSpc>
            </a:pPr>
            <a:r>
              <a:rPr lang="de-DE" sz="1600" b="1"/>
              <a:t>Risk-</a:t>
            </a:r>
            <a:r>
              <a:rPr lang="de-DE" sz="1600" b="1" err="1"/>
              <a:t>based</a:t>
            </a:r>
            <a:r>
              <a:rPr lang="de-DE" sz="1600" b="1"/>
              <a:t> </a:t>
            </a:r>
            <a:r>
              <a:rPr lang="de-DE" sz="1600" b="1" err="1"/>
              <a:t>access</a:t>
            </a:r>
            <a:r>
              <a:rPr lang="de-DE" sz="1600"/>
              <a:t> – who </a:t>
            </a:r>
            <a:r>
              <a:rPr lang="de-DE" sz="1600" err="1"/>
              <a:t>can</a:t>
            </a:r>
            <a:r>
              <a:rPr lang="de-DE" sz="1600"/>
              <a:t> </a:t>
            </a:r>
            <a:r>
              <a:rPr lang="de-DE" sz="1600" err="1"/>
              <a:t>see</a:t>
            </a:r>
            <a:r>
              <a:rPr lang="de-DE" sz="1600"/>
              <a:t> </a:t>
            </a:r>
            <a:r>
              <a:rPr lang="de-DE" sz="1600" err="1"/>
              <a:t>or</a:t>
            </a:r>
            <a:r>
              <a:rPr lang="de-DE" sz="1600"/>
              <a:t> </a:t>
            </a:r>
            <a:r>
              <a:rPr lang="de-DE" sz="1600" err="1"/>
              <a:t>use</a:t>
            </a:r>
            <a:r>
              <a:rPr lang="de-DE" sz="1600"/>
              <a:t> </a:t>
            </a:r>
            <a:r>
              <a:rPr lang="de-DE" sz="1600" err="1"/>
              <a:t>what</a:t>
            </a:r>
            <a:r>
              <a:rPr lang="de-DE" sz="1600"/>
              <a:t>, </a:t>
            </a:r>
            <a:r>
              <a:rPr lang="de-DE" sz="1600" err="1"/>
              <a:t>tied</a:t>
            </a:r>
            <a:r>
              <a:rPr lang="de-DE" sz="1600"/>
              <a:t> to </a:t>
            </a:r>
            <a:r>
              <a:rPr lang="de-DE" sz="1600" err="1"/>
              <a:t>risk</a:t>
            </a:r>
            <a:r>
              <a:rPr lang="de-DE" sz="1600"/>
              <a:t> </a:t>
            </a:r>
            <a:r>
              <a:rPr lang="de-DE" sz="1600" err="1"/>
              <a:t>classification</a:t>
            </a:r>
            <a:r>
              <a:rPr lang="de-DE" sz="1600"/>
              <a:t>, </a:t>
            </a:r>
            <a:r>
              <a:rPr lang="de-DE" sz="1600" err="1"/>
              <a:t>data</a:t>
            </a:r>
            <a:r>
              <a:rPr lang="de-DE" sz="1600"/>
              <a:t> </a:t>
            </a:r>
            <a:r>
              <a:rPr lang="de-DE" sz="1600" err="1"/>
              <a:t>input</a:t>
            </a:r>
            <a:r>
              <a:rPr lang="de-DE" sz="1600"/>
              <a:t> / </a:t>
            </a:r>
            <a:r>
              <a:rPr lang="de-DE" sz="1600" err="1"/>
              <a:t>output</a:t>
            </a:r>
            <a:r>
              <a:rPr lang="de-DE" sz="1600"/>
              <a:t>, </a:t>
            </a:r>
            <a:r>
              <a:rPr lang="de-DE" sz="1600" err="1"/>
              <a:t>business</a:t>
            </a:r>
            <a:r>
              <a:rPr lang="de-DE" sz="1600"/>
              <a:t> area</a:t>
            </a:r>
            <a:endParaRPr lang="en-US" sz="160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C40FA98-36A6-4A78-7DFA-00B4E658689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F9B0DE-3FEB-4AA0-B465-B80EF7C1333D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AD9691B-F171-4E97-6795-BD6B0FDAFE66}"/>
              </a:ext>
            </a:extLst>
          </p:cNvPr>
          <p:cNvSpPr/>
          <p:nvPr/>
        </p:nvSpPr>
        <p:spPr>
          <a:xfrm>
            <a:off x="10776520" y="620688"/>
            <a:ext cx="864096" cy="792088"/>
          </a:xfrm>
          <a:prstGeom prst="ellipse">
            <a:avLst/>
          </a:prstGeom>
          <a:solidFill>
            <a:srgbClr val="FFFF0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ußzeilenplatzhalter 6">
            <a:extLst>
              <a:ext uri="{FF2B5EF4-FFF2-40B4-BE49-F238E27FC236}">
                <a16:creationId xmlns:a16="http://schemas.microsoft.com/office/drawing/2014/main" id="{D57453AB-A5CB-E496-79C5-88997181D86A}"/>
              </a:ext>
            </a:extLst>
          </p:cNvPr>
          <p:cNvSpPr txBox="1">
            <a:spLocks/>
          </p:cNvSpPr>
          <p:nvPr/>
        </p:nvSpPr>
        <p:spPr bwMode="gray">
          <a:xfrm>
            <a:off x="1055687" y="6453000"/>
            <a:ext cx="496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9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9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Tx/>
              <a:buNone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Merck | AI Agent Repository Requirement Review</a:t>
            </a:r>
          </a:p>
        </p:txBody>
      </p:sp>
    </p:spTree>
    <p:extLst>
      <p:ext uri="{BB962C8B-B14F-4D97-AF65-F5344CB8AC3E}">
        <p14:creationId xmlns:p14="http://schemas.microsoft.com/office/powerpoint/2010/main" val="334428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CFD83C-6BA7-71FA-E36E-B3BBDFD19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Architecture Overview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F2A976-4A75-3BCB-A32E-A866D4650F1D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ECCBF3F-E919-10F7-2876-04A2029615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F9B0DE-3FEB-4AA0-B465-B80EF7C1333D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74460C-CC6F-CB00-6727-D880F21554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CB0582B-9417-7E9A-5585-B53B7CBF1B1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1DC8993-8D2E-4DE0-9E9C-34605DBD02AA}" type="datetime1">
              <a:rPr lang="en-GB" smtClean="0"/>
              <a:t>07/10/2026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920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B24C41-7771-FACB-3BCA-A4598B74B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8280E1-618A-15EA-4159-1FF721BBBD13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1125135-B8D7-E01A-30C0-DF4ACFFAEC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F9B0DE-3FEB-4AA0-B465-B80EF7C1333D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E1033A-BE2A-CCAA-97F6-E4010D75E42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3A2D325-9F75-8586-719E-61A4F564CF1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1DC8993-8D2E-4DE0-9E9C-34605DBD02AA}" type="datetime1">
              <a:rPr lang="en-GB" smtClean="0"/>
              <a:t>07/10/2026</a:t>
            </a:fld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76D2B1E-F890-28AA-C0E1-B0AB07F1E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4055"/>
            <a:ext cx="12285052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815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CF1E8697-8FA9-5E2B-A323-E3A47A7B587C}"/>
              </a:ext>
            </a:extLst>
          </p:cNvPr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748720207"/>
              </p:ext>
            </p:extLst>
          </p:nvPr>
        </p:nvGraphicFramePr>
        <p:xfrm>
          <a:off x="1271464" y="404664"/>
          <a:ext cx="9505056" cy="6148502"/>
        </p:xfrm>
        <a:graphic>
          <a:graphicData uri="http://schemas.openxmlformats.org/drawingml/2006/table">
            <a:tbl>
              <a:tblPr>
                <a:tableStyleId>{B45C9562-1D88-4959-98E0-DF01EE10AB55}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31840911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017948658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985560591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3395470441"/>
                    </a:ext>
                  </a:extLst>
                </a:gridCol>
              </a:tblGrid>
              <a:tr h="169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err="1"/>
                        <a:t>Component</a:t>
                      </a:r>
                      <a:endParaRPr lang="de-DE" sz="800"/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Status quo (from interviews)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What we can leverage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Why </a:t>
                      </a:r>
                      <a:r>
                        <a:rPr lang="de-DE" sz="800" err="1"/>
                        <a:t>parked</a:t>
                      </a:r>
                      <a:r>
                        <a:rPr lang="de-DE" sz="800"/>
                        <a:t> / not</a:t>
                      </a:r>
                    </a:p>
                  </a:txBody>
                  <a:tcPr marL="20235" marR="20235" marT="10118" marB="10118" anchor="ctr"/>
                </a:tc>
                <a:extLst>
                  <a:ext uri="{0D108BD9-81ED-4DB2-BD59-A6C34878D82A}">
                    <a16:rowId xmlns:a16="http://schemas.microsoft.com/office/drawing/2014/main" val="4160247927"/>
                  </a:ext>
                </a:extLst>
              </a:tr>
              <a:tr h="605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UPTIMIZE Foundry / AIP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Use Case-level AI </a:t>
                      </a:r>
                      <a:r>
                        <a:rPr lang="de-DE" sz="800" err="1"/>
                        <a:t>Flag</a:t>
                      </a:r>
                      <a:r>
                        <a:rPr lang="de-DE" sz="800"/>
                        <a:t> + Self-Assessment </a:t>
                      </a:r>
                      <a:r>
                        <a:rPr lang="de-DE" sz="800" err="1"/>
                        <a:t>already</a:t>
                      </a:r>
                      <a:r>
                        <a:rPr lang="de-DE" sz="800"/>
                        <a:t> operational; </a:t>
                      </a:r>
                      <a:r>
                        <a:rPr lang="de-DE" sz="800" err="1"/>
                        <a:t>risk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classification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tied</a:t>
                      </a:r>
                      <a:r>
                        <a:rPr lang="de-DE" sz="800"/>
                        <a:t> 1:1 to Use Case; </a:t>
                      </a:r>
                      <a:r>
                        <a:rPr lang="de-DE" sz="800" err="1"/>
                        <a:t>agentic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assets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show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up</a:t>
                      </a:r>
                      <a:r>
                        <a:rPr lang="de-DE" sz="800"/>
                        <a:t> as "</a:t>
                      </a:r>
                      <a:r>
                        <a:rPr lang="de-DE" sz="800" err="1"/>
                        <a:t>outcomes</a:t>
                      </a:r>
                      <a:r>
                        <a:rPr lang="de-DE" sz="800"/>
                        <a:t>" in Foundry UI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err="1"/>
                        <a:t>Existing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risk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assessment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logic</a:t>
                      </a:r>
                      <a:r>
                        <a:rPr lang="de-DE" sz="800"/>
                        <a:t>, Use Case–</a:t>
                      </a:r>
                      <a:r>
                        <a:rPr lang="de-DE" sz="800" err="1"/>
                        <a:t>agent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linkage</a:t>
                      </a:r>
                      <a:r>
                        <a:rPr lang="de-DE" sz="800"/>
                        <a:t>, </a:t>
                      </a:r>
                      <a:r>
                        <a:rPr lang="de-DE" sz="800" err="1"/>
                        <a:t>established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owner</a:t>
                      </a:r>
                      <a:r>
                        <a:rPr lang="de-DE" sz="800"/>
                        <a:t>-</a:t>
                      </a:r>
                      <a:r>
                        <a:rPr lang="de-DE" sz="800" err="1"/>
                        <a:t>self</a:t>
                      </a:r>
                      <a:r>
                        <a:rPr lang="de-DE" sz="800"/>
                        <a:t>-service </a:t>
                      </a:r>
                      <a:r>
                        <a:rPr lang="de-DE" sz="800" err="1"/>
                        <a:t>model</a:t>
                      </a:r>
                      <a:endParaRPr lang="de-DE" sz="800"/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In </a:t>
                      </a:r>
                      <a:r>
                        <a:rPr lang="de-DE" sz="800" err="1"/>
                        <a:t>scope</a:t>
                      </a:r>
                      <a:r>
                        <a:rPr lang="de-DE" sz="800"/>
                        <a:t> — </a:t>
                      </a:r>
                      <a:r>
                        <a:rPr lang="de-DE" sz="800" err="1"/>
                        <a:t>most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mature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governance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foundation</a:t>
                      </a:r>
                      <a:r>
                        <a:rPr lang="de-DE" sz="800"/>
                        <a:t>; </a:t>
                      </a:r>
                      <a:r>
                        <a:rPr lang="de-DE" sz="800" err="1"/>
                        <a:t>primary</a:t>
                      </a:r>
                      <a:r>
                        <a:rPr lang="de-DE" sz="800"/>
                        <a:t> source for </a:t>
                      </a:r>
                      <a:r>
                        <a:rPr lang="de-DE" sz="800" err="1"/>
                        <a:t>risk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status</a:t>
                      </a:r>
                      <a:endParaRPr lang="de-DE" sz="800"/>
                    </a:p>
                  </a:txBody>
                  <a:tcPr marL="20235" marR="20235" marT="10118" marB="10118" anchor="ctr"/>
                </a:tc>
                <a:extLst>
                  <a:ext uri="{0D108BD9-81ED-4DB2-BD59-A6C34878D82A}">
                    <a16:rowId xmlns:a16="http://schemas.microsoft.com/office/drawing/2014/main" val="3383817197"/>
                  </a:ext>
                </a:extLst>
              </a:tr>
              <a:tr h="896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myGPT Suite (Langdock)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~10,334 </a:t>
                      </a:r>
                      <a:r>
                        <a:rPr lang="de-DE" sz="800" err="1"/>
                        <a:t>agents</a:t>
                      </a:r>
                      <a:r>
                        <a:rPr lang="de-DE" sz="800"/>
                        <a:t>, </a:t>
                      </a:r>
                      <a:r>
                        <a:rPr lang="de-DE" sz="800" err="1"/>
                        <a:t>only</a:t>
                      </a:r>
                      <a:r>
                        <a:rPr lang="de-DE" sz="800"/>
                        <a:t> 235 </a:t>
                      </a:r>
                      <a:r>
                        <a:rPr lang="de-DE" sz="800" err="1"/>
                        <a:t>with</a:t>
                      </a:r>
                      <a:r>
                        <a:rPr lang="de-DE" sz="800"/>
                        <a:t> &gt;20 </a:t>
                      </a:r>
                      <a:r>
                        <a:rPr lang="de-DE" sz="800" err="1"/>
                        <a:t>users</a:t>
                      </a:r>
                      <a:r>
                        <a:rPr lang="de-DE" sz="800"/>
                        <a:t>; </a:t>
                      </a:r>
                      <a:r>
                        <a:rPr lang="de-DE" sz="800" err="1"/>
                        <a:t>built</a:t>
                      </a:r>
                      <a:r>
                        <a:rPr lang="de-DE" sz="800"/>
                        <a:t>-in </a:t>
                      </a:r>
                      <a:r>
                        <a:rPr lang="de-DE" sz="800" err="1"/>
                        <a:t>Langdock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Governance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tool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scans</a:t>
                      </a:r>
                      <a:r>
                        <a:rPr lang="de-DE" sz="800"/>
                        <a:t> for EU AI Act/GDPR/PII </a:t>
                      </a:r>
                      <a:r>
                        <a:rPr lang="de-DE" sz="800" err="1"/>
                        <a:t>patterns</a:t>
                      </a:r>
                      <a:r>
                        <a:rPr lang="de-DE" sz="800"/>
                        <a:t>; </a:t>
                      </a:r>
                      <a:r>
                        <a:rPr lang="de-DE" sz="800" err="1"/>
                        <a:t>agent</a:t>
                      </a:r>
                      <a:r>
                        <a:rPr lang="de-DE" sz="800"/>
                        <a:t>-to-Use Case link </a:t>
                      </a:r>
                      <a:r>
                        <a:rPr lang="de-DE" sz="800" err="1"/>
                        <a:t>only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exists</a:t>
                      </a:r>
                      <a:r>
                        <a:rPr lang="de-DE" sz="800"/>
                        <a:t> for </a:t>
                      </a:r>
                      <a:r>
                        <a:rPr lang="de-DE" sz="800" err="1"/>
                        <a:t>advanced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features</a:t>
                      </a:r>
                      <a:r>
                        <a:rPr lang="de-DE" sz="800"/>
                        <a:t>; </a:t>
                      </a:r>
                      <a:r>
                        <a:rPr lang="de-DE" sz="800" err="1"/>
                        <a:t>creator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identity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is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hashed</a:t>
                      </a:r>
                      <a:r>
                        <a:rPr lang="de-DE" sz="800"/>
                        <a:t>,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clean </a:t>
                      </a:r>
                      <a:r>
                        <a:rPr lang="de-DE" sz="800" err="1"/>
                        <a:t>org</a:t>
                      </a:r>
                      <a:r>
                        <a:rPr lang="de-DE" sz="800"/>
                        <a:t>/</a:t>
                      </a:r>
                      <a:r>
                        <a:rPr lang="de-DE" sz="800" err="1"/>
                        <a:t>department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join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yet</a:t>
                      </a:r>
                      <a:endParaRPr lang="de-DE" sz="800"/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Governance scan output as a signal (not a substitute for formal assessment); usage/cost dataset in Data Treasury; existing HR-mapping approach (Florian's dashboard) as a template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In </a:t>
                      </a:r>
                      <a:r>
                        <a:rPr lang="de-DE" sz="800" err="1"/>
                        <a:t>scope</a:t>
                      </a:r>
                      <a:r>
                        <a:rPr lang="de-DE" sz="800"/>
                        <a:t>, but </a:t>
                      </a:r>
                      <a:r>
                        <a:rPr lang="de-DE" sz="800" err="1"/>
                        <a:t>metadata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enrichment</a:t>
                      </a:r>
                      <a:r>
                        <a:rPr lang="de-DE" sz="800"/>
                        <a:t> (</a:t>
                      </a:r>
                      <a:r>
                        <a:rPr lang="de-DE" sz="800" err="1"/>
                        <a:t>owner</a:t>
                      </a:r>
                      <a:r>
                        <a:rPr lang="de-DE" sz="800"/>
                        <a:t>, </a:t>
                      </a:r>
                      <a:r>
                        <a:rPr lang="de-DE" sz="800" err="1"/>
                        <a:t>business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capability</a:t>
                      </a:r>
                      <a:r>
                        <a:rPr lang="de-DE" sz="800"/>
                        <a:t>) </a:t>
                      </a:r>
                      <a:r>
                        <a:rPr lang="de-DE" sz="800" err="1"/>
                        <a:t>is</a:t>
                      </a:r>
                      <a:r>
                        <a:rPr lang="de-DE" sz="800"/>
                        <a:t> a </a:t>
                      </a:r>
                      <a:r>
                        <a:rPr lang="de-DE" sz="800" err="1"/>
                        <a:t>known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gap</a:t>
                      </a:r>
                      <a:r>
                        <a:rPr lang="de-DE" sz="800"/>
                        <a:t> to </a:t>
                      </a:r>
                      <a:r>
                        <a:rPr lang="de-DE" sz="800" err="1"/>
                        <a:t>solve</a:t>
                      </a:r>
                      <a:r>
                        <a:rPr lang="de-DE" sz="800"/>
                        <a:t>, not a </a:t>
                      </a:r>
                      <a:r>
                        <a:rPr lang="de-DE" sz="800" err="1"/>
                        <a:t>reason</a:t>
                      </a:r>
                      <a:r>
                        <a:rPr lang="de-DE" sz="800"/>
                        <a:t> to </a:t>
                      </a:r>
                      <a:r>
                        <a:rPr lang="de-DE" sz="800" err="1"/>
                        <a:t>exclude</a:t>
                      </a:r>
                      <a:endParaRPr lang="de-DE" sz="800"/>
                    </a:p>
                  </a:txBody>
                  <a:tcPr marL="20235" marR="20235" marT="10118" marB="10118" anchor="ctr"/>
                </a:tc>
                <a:extLst>
                  <a:ext uri="{0D108BD9-81ED-4DB2-BD59-A6C34878D82A}">
                    <a16:rowId xmlns:a16="http://schemas.microsoft.com/office/drawing/2014/main" val="3981003387"/>
                  </a:ext>
                </a:extLst>
              </a:tr>
              <a:tr h="678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UPTIMIZE Agents / Integration Hub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Technical </a:t>
                      </a:r>
                      <a:r>
                        <a:rPr lang="de-DE" sz="800" err="1"/>
                        <a:t>registry</a:t>
                      </a:r>
                      <a:r>
                        <a:rPr lang="de-DE" sz="800"/>
                        <a:t> for MCP </a:t>
                      </a:r>
                      <a:r>
                        <a:rPr lang="de-DE" sz="800" err="1"/>
                        <a:t>servers</a:t>
                      </a:r>
                      <a:r>
                        <a:rPr lang="de-DE" sz="800"/>
                        <a:t> and </a:t>
                      </a:r>
                      <a:r>
                        <a:rPr lang="de-DE" sz="800" err="1"/>
                        <a:t>some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deployable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agents</a:t>
                      </a:r>
                      <a:r>
                        <a:rPr lang="de-DE" sz="800"/>
                        <a:t>; not </a:t>
                      </a:r>
                      <a:r>
                        <a:rPr lang="de-DE" sz="800" err="1"/>
                        <a:t>yet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production-launched</a:t>
                      </a:r>
                      <a:r>
                        <a:rPr lang="de-DE" sz="800"/>
                        <a:t>; </a:t>
                      </a:r>
                      <a:r>
                        <a:rPr lang="de-DE" sz="800" err="1"/>
                        <a:t>nothing</a:t>
                      </a:r>
                      <a:r>
                        <a:rPr lang="de-DE" sz="800"/>
                        <a:t> business-</a:t>
                      </a:r>
                      <a:r>
                        <a:rPr lang="de-DE" sz="800" err="1"/>
                        <a:t>critical</a:t>
                      </a:r>
                      <a:r>
                        <a:rPr lang="de-DE" sz="800"/>
                        <a:t> registered </a:t>
                      </a:r>
                      <a:r>
                        <a:rPr lang="de-DE" sz="800" err="1"/>
                        <a:t>yet</a:t>
                      </a:r>
                      <a:r>
                        <a:rPr lang="de-DE" sz="800"/>
                        <a:t>; </a:t>
                      </a:r>
                      <a:r>
                        <a:rPr lang="de-DE" sz="800" err="1"/>
                        <a:t>governance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model</a:t>
                      </a:r>
                      <a:r>
                        <a:rPr lang="de-DE" sz="800"/>
                        <a:t> still in </a:t>
                      </a:r>
                      <a:r>
                        <a:rPr lang="de-DE" sz="800" err="1"/>
                        <a:t>development</a:t>
                      </a:r>
                      <a:r>
                        <a:rPr lang="de-DE" sz="800"/>
                        <a:t> (Oliver)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Technical </a:t>
                      </a:r>
                      <a:r>
                        <a:rPr lang="de-DE" sz="800" err="1"/>
                        <a:t>endpoint</a:t>
                      </a:r>
                      <a:r>
                        <a:rPr lang="de-DE" sz="800"/>
                        <a:t>/</a:t>
                      </a:r>
                      <a:r>
                        <a:rPr lang="de-DE" sz="800" err="1"/>
                        <a:t>tool</a:t>
                      </a:r>
                      <a:r>
                        <a:rPr lang="de-DE" sz="800"/>
                        <a:t>/</a:t>
                      </a:r>
                      <a:r>
                        <a:rPr lang="de-DE" sz="800" err="1"/>
                        <a:t>auth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metadata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once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available</a:t>
                      </a:r>
                      <a:r>
                        <a:rPr lang="de-DE" sz="800"/>
                        <a:t>; </a:t>
                      </a:r>
                      <a:r>
                        <a:rPr lang="de-DE" sz="800" err="1"/>
                        <a:t>natural</a:t>
                      </a:r>
                      <a:r>
                        <a:rPr lang="de-DE" sz="800"/>
                        <a:t> fit as a </a:t>
                      </a:r>
                      <a:r>
                        <a:rPr lang="de-DE" sz="800" err="1"/>
                        <a:t>connector</a:t>
                      </a:r>
                      <a:r>
                        <a:rPr lang="de-DE" sz="800"/>
                        <a:t> source </a:t>
                      </a:r>
                      <a:r>
                        <a:rPr lang="de-DE" sz="800" err="1"/>
                        <a:t>rather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than</a:t>
                      </a:r>
                      <a:r>
                        <a:rPr lang="de-DE" sz="800"/>
                        <a:t> a business-</a:t>
                      </a:r>
                      <a:r>
                        <a:rPr lang="de-DE" sz="800" err="1"/>
                        <a:t>facing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layer</a:t>
                      </a:r>
                      <a:endParaRPr lang="de-DE" sz="800"/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In </a:t>
                      </a:r>
                      <a:r>
                        <a:rPr lang="de-DE" sz="800" err="1"/>
                        <a:t>scope</a:t>
                      </a:r>
                      <a:r>
                        <a:rPr lang="de-DE" sz="800"/>
                        <a:t> for </a:t>
                      </a:r>
                      <a:r>
                        <a:rPr lang="de-DE" sz="800" err="1"/>
                        <a:t>technical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metadata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feed</a:t>
                      </a:r>
                      <a:r>
                        <a:rPr lang="de-DE" sz="800"/>
                        <a:t>; not a </a:t>
                      </a:r>
                      <a:r>
                        <a:rPr lang="de-DE" sz="800" err="1"/>
                        <a:t>target</a:t>
                      </a:r>
                      <a:r>
                        <a:rPr lang="de-DE" sz="800"/>
                        <a:t> UI — </a:t>
                      </a:r>
                      <a:r>
                        <a:rPr lang="de-DE" sz="800" err="1"/>
                        <a:t>stays</a:t>
                      </a:r>
                      <a:r>
                        <a:rPr lang="de-DE" sz="800"/>
                        <a:t> backend source</a:t>
                      </a:r>
                    </a:p>
                  </a:txBody>
                  <a:tcPr marL="20235" marR="20235" marT="10118" marB="10118" anchor="ctr"/>
                </a:tc>
                <a:extLst>
                  <a:ext uri="{0D108BD9-81ED-4DB2-BD59-A6C34878D82A}">
                    <a16:rowId xmlns:a16="http://schemas.microsoft.com/office/drawing/2014/main" val="3173193080"/>
                  </a:ext>
                </a:extLst>
              </a:tr>
              <a:tr h="674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LeanIX / GEAR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Only receives a binary AI yes/no flag from UPTIMIZE today (deliberate, IT doesn't want more synced in); native "AI Agent Discovery" capability unexplored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Business-</a:t>
                      </a:r>
                      <a:r>
                        <a:rPr lang="de-DE" sz="800" err="1"/>
                        <a:t>capability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mapping</a:t>
                      </a:r>
                      <a:r>
                        <a:rPr lang="de-DE" sz="800"/>
                        <a:t>, </a:t>
                      </a:r>
                      <a:r>
                        <a:rPr lang="de-DE" sz="800" err="1"/>
                        <a:t>enterprise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architecture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context</a:t>
                      </a:r>
                      <a:r>
                        <a:rPr lang="de-DE" sz="800"/>
                        <a:t>, possible alternative to </a:t>
                      </a:r>
                      <a:r>
                        <a:rPr lang="de-DE" sz="800" err="1"/>
                        <a:t>custom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vendor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integrations</a:t>
                      </a:r>
                      <a:endParaRPr lang="de-DE" sz="800"/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In </a:t>
                      </a:r>
                      <a:r>
                        <a:rPr lang="de-DE" sz="800" err="1"/>
                        <a:t>scope</a:t>
                      </a:r>
                      <a:r>
                        <a:rPr lang="de-DE" sz="800"/>
                        <a:t> as a </a:t>
                      </a:r>
                      <a:r>
                        <a:rPr lang="de-DE" sz="800" err="1"/>
                        <a:t>context</a:t>
                      </a:r>
                      <a:r>
                        <a:rPr lang="de-DE" sz="800"/>
                        <a:t>/</a:t>
                      </a:r>
                      <a:r>
                        <a:rPr lang="de-DE" sz="800" err="1"/>
                        <a:t>discovery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feed</a:t>
                      </a:r>
                      <a:r>
                        <a:rPr lang="de-DE" sz="800"/>
                        <a:t>; </a:t>
                      </a:r>
                      <a:r>
                        <a:rPr lang="de-DE" sz="800" err="1"/>
                        <a:t>feasibility</a:t>
                      </a:r>
                      <a:r>
                        <a:rPr lang="de-DE" sz="800"/>
                        <a:t> of native AI Agent Discovery still an open </a:t>
                      </a:r>
                      <a:r>
                        <a:rPr lang="de-DE" sz="800" err="1"/>
                        <a:t>question</a:t>
                      </a:r>
                      <a:r>
                        <a:rPr lang="de-DE" sz="800"/>
                        <a:t>, not a </a:t>
                      </a:r>
                      <a:r>
                        <a:rPr lang="de-DE" sz="800" err="1"/>
                        <a:t>blocker</a:t>
                      </a:r>
                      <a:r>
                        <a:rPr lang="de-DE" sz="800"/>
                        <a:t> to MVP</a:t>
                      </a:r>
                    </a:p>
                  </a:txBody>
                  <a:tcPr marL="20235" marR="20235" marT="10118" marB="10118" anchor="ctr"/>
                </a:tc>
                <a:extLst>
                  <a:ext uri="{0D108BD9-81ED-4DB2-BD59-A6C34878D82A}">
                    <a16:rowId xmlns:a16="http://schemas.microsoft.com/office/drawing/2014/main" val="2608665438"/>
                  </a:ext>
                </a:extLst>
              </a:tr>
              <a:tr h="532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Salesforce (Agentforce)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Different DDIT organization; not currently visible to UPTIMIZE/MDAO team; mentioned as a known blind spot (Dominik, Olivier)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—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err="1"/>
                        <a:t>Parked</a:t>
                      </a:r>
                      <a:r>
                        <a:rPr lang="de-DE" sz="800"/>
                        <a:t> —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connector</a:t>
                      </a:r>
                      <a:r>
                        <a:rPr lang="de-DE" sz="800"/>
                        <a:t>,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owner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contact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yet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confirmed</a:t>
                      </a:r>
                      <a:r>
                        <a:rPr lang="de-DE" sz="800"/>
                        <a:t>, </a:t>
                      </a:r>
                      <a:r>
                        <a:rPr lang="de-DE" sz="800" err="1"/>
                        <a:t>unknown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volume</a:t>
                      </a:r>
                      <a:endParaRPr lang="de-DE" sz="800"/>
                    </a:p>
                  </a:txBody>
                  <a:tcPr marL="20235" marR="20235" marT="10118" marB="10118" anchor="ctr"/>
                </a:tc>
                <a:extLst>
                  <a:ext uri="{0D108BD9-81ED-4DB2-BD59-A6C34878D82A}">
                    <a16:rowId xmlns:a16="http://schemas.microsoft.com/office/drawing/2014/main" val="2981619771"/>
                  </a:ext>
                </a:extLst>
              </a:tr>
              <a:tr h="314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ServiceNow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AI capability exists, not integrated; explicitly named as a gap by Kristina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—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err="1"/>
                        <a:t>Parked</a:t>
                      </a:r>
                      <a:r>
                        <a:rPr lang="de-DE" sz="800"/>
                        <a:t> — same </a:t>
                      </a:r>
                      <a:r>
                        <a:rPr lang="de-DE" sz="800" err="1"/>
                        <a:t>reasoning</a:t>
                      </a:r>
                      <a:endParaRPr lang="de-DE" sz="800"/>
                    </a:p>
                  </a:txBody>
                  <a:tcPr marL="20235" marR="20235" marT="10118" marB="10118" anchor="ctr"/>
                </a:tc>
                <a:extLst>
                  <a:ext uri="{0D108BD9-81ED-4DB2-BD59-A6C34878D82A}">
                    <a16:rowId xmlns:a16="http://schemas.microsoft.com/office/drawing/2014/main" val="1520049261"/>
                  </a:ext>
                </a:extLst>
              </a:tr>
              <a:tr h="460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SAP Joule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Minimal engagement from Life Science platform team; "not calling in Mike's/Carsten's responsibility"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—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err="1"/>
                        <a:t>Parked</a:t>
                      </a:r>
                      <a:r>
                        <a:rPr lang="de-DE" sz="800"/>
                        <a:t> — low </a:t>
                      </a:r>
                      <a:r>
                        <a:rPr lang="de-DE" sz="800" err="1"/>
                        <a:t>confirmed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volume</a:t>
                      </a:r>
                      <a:r>
                        <a:rPr lang="de-DE" sz="800"/>
                        <a:t>, but </a:t>
                      </a:r>
                      <a:r>
                        <a:rPr lang="de-DE" sz="800" err="1"/>
                        <a:t>flag</a:t>
                      </a:r>
                      <a:r>
                        <a:rPr lang="de-DE" sz="800"/>
                        <a:t>: not </a:t>
                      </a:r>
                      <a:r>
                        <a:rPr lang="de-DE" sz="800" err="1"/>
                        <a:t>yet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risk-screened</a:t>
                      </a:r>
                      <a:r>
                        <a:rPr lang="de-DE" sz="800"/>
                        <a:t>, </a:t>
                      </a:r>
                      <a:r>
                        <a:rPr lang="de-DE" sz="800" err="1"/>
                        <a:t>revisit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if</a:t>
                      </a:r>
                      <a:r>
                        <a:rPr lang="de-DE" sz="800"/>
                        <a:t> a high-</a:t>
                      </a:r>
                      <a:r>
                        <a:rPr lang="de-DE" sz="800" err="1"/>
                        <a:t>risk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use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case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surfaces</a:t>
                      </a:r>
                      <a:endParaRPr lang="de-DE" sz="800"/>
                    </a:p>
                  </a:txBody>
                  <a:tcPr marL="20235" marR="20235" marT="10118" marB="10118" anchor="ctr"/>
                </a:tc>
                <a:extLst>
                  <a:ext uri="{0D108BD9-81ED-4DB2-BD59-A6C34878D82A}">
                    <a16:rowId xmlns:a16="http://schemas.microsoft.com/office/drawing/2014/main" val="4195960643"/>
                  </a:ext>
                </a:extLst>
              </a:tr>
              <a:tr h="314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UiPath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Named in original scope, but no interview evidence of active agent volume yet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—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err="1"/>
                        <a:t>Parked</a:t>
                      </a:r>
                      <a:r>
                        <a:rPr lang="de-DE" sz="800"/>
                        <a:t> — same </a:t>
                      </a:r>
                      <a:r>
                        <a:rPr lang="de-DE" sz="800" err="1"/>
                        <a:t>reasoning</a:t>
                      </a:r>
                      <a:r>
                        <a:rPr lang="de-DE" sz="800"/>
                        <a:t> as SAP Joule</a:t>
                      </a:r>
                    </a:p>
                  </a:txBody>
                  <a:tcPr marL="20235" marR="20235" marT="10118" marB="10118" anchor="ctr"/>
                </a:tc>
                <a:extLst>
                  <a:ext uri="{0D108BD9-81ED-4DB2-BD59-A6C34878D82A}">
                    <a16:rowId xmlns:a16="http://schemas.microsoft.com/office/drawing/2014/main" val="2637813559"/>
                  </a:ext>
                </a:extLst>
              </a:tr>
              <a:tr h="678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MS Copilot Studio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Business teams may build agents; governance path unclear (Gernot's and Kristina's open question: GEAR vs. UPTIMIZE, who owns flagging)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—</a:t>
                      </a:r>
                    </a:p>
                  </a:txBody>
                  <a:tcPr marL="20235" marR="20235" marT="10118" marB="101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err="1"/>
                        <a:t>Parked</a:t>
                      </a:r>
                      <a:r>
                        <a:rPr lang="de-DE" sz="800"/>
                        <a:t>, but </a:t>
                      </a:r>
                      <a:r>
                        <a:rPr lang="de-DE" sz="800" err="1"/>
                        <a:t>this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one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needs</a:t>
                      </a:r>
                      <a:r>
                        <a:rPr lang="de-DE" sz="800"/>
                        <a:t> a </a:t>
                      </a:r>
                      <a:r>
                        <a:rPr lang="de-DE" sz="800" err="1"/>
                        <a:t>one</a:t>
                      </a:r>
                      <a:r>
                        <a:rPr lang="de-DE" sz="800"/>
                        <a:t>-line caveat: </a:t>
                      </a:r>
                      <a:r>
                        <a:rPr lang="de-DE" sz="800" err="1"/>
                        <a:t>unlike</a:t>
                      </a:r>
                      <a:r>
                        <a:rPr lang="de-DE" sz="800"/>
                        <a:t> SAP Joule/</a:t>
                      </a:r>
                      <a:r>
                        <a:rPr lang="de-DE" sz="800" err="1"/>
                        <a:t>UiPath</a:t>
                      </a:r>
                      <a:r>
                        <a:rPr lang="de-DE" sz="800"/>
                        <a:t>, </a:t>
                      </a:r>
                      <a:r>
                        <a:rPr lang="de-DE" sz="800" err="1"/>
                        <a:t>this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is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parked</a:t>
                      </a:r>
                      <a:r>
                        <a:rPr lang="de-DE" sz="800"/>
                        <a:t> due to </a:t>
                      </a:r>
                      <a:r>
                        <a:rPr lang="de-DE" sz="800" err="1"/>
                        <a:t>unresolved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ownership</a:t>
                      </a:r>
                      <a:r>
                        <a:rPr lang="de-DE" sz="800"/>
                        <a:t>, not low </a:t>
                      </a:r>
                      <a:r>
                        <a:rPr lang="de-DE" sz="800" err="1"/>
                        <a:t>volume</a:t>
                      </a:r>
                      <a:r>
                        <a:rPr lang="de-DE" sz="800"/>
                        <a:t> — </a:t>
                      </a:r>
                      <a:r>
                        <a:rPr lang="de-DE" sz="800" err="1"/>
                        <a:t>don't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let</a:t>
                      </a:r>
                      <a:r>
                        <a:rPr lang="de-DE" sz="800"/>
                        <a:t> the </a:t>
                      </a:r>
                      <a:r>
                        <a:rPr lang="de-DE" sz="800" err="1"/>
                        <a:t>room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conflate</a:t>
                      </a:r>
                      <a:r>
                        <a:rPr lang="de-DE" sz="800"/>
                        <a:t> the </a:t>
                      </a:r>
                      <a:r>
                        <a:rPr lang="de-DE" sz="800" err="1"/>
                        <a:t>two</a:t>
                      </a:r>
                      <a:r>
                        <a:rPr lang="de-DE" sz="800"/>
                        <a:t> </a:t>
                      </a:r>
                      <a:r>
                        <a:rPr lang="de-DE" sz="800" err="1"/>
                        <a:t>reasons</a:t>
                      </a:r>
                      <a:endParaRPr lang="de-DE" sz="800"/>
                    </a:p>
                  </a:txBody>
                  <a:tcPr marL="20235" marR="20235" marT="10118" marB="10118" anchor="ctr"/>
                </a:tc>
                <a:extLst>
                  <a:ext uri="{0D108BD9-81ED-4DB2-BD59-A6C34878D82A}">
                    <a16:rowId xmlns:a16="http://schemas.microsoft.com/office/drawing/2014/main" val="2775143541"/>
                  </a:ext>
                </a:extLst>
              </a:tr>
              <a:tr h="678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HIVE (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Agentic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AI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Platform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Layer)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Live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since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late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Sept 2026 (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staggered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rollout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3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workflows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so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far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);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target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architecture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positions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the planned Hive Agent Store as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composed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of Integration Hub + UPTIMIZE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Agents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not a separate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registry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;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flag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mechanism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yet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exists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to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mark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 Hive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"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reusable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 —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publishing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manual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conscious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step by the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owner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not an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automatic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sync</a:t>
                      </a:r>
                      <a:endParaRPr lang="de-DE" sz="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Target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architecture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as the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forward-looking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frame for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where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Integration Hub/UPTIMIZE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Agents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are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heading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; the Agent Card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concept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below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as a possible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metadata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bundle</a:t>
                      </a:r>
                      <a:endParaRPr lang="de-DE" sz="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scope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for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target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state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; not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yet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queryable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—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confirmed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API/Swagger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extraction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path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exists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today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uncertain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even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to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Hive's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own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lead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likely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manual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/portal-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based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owner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upload</a:t>
                      </a:r>
                      <a:r>
                        <a:rPr lang="de-DE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initially</a:t>
                      </a:r>
                      <a:endParaRPr lang="de-DE" sz="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6195287"/>
                  </a:ext>
                </a:extLst>
              </a:tr>
            </a:tbl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002D740-664C-5978-884C-50B4B4CA174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F9B0DE-3FEB-4AA0-B465-B80EF7C1333D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EA78F2-7420-CB05-511B-F5D6C8E8E7F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10781724-37FC-6170-10FD-30077C0023A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1DC8993-8D2E-4DE0-9E9C-34605DBD02AA}" type="datetime1">
              <a:rPr lang="en-GB" smtClean="0"/>
              <a:t>07/10/2026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952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55D150-55CA-8909-41B0-49E7CED29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are we today?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0B9418-F4DE-68BC-CA6F-BC974B51339C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3744A0-18D2-70C0-B284-D01EFD6911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F9B0DE-3FEB-4AA0-B465-B80EF7C1333D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34652C-1496-C3EA-EDA6-570A54BC754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89C9CEB-1330-79A3-F1C0-3FC19B4704F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1DC8993-8D2E-4DE0-9E9C-34605DBD02AA}" type="datetime1">
              <a:rPr lang="en-GB" smtClean="0"/>
              <a:t>07/10/2026</a:t>
            </a:fld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4477DBD-AFD3-62D9-255B-F20D41F44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00" y="1124744"/>
            <a:ext cx="9504464" cy="534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108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E9934C-A65C-9A01-A5C4-797B0106C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29D612-C509-AE0D-D1F5-62BD6041D6C5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88BE54-2532-56B3-CAD4-506E299D2D3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F9B0DE-3FEB-4AA0-B465-B80EF7C1333D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9DA098-14D4-1944-1CDE-F9F0439582D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DB614763-B7D6-3DEC-A2AD-794A7E9D9F5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1DC8993-8D2E-4DE0-9E9C-34605DBD02AA}" type="datetime1">
              <a:rPr lang="en-GB" smtClean="0"/>
              <a:t>07/10/2026</a:t>
            </a:fld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66D0D61-89D2-60E8-C04E-0AC98FFCD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674" y="432481"/>
            <a:ext cx="10764013" cy="605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328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554807-85AF-7B48-2F8B-098B69828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AE77A0-C2F8-1106-AE62-40C096312DFF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0EF3069-12F2-480C-0CF5-33ACDE38631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F9B0DE-3FEB-4AA0-B465-B80EF7C1333D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F055A4-3550-A847-0808-8E125BF6106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302E40B-E5A6-5A49-1C54-3F724D4E15F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1DC8993-8D2E-4DE0-9E9C-34605DBD02AA}" type="datetime1">
              <a:rPr lang="en-GB" smtClean="0"/>
              <a:t>07/10/2026</a:t>
            </a:fld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B94CBDE-C6D7-DC7C-AFA5-255C34E12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23355"/>
            <a:ext cx="7772400" cy="581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80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F5A05C-A665-A902-2DD9-992314FFE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134D17-A2ED-FCA1-D994-B4F630F68F94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6B27FFF-A8DC-50E4-2534-EE6316E2D5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F9B0DE-3FEB-4AA0-B465-B80EF7C1333D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2EBF3F-DAF9-F34F-16A4-3D5DCF48525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0B0EE67C-BB1C-5CE6-7D49-EC029A5A47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1DC8993-8D2E-4DE0-9E9C-34605DBD02AA}" type="datetime1">
              <a:rPr lang="en-GB" smtClean="0"/>
              <a:t>07/10/2026</a:t>
            </a:fld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9D82E63-A91B-BD1B-AAAA-95114FC10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721" y="512332"/>
            <a:ext cx="10689188" cy="601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359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F7491F8-D23F-AEE4-B1FB-07C407A7048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F7491F8-D23F-AEE4-B1FB-07C407A704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D46751B9-9D99-5893-B147-DB8A945A6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What are the entry requirements? 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9B4E668-8773-469B-035C-E6A200C7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D642E3D-24B9-601E-4435-1DA899B47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14.09.26</a:t>
            </a:r>
            <a:endParaRPr lang="en-GB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D94CD37-2DFD-A81C-5AA0-D7DC6CC85114}"/>
              </a:ext>
            </a:extLst>
          </p:cNvPr>
          <p:cNvSpPr txBox="1"/>
          <p:nvPr/>
        </p:nvSpPr>
        <p:spPr>
          <a:xfrm>
            <a:off x="1060177" y="2493377"/>
            <a:ext cx="7503725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 fontAlgn="ctr">
              <a:buClr>
                <a:schemeClr val="bg1"/>
              </a:buClr>
              <a:buFont typeface="Fira Sans" panose="020B0503050000020004" pitchFamily="34" charset="0"/>
              <a:buChar char="&gt;"/>
            </a:pPr>
            <a:r>
              <a:rPr lang="en-US" sz="2000">
                <a:solidFill>
                  <a:schemeClr val="bg1"/>
                </a:solidFill>
              </a:rPr>
              <a:t>Are we going to include all agents in the repository?</a:t>
            </a:r>
          </a:p>
          <a:p>
            <a:pPr marL="180000" indent="-180000" fontAlgn="ctr">
              <a:buClr>
                <a:schemeClr val="bg1"/>
              </a:buClr>
              <a:buFont typeface="Fira Sans" panose="020B0503050000020004" pitchFamily="34" charset="0"/>
              <a:buChar char="&gt;"/>
            </a:pPr>
            <a:r>
              <a:rPr lang="en-US" sz="2000">
                <a:solidFill>
                  <a:schemeClr val="bg1"/>
                </a:solidFill>
              </a:rPr>
              <a:t>What should be the filters?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AD371D4-0090-3B99-2E3E-8249BA2474EF}"/>
              </a:ext>
            </a:extLst>
          </p:cNvPr>
          <p:cNvSpPr txBox="1"/>
          <p:nvPr/>
        </p:nvSpPr>
        <p:spPr>
          <a:xfrm>
            <a:off x="1133900" y="2097051"/>
            <a:ext cx="2497667" cy="32962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2000" b="1">
                <a:solidFill>
                  <a:schemeClr val="bg1"/>
                </a:solidFill>
              </a:rPr>
              <a:t>Central Questions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CD517F0E-17AC-0819-87E5-DB0806503EAC}"/>
              </a:ext>
            </a:extLst>
          </p:cNvPr>
          <p:cNvGrpSpPr/>
          <p:nvPr/>
        </p:nvGrpSpPr>
        <p:grpSpPr>
          <a:xfrm>
            <a:off x="7941977" y="512676"/>
            <a:ext cx="2616201" cy="1769715"/>
            <a:chOff x="1889092" y="3314236"/>
            <a:chExt cx="2616201" cy="1769715"/>
          </a:xfrm>
        </p:grpSpPr>
        <p:sp>
          <p:nvSpPr>
            <p:cNvPr id="13" name="Abgerundetes Rechteck 12">
              <a:extLst>
                <a:ext uri="{FF2B5EF4-FFF2-40B4-BE49-F238E27FC236}">
                  <a16:creationId xmlns:a16="http://schemas.microsoft.com/office/drawing/2014/main" id="{81BA9C1D-92E6-22AE-6F41-1AF9012A6A95}"/>
                </a:ext>
              </a:extLst>
            </p:cNvPr>
            <p:cNvSpPr/>
            <p:nvPr/>
          </p:nvSpPr>
          <p:spPr>
            <a:xfrm>
              <a:off x="2279576" y="3314236"/>
              <a:ext cx="1890300" cy="1769715"/>
            </a:xfrm>
            <a:prstGeom prst="roundRect">
              <a:avLst>
                <a:gd name="adj" fmla="val 7512"/>
              </a:avLst>
            </a:prstGeom>
            <a:solidFill>
              <a:schemeClr val="bg1">
                <a:alpha val="22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buClr>
                  <a:schemeClr val="bg1"/>
                </a:buClr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6B9631BE-6EAE-0DA0-B66A-27838F57C65C}"/>
                </a:ext>
              </a:extLst>
            </p:cNvPr>
            <p:cNvSpPr txBox="1"/>
            <p:nvPr/>
          </p:nvSpPr>
          <p:spPr>
            <a:xfrm>
              <a:off x="1889092" y="4581128"/>
              <a:ext cx="2616201" cy="347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BRAINSTORMING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CD5CDB3-AE54-DC88-7CA4-CF92F0A138AF}"/>
                </a:ext>
              </a:extLst>
            </p:cNvPr>
            <p:cNvSpPr/>
            <p:nvPr/>
          </p:nvSpPr>
          <p:spPr>
            <a:xfrm>
              <a:off x="2739994" y="3573016"/>
              <a:ext cx="914400" cy="914400"/>
            </a:xfrm>
            <a:prstGeom prst="ellipse">
              <a:avLst/>
            </a:prstGeom>
            <a:solidFill>
              <a:schemeClr val="tx2">
                <a:lumMod val="75000"/>
                <a:alpha val="50725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r>
                <a:rPr lang="en-US" sz="2800" b="1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F0BAB7E2-432F-589A-72F2-D7DC868346B9}"/>
              </a:ext>
            </a:extLst>
          </p:cNvPr>
          <p:cNvSpPr/>
          <p:nvPr/>
        </p:nvSpPr>
        <p:spPr>
          <a:xfrm>
            <a:off x="8342562" y="2434277"/>
            <a:ext cx="1855930" cy="1765314"/>
          </a:xfrm>
          <a:prstGeom prst="roundRect">
            <a:avLst>
              <a:gd name="adj" fmla="val 7512"/>
            </a:avLst>
          </a:prstGeom>
          <a:solidFill>
            <a:schemeClr val="bg1">
              <a:alpha val="22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4B84AD9-9DA2-576C-7ABC-B817CD27CE01}"/>
              </a:ext>
            </a:extLst>
          </p:cNvPr>
          <p:cNvSpPr txBox="1"/>
          <p:nvPr/>
        </p:nvSpPr>
        <p:spPr>
          <a:xfrm>
            <a:off x="8442435" y="3523534"/>
            <a:ext cx="1656183" cy="3471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PRIORITIZATION</a:t>
            </a:r>
          </a:p>
          <a:p>
            <a:pPr algn="ctr"/>
            <a:r>
              <a:rPr lang="en-US" sz="1050">
                <a:solidFill>
                  <a:schemeClr val="bg1"/>
                </a:solidFill>
              </a:rPr>
              <a:t>In scope / out of scope / parked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95B2739-ED4E-AD2E-5621-BE0607E98BFA}"/>
              </a:ext>
            </a:extLst>
          </p:cNvPr>
          <p:cNvSpPr/>
          <p:nvPr/>
        </p:nvSpPr>
        <p:spPr>
          <a:xfrm>
            <a:off x="8792877" y="2526088"/>
            <a:ext cx="914400" cy="914400"/>
          </a:xfrm>
          <a:prstGeom prst="ellipse">
            <a:avLst/>
          </a:prstGeom>
          <a:solidFill>
            <a:schemeClr val="tx2">
              <a:lumMod val="75000"/>
              <a:alpha val="50725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2800" b="1">
                <a:solidFill>
                  <a:schemeClr val="bg1"/>
                </a:solidFill>
              </a:rPr>
              <a:t>2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7644F00C-8DFD-E8AF-D765-D3B59522D3AB}"/>
              </a:ext>
            </a:extLst>
          </p:cNvPr>
          <p:cNvGrpSpPr/>
          <p:nvPr/>
        </p:nvGrpSpPr>
        <p:grpSpPr>
          <a:xfrm>
            <a:off x="7934887" y="4360169"/>
            <a:ext cx="2616202" cy="1765314"/>
            <a:chOff x="9068534" y="4415745"/>
            <a:chExt cx="2616202" cy="1765314"/>
          </a:xfrm>
        </p:grpSpPr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443A5078-03C4-A909-ECD6-8B832B23AA86}"/>
                </a:ext>
              </a:extLst>
            </p:cNvPr>
            <p:cNvSpPr txBox="1"/>
            <p:nvPr/>
          </p:nvSpPr>
          <p:spPr>
            <a:xfrm>
              <a:off x="9068534" y="5740810"/>
              <a:ext cx="2616202" cy="3471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COMPLEMENT</a:t>
              </a:r>
            </a:p>
          </p:txBody>
        </p: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8EEC877A-AE24-7952-38C2-BB7500DB3B99}"/>
                </a:ext>
              </a:extLst>
            </p:cNvPr>
            <p:cNvGrpSpPr/>
            <p:nvPr/>
          </p:nvGrpSpPr>
          <p:grpSpPr>
            <a:xfrm>
              <a:off x="9444850" y="4415745"/>
              <a:ext cx="1904467" cy="1765314"/>
              <a:chOff x="8398441" y="3314237"/>
              <a:chExt cx="1904467" cy="1765314"/>
            </a:xfrm>
          </p:grpSpPr>
          <p:sp>
            <p:nvSpPr>
              <p:cNvPr id="15" name="Abgerundetes Rechteck 14">
                <a:extLst>
                  <a:ext uri="{FF2B5EF4-FFF2-40B4-BE49-F238E27FC236}">
                    <a16:creationId xmlns:a16="http://schemas.microsoft.com/office/drawing/2014/main" id="{38EA9EE1-6041-D562-0D3B-E14A2CAE7577}"/>
                  </a:ext>
                </a:extLst>
              </p:cNvPr>
              <p:cNvSpPr/>
              <p:nvPr/>
            </p:nvSpPr>
            <p:spPr>
              <a:xfrm>
                <a:off x="8398441" y="3314237"/>
                <a:ext cx="1904467" cy="1765314"/>
              </a:xfrm>
              <a:prstGeom prst="roundRect">
                <a:avLst>
                  <a:gd name="adj" fmla="val 7512"/>
                </a:avLst>
              </a:prstGeom>
              <a:solidFill>
                <a:schemeClr val="bg1">
                  <a:alpha val="22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>
                  <a:buClr>
                    <a:schemeClr val="bg1"/>
                  </a:buClr>
                </a:pPr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896CDCF6-CC81-BF94-24E8-A0BE121CE064}"/>
                  </a:ext>
                </a:extLst>
              </p:cNvPr>
              <p:cNvSpPr/>
              <p:nvPr/>
            </p:nvSpPr>
            <p:spPr>
              <a:xfrm>
                <a:off x="8873026" y="3573016"/>
                <a:ext cx="914400" cy="914400"/>
              </a:xfrm>
              <a:prstGeom prst="ellipse">
                <a:avLst/>
              </a:prstGeom>
              <a:solidFill>
                <a:schemeClr val="tx2">
                  <a:lumMod val="75000"/>
                  <a:alpha val="50725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lang="en-US" sz="2800" b="1">
                    <a:solidFill>
                      <a:schemeClr val="bg1"/>
                    </a:solidFill>
                  </a:rPr>
                  <a:t>3</a:t>
                </a:r>
              </a:p>
            </p:txBody>
          </p:sp>
        </p:grpSp>
      </p:grpSp>
      <p:sp>
        <p:nvSpPr>
          <p:cNvPr id="27" name="Ziel">
            <a:extLst>
              <a:ext uri="{FF2B5EF4-FFF2-40B4-BE49-F238E27FC236}">
                <a16:creationId xmlns:a16="http://schemas.microsoft.com/office/drawing/2014/main" id="{0D3D31A6-4B99-E452-9F8A-C0275C2AC000}"/>
              </a:ext>
            </a:extLst>
          </p:cNvPr>
          <p:cNvSpPr/>
          <p:nvPr/>
        </p:nvSpPr>
        <p:spPr>
          <a:xfrm>
            <a:off x="1055687" y="3440488"/>
            <a:ext cx="5453084" cy="637162"/>
          </a:xfrm>
          <a:prstGeom prst="roundRect">
            <a:avLst>
              <a:gd name="adj" fmla="val 12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wrap="square" lIns="279400" tIns="76200" rIns="228600" bIns="76200" anchor="ctr"/>
          <a:lstStyle/>
          <a:p>
            <a:pPr algn="ctr"/>
            <a:r>
              <a:rPr lang="de-DE" sz="1500" b="1">
                <a:solidFill>
                  <a:srgbClr val="78E3A6"/>
                </a:solidFill>
              </a:rPr>
              <a:t>Goal: </a:t>
            </a:r>
            <a:r>
              <a:rPr lang="de-DE" sz="1500" b="1" err="1">
                <a:solidFill>
                  <a:schemeClr val="bg1"/>
                </a:solidFill>
              </a:rPr>
              <a:t>Align</a:t>
            </a:r>
            <a:r>
              <a:rPr lang="de-DE" sz="1500" b="1">
                <a:solidFill>
                  <a:schemeClr val="bg1"/>
                </a:solidFill>
              </a:rPr>
              <a:t> on the </a:t>
            </a:r>
            <a:r>
              <a:rPr lang="de-DE" sz="1500" b="1" err="1">
                <a:solidFill>
                  <a:schemeClr val="bg1"/>
                </a:solidFill>
              </a:rPr>
              <a:t>baseline</a:t>
            </a:r>
            <a:endParaRPr lang="de-DE" sz="1500">
              <a:solidFill>
                <a:schemeClr val="bg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6881CFB-5BD1-4287-1349-FB0B9C7F882D}"/>
              </a:ext>
            </a:extLst>
          </p:cNvPr>
          <p:cNvSpPr/>
          <p:nvPr/>
        </p:nvSpPr>
        <p:spPr>
          <a:xfrm>
            <a:off x="10983830" y="434512"/>
            <a:ext cx="864096" cy="792088"/>
          </a:xfrm>
          <a:prstGeom prst="ellipse">
            <a:avLst/>
          </a:prstGeom>
          <a:solidFill>
            <a:srgbClr val="FFFF0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744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4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8C69B-AE9C-4E9F-C2C5-A8A8D5BA3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EF5A9C1-F9C0-8CFD-8464-C804C283105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F5A9C1-F9C0-8CFD-8464-C804C28310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60CC8BFE-91D8-DCE3-7463-535323844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7" y="512676"/>
            <a:ext cx="9936857" cy="1080000"/>
          </a:xfrm>
        </p:spPr>
        <p:txBody>
          <a:bodyPr vert="horz" rIns="0"/>
          <a:lstStyle/>
          <a:p>
            <a:r>
              <a:rPr lang="en-US"/>
              <a:t>What governance requirements need to be fulfilled ? 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B72E4A7-9F4E-CA81-B717-C17146551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0FFDFFC-13DC-18CA-40BF-2D3A2EC59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14.09.26</a:t>
            </a:r>
            <a:endParaRPr lang="en-GB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CB6A7DA-8A8C-93EA-9B70-F96027AFB8A8}"/>
              </a:ext>
            </a:extLst>
          </p:cNvPr>
          <p:cNvSpPr txBox="1"/>
          <p:nvPr/>
        </p:nvSpPr>
        <p:spPr>
          <a:xfrm>
            <a:off x="3323648" y="1531945"/>
            <a:ext cx="2497667" cy="32962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2000" b="1">
                <a:solidFill>
                  <a:schemeClr val="bg1"/>
                </a:solidFill>
              </a:rPr>
              <a:t>Central Areas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E46ACF8C-059A-F280-4006-2D506636D166}"/>
              </a:ext>
            </a:extLst>
          </p:cNvPr>
          <p:cNvSpPr/>
          <p:nvPr/>
        </p:nvSpPr>
        <p:spPr>
          <a:xfrm>
            <a:off x="3143672" y="1951022"/>
            <a:ext cx="1890300" cy="1769715"/>
          </a:xfrm>
          <a:prstGeom prst="roundRect">
            <a:avLst>
              <a:gd name="adj" fmla="val 7512"/>
            </a:avLst>
          </a:prstGeom>
          <a:solidFill>
            <a:schemeClr val="bg1">
              <a:alpha val="22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2508DAC-51B4-A924-36D3-0A1717E1BE03}"/>
              </a:ext>
            </a:extLst>
          </p:cNvPr>
          <p:cNvSpPr txBox="1"/>
          <p:nvPr/>
        </p:nvSpPr>
        <p:spPr>
          <a:xfrm>
            <a:off x="3229459" y="2734530"/>
            <a:ext cx="1710324" cy="3471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Ownership</a:t>
            </a:r>
          </a:p>
          <a:p>
            <a:pPr algn="ctr"/>
            <a:r>
              <a:rPr lang="de-DE" sz="1100">
                <a:solidFill>
                  <a:schemeClr val="bg1"/>
                </a:solidFill>
              </a:rPr>
              <a:t>Who's </a:t>
            </a:r>
            <a:r>
              <a:rPr lang="de-DE" sz="1100" err="1">
                <a:solidFill>
                  <a:schemeClr val="bg1"/>
                </a:solidFill>
              </a:rPr>
              <a:t>accountable</a:t>
            </a:r>
            <a:r>
              <a:rPr lang="de-DE" sz="1100">
                <a:solidFill>
                  <a:schemeClr val="bg1"/>
                </a:solidFill>
              </a:rPr>
              <a:t>? </a:t>
            </a:r>
            <a:r>
              <a:rPr lang="de-DE" sz="1100" err="1">
                <a:solidFill>
                  <a:schemeClr val="bg1"/>
                </a:solidFill>
              </a:rPr>
              <a:t>Which</a:t>
            </a:r>
            <a:r>
              <a:rPr lang="de-DE" sz="1100">
                <a:solidFill>
                  <a:schemeClr val="bg1"/>
                </a:solidFill>
              </a:rPr>
              <a:t> </a:t>
            </a:r>
            <a:r>
              <a:rPr lang="de-DE" sz="1100" err="1">
                <a:solidFill>
                  <a:schemeClr val="bg1"/>
                </a:solidFill>
              </a:rPr>
              <a:t>accountability</a:t>
            </a:r>
            <a:r>
              <a:rPr lang="de-DE" sz="1100">
                <a:solidFill>
                  <a:schemeClr val="bg1"/>
                </a:solidFill>
              </a:rPr>
              <a:t> </a:t>
            </a:r>
            <a:r>
              <a:rPr lang="de-DE" sz="1100" err="1">
                <a:solidFill>
                  <a:schemeClr val="bg1"/>
                </a:solidFill>
              </a:rPr>
              <a:t>does</a:t>
            </a:r>
            <a:r>
              <a:rPr lang="de-DE" sz="1100">
                <a:solidFill>
                  <a:schemeClr val="bg1"/>
                </a:solidFill>
              </a:rPr>
              <a:t> it </a:t>
            </a:r>
            <a:r>
              <a:rPr lang="de-DE" sz="1100" err="1">
                <a:solidFill>
                  <a:schemeClr val="bg1"/>
                </a:solidFill>
              </a:rPr>
              <a:t>take</a:t>
            </a:r>
            <a:r>
              <a:rPr lang="de-DE" sz="1100">
                <a:solidFill>
                  <a:schemeClr val="bg1"/>
                </a:solidFill>
              </a:rPr>
              <a:t>?</a:t>
            </a:r>
            <a:endParaRPr lang="en-US" sz="1100" b="1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D082973-7995-704E-7C23-F6551183799A}"/>
              </a:ext>
            </a:extLst>
          </p:cNvPr>
          <p:cNvSpPr/>
          <p:nvPr/>
        </p:nvSpPr>
        <p:spPr>
          <a:xfrm>
            <a:off x="3773256" y="2098693"/>
            <a:ext cx="576064" cy="565465"/>
          </a:xfrm>
          <a:prstGeom prst="ellipse">
            <a:avLst/>
          </a:prstGeom>
          <a:solidFill>
            <a:schemeClr val="tx2">
              <a:lumMod val="75000"/>
              <a:alpha val="50725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9" name="Fußzeilenplatzhalter 3">
            <a:extLst>
              <a:ext uri="{FF2B5EF4-FFF2-40B4-BE49-F238E27FC236}">
                <a16:creationId xmlns:a16="http://schemas.microsoft.com/office/drawing/2014/main" id="{1BA1739B-B759-7460-2B11-B3B4953AA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55687" y="6453000"/>
            <a:ext cx="4968000" cy="144000"/>
          </a:xfrm>
        </p:spPr>
        <p:txBody>
          <a:bodyPr/>
          <a:lstStyle/>
          <a:p>
            <a:r>
              <a:rPr lang="en-GB"/>
              <a:t>AXA Data Ingestion Layer Kick-Off 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A3DDC592-27C6-7CF5-54FB-E6C7DFC0D4F3}"/>
              </a:ext>
            </a:extLst>
          </p:cNvPr>
          <p:cNvSpPr/>
          <p:nvPr/>
        </p:nvSpPr>
        <p:spPr>
          <a:xfrm>
            <a:off x="5261500" y="1951022"/>
            <a:ext cx="1890300" cy="1769715"/>
          </a:xfrm>
          <a:prstGeom prst="roundRect">
            <a:avLst>
              <a:gd name="adj" fmla="val 7512"/>
            </a:avLst>
          </a:prstGeom>
          <a:solidFill>
            <a:schemeClr val="bg1">
              <a:alpha val="22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0F06EFE1-9B83-8A20-2D9A-B312CFB205B4}"/>
              </a:ext>
            </a:extLst>
          </p:cNvPr>
          <p:cNvSpPr txBox="1"/>
          <p:nvPr/>
        </p:nvSpPr>
        <p:spPr>
          <a:xfrm>
            <a:off x="5347287" y="2734530"/>
            <a:ext cx="1710324" cy="8384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Risk Classification</a:t>
            </a:r>
          </a:p>
          <a:p>
            <a:pPr algn="ctr"/>
            <a:r>
              <a:rPr lang="de-DE" sz="1100">
                <a:solidFill>
                  <a:schemeClr val="bg1"/>
                </a:solidFill>
              </a:rPr>
              <a:t>Agent- </a:t>
            </a:r>
            <a:r>
              <a:rPr lang="de-DE" sz="1100" err="1">
                <a:solidFill>
                  <a:schemeClr val="bg1"/>
                </a:solidFill>
              </a:rPr>
              <a:t>or</a:t>
            </a:r>
            <a:r>
              <a:rPr lang="de-DE" sz="1100">
                <a:solidFill>
                  <a:schemeClr val="bg1"/>
                </a:solidFill>
              </a:rPr>
              <a:t> </a:t>
            </a:r>
            <a:r>
              <a:rPr lang="de-DE" sz="1100" err="1">
                <a:solidFill>
                  <a:schemeClr val="bg1"/>
                </a:solidFill>
              </a:rPr>
              <a:t>use</a:t>
            </a:r>
            <a:r>
              <a:rPr lang="de-DE" sz="1100">
                <a:solidFill>
                  <a:schemeClr val="bg1"/>
                </a:solidFill>
              </a:rPr>
              <a:t>-</a:t>
            </a:r>
            <a:r>
              <a:rPr lang="de-DE" sz="1100" err="1">
                <a:solidFill>
                  <a:schemeClr val="bg1"/>
                </a:solidFill>
              </a:rPr>
              <a:t>case</a:t>
            </a:r>
            <a:r>
              <a:rPr lang="de-DE" sz="1100">
                <a:solidFill>
                  <a:schemeClr val="bg1"/>
                </a:solidFill>
              </a:rPr>
              <a:t>-level? Does a sub-agent </a:t>
            </a:r>
            <a:r>
              <a:rPr lang="de-DE" sz="1100" err="1">
                <a:solidFill>
                  <a:schemeClr val="bg1"/>
                </a:solidFill>
              </a:rPr>
              <a:t>inherit</a:t>
            </a:r>
            <a:r>
              <a:rPr lang="de-DE" sz="1100">
                <a:solidFill>
                  <a:schemeClr val="bg1"/>
                </a:solidFill>
              </a:rPr>
              <a:t> it? + GXP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32CC1D5-A16F-801C-8AAE-A777590FC421}"/>
              </a:ext>
            </a:extLst>
          </p:cNvPr>
          <p:cNvSpPr/>
          <p:nvPr/>
        </p:nvSpPr>
        <p:spPr>
          <a:xfrm>
            <a:off x="5891084" y="2098693"/>
            <a:ext cx="576064" cy="565465"/>
          </a:xfrm>
          <a:prstGeom prst="ellipse">
            <a:avLst/>
          </a:prstGeom>
          <a:solidFill>
            <a:schemeClr val="tx2">
              <a:lumMod val="75000"/>
              <a:alpha val="50725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24" name="Abgerundetes Rechteck 23">
            <a:extLst>
              <a:ext uri="{FF2B5EF4-FFF2-40B4-BE49-F238E27FC236}">
                <a16:creationId xmlns:a16="http://schemas.microsoft.com/office/drawing/2014/main" id="{5B91E9A7-EB7F-FC4E-ED77-D853AFE42D1F}"/>
              </a:ext>
            </a:extLst>
          </p:cNvPr>
          <p:cNvSpPr/>
          <p:nvPr/>
        </p:nvSpPr>
        <p:spPr>
          <a:xfrm>
            <a:off x="7379328" y="1962271"/>
            <a:ext cx="1890300" cy="1769715"/>
          </a:xfrm>
          <a:prstGeom prst="roundRect">
            <a:avLst>
              <a:gd name="adj" fmla="val 7512"/>
            </a:avLst>
          </a:prstGeom>
          <a:solidFill>
            <a:schemeClr val="bg1">
              <a:alpha val="22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F6F0D54D-47F0-987E-B3FE-10049510CBB5}"/>
              </a:ext>
            </a:extLst>
          </p:cNvPr>
          <p:cNvSpPr txBox="1"/>
          <p:nvPr/>
        </p:nvSpPr>
        <p:spPr>
          <a:xfrm>
            <a:off x="7465115" y="2745779"/>
            <a:ext cx="1710324" cy="683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Lifecycle</a:t>
            </a:r>
          </a:p>
          <a:p>
            <a:pPr algn="ctr"/>
            <a:r>
              <a:rPr lang="de-DE" sz="1100" err="1">
                <a:solidFill>
                  <a:schemeClr val="bg1"/>
                </a:solidFill>
              </a:rPr>
              <a:t>Versioning</a:t>
            </a:r>
            <a:r>
              <a:rPr lang="de-DE" sz="1100">
                <a:solidFill>
                  <a:schemeClr val="bg1"/>
                </a:solidFill>
              </a:rPr>
              <a:t>, </a:t>
            </a:r>
            <a:r>
              <a:rPr lang="de-DE" sz="1100" err="1">
                <a:solidFill>
                  <a:schemeClr val="bg1"/>
                </a:solidFill>
              </a:rPr>
              <a:t>re-assessment</a:t>
            </a:r>
            <a:r>
              <a:rPr lang="de-DE" sz="1100">
                <a:solidFill>
                  <a:schemeClr val="bg1"/>
                </a:solidFill>
              </a:rPr>
              <a:t> </a:t>
            </a:r>
            <a:r>
              <a:rPr lang="de-DE" sz="1100" err="1">
                <a:solidFill>
                  <a:schemeClr val="bg1"/>
                </a:solidFill>
              </a:rPr>
              <a:t>trigger</a:t>
            </a:r>
            <a:r>
              <a:rPr lang="de-DE" sz="1100">
                <a:solidFill>
                  <a:schemeClr val="bg1"/>
                </a:solidFill>
              </a:rPr>
              <a:t>, </a:t>
            </a:r>
            <a:r>
              <a:rPr lang="de-DE" sz="1100" err="1">
                <a:solidFill>
                  <a:schemeClr val="bg1"/>
                </a:solidFill>
              </a:rPr>
              <a:t>use</a:t>
            </a:r>
            <a:r>
              <a:rPr lang="de-DE" sz="1100">
                <a:solidFill>
                  <a:schemeClr val="bg1"/>
                </a:solidFill>
              </a:rPr>
              <a:t> </a:t>
            </a:r>
            <a:r>
              <a:rPr lang="de-DE" sz="1100" err="1">
                <a:solidFill>
                  <a:schemeClr val="bg1"/>
                </a:solidFill>
              </a:rPr>
              <a:t>case</a:t>
            </a:r>
            <a:r>
              <a:rPr lang="de-DE" sz="1100">
                <a:solidFill>
                  <a:schemeClr val="bg1"/>
                </a:solidFill>
              </a:rPr>
              <a:t> </a:t>
            </a:r>
            <a:r>
              <a:rPr lang="de-DE" sz="1100" err="1">
                <a:solidFill>
                  <a:schemeClr val="bg1"/>
                </a:solidFill>
              </a:rPr>
              <a:t>lifecycle</a:t>
            </a:r>
            <a:r>
              <a:rPr lang="de-DE" sz="1100">
                <a:solidFill>
                  <a:schemeClr val="bg1"/>
                </a:solidFill>
              </a:rPr>
              <a:t>?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B920680-7677-19DF-15B8-B2A4571DF743}"/>
              </a:ext>
            </a:extLst>
          </p:cNvPr>
          <p:cNvSpPr/>
          <p:nvPr/>
        </p:nvSpPr>
        <p:spPr>
          <a:xfrm>
            <a:off x="8008912" y="2109942"/>
            <a:ext cx="576064" cy="565465"/>
          </a:xfrm>
          <a:prstGeom prst="ellipse">
            <a:avLst/>
          </a:prstGeom>
          <a:solidFill>
            <a:schemeClr val="tx2">
              <a:lumMod val="75000"/>
              <a:alpha val="50725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28" name="Abgerundetes Rechteck 27">
            <a:extLst>
              <a:ext uri="{FF2B5EF4-FFF2-40B4-BE49-F238E27FC236}">
                <a16:creationId xmlns:a16="http://schemas.microsoft.com/office/drawing/2014/main" id="{5E02684C-ABB1-1AD5-60B2-2CC061EF4D32}"/>
              </a:ext>
            </a:extLst>
          </p:cNvPr>
          <p:cNvSpPr/>
          <p:nvPr/>
        </p:nvSpPr>
        <p:spPr>
          <a:xfrm>
            <a:off x="3116179" y="3894028"/>
            <a:ext cx="1890300" cy="1769715"/>
          </a:xfrm>
          <a:prstGeom prst="roundRect">
            <a:avLst>
              <a:gd name="adj" fmla="val 7512"/>
            </a:avLst>
          </a:prstGeom>
          <a:solidFill>
            <a:schemeClr val="bg1">
              <a:alpha val="22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504920B4-2671-0830-BC21-1C4230A47733}"/>
              </a:ext>
            </a:extLst>
          </p:cNvPr>
          <p:cNvSpPr txBox="1"/>
          <p:nvPr/>
        </p:nvSpPr>
        <p:spPr>
          <a:xfrm>
            <a:off x="3201966" y="4677536"/>
            <a:ext cx="1710324" cy="64851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Trust</a:t>
            </a:r>
          </a:p>
          <a:p>
            <a:pPr algn="ctr"/>
            <a:r>
              <a:rPr lang="de-DE" sz="1100">
                <a:solidFill>
                  <a:schemeClr val="bg1"/>
                </a:solidFill>
              </a:rPr>
              <a:t>„Certified“, </a:t>
            </a:r>
            <a:r>
              <a:rPr lang="de-DE" sz="1100" err="1">
                <a:solidFill>
                  <a:schemeClr val="bg1"/>
                </a:solidFill>
              </a:rPr>
              <a:t>rating</a:t>
            </a:r>
            <a:r>
              <a:rPr lang="de-DE" sz="1100">
                <a:solidFill>
                  <a:schemeClr val="bg1"/>
                </a:solidFill>
              </a:rPr>
              <a:t>?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3D46323-4413-973C-66ED-7D7E28FB4ED6}"/>
              </a:ext>
            </a:extLst>
          </p:cNvPr>
          <p:cNvSpPr/>
          <p:nvPr/>
        </p:nvSpPr>
        <p:spPr>
          <a:xfrm>
            <a:off x="3745763" y="4041699"/>
            <a:ext cx="576064" cy="565465"/>
          </a:xfrm>
          <a:prstGeom prst="ellipse">
            <a:avLst/>
          </a:prstGeom>
          <a:solidFill>
            <a:schemeClr val="tx2">
              <a:lumMod val="75000"/>
              <a:alpha val="50725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31" name="Abgerundetes Rechteck 30">
            <a:extLst>
              <a:ext uri="{FF2B5EF4-FFF2-40B4-BE49-F238E27FC236}">
                <a16:creationId xmlns:a16="http://schemas.microsoft.com/office/drawing/2014/main" id="{A8CBBA71-B2B2-189D-5B2F-9215D16E78CD}"/>
              </a:ext>
            </a:extLst>
          </p:cNvPr>
          <p:cNvSpPr/>
          <p:nvPr/>
        </p:nvSpPr>
        <p:spPr>
          <a:xfrm>
            <a:off x="5261500" y="3905861"/>
            <a:ext cx="1890300" cy="1769715"/>
          </a:xfrm>
          <a:prstGeom prst="roundRect">
            <a:avLst>
              <a:gd name="adj" fmla="val 7512"/>
            </a:avLst>
          </a:prstGeom>
          <a:solidFill>
            <a:schemeClr val="bg1">
              <a:alpha val="22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1A5571E7-F140-0F41-61A1-2A959BC490E4}"/>
              </a:ext>
            </a:extLst>
          </p:cNvPr>
          <p:cNvSpPr txBox="1"/>
          <p:nvPr/>
        </p:nvSpPr>
        <p:spPr>
          <a:xfrm>
            <a:off x="5347287" y="4689369"/>
            <a:ext cx="1710324" cy="8278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Data in/out</a:t>
            </a:r>
          </a:p>
          <a:p>
            <a:pPr algn="ctr"/>
            <a:r>
              <a:rPr lang="de-DE" sz="1100">
                <a:solidFill>
                  <a:schemeClr val="bg1"/>
                </a:solidFill>
              </a:rPr>
              <a:t>Sources, </a:t>
            </a:r>
            <a:r>
              <a:rPr lang="de-DE" sz="1100" err="1">
                <a:solidFill>
                  <a:schemeClr val="bg1"/>
                </a:solidFill>
              </a:rPr>
              <a:t>sensitivity</a:t>
            </a:r>
            <a:r>
              <a:rPr lang="de-DE" sz="1100">
                <a:solidFill>
                  <a:schemeClr val="bg1"/>
                </a:solidFill>
              </a:rPr>
              <a:t>, </a:t>
            </a:r>
            <a:r>
              <a:rPr lang="de-DE" sz="1100" err="1">
                <a:solidFill>
                  <a:schemeClr val="bg1"/>
                </a:solidFill>
              </a:rPr>
              <a:t>lineage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F045D3E-267C-A56A-6C7F-03F2031EF01E}"/>
              </a:ext>
            </a:extLst>
          </p:cNvPr>
          <p:cNvSpPr/>
          <p:nvPr/>
        </p:nvSpPr>
        <p:spPr>
          <a:xfrm>
            <a:off x="5891084" y="4053532"/>
            <a:ext cx="576064" cy="565465"/>
          </a:xfrm>
          <a:prstGeom prst="ellipse">
            <a:avLst/>
          </a:prstGeom>
          <a:solidFill>
            <a:schemeClr val="tx2">
              <a:lumMod val="75000"/>
              <a:alpha val="50725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34" name="Abgerundetes Rechteck 33">
            <a:extLst>
              <a:ext uri="{FF2B5EF4-FFF2-40B4-BE49-F238E27FC236}">
                <a16:creationId xmlns:a16="http://schemas.microsoft.com/office/drawing/2014/main" id="{CEEE623B-4A9A-C867-6977-7AD5796D61BF}"/>
              </a:ext>
            </a:extLst>
          </p:cNvPr>
          <p:cNvSpPr/>
          <p:nvPr/>
        </p:nvSpPr>
        <p:spPr>
          <a:xfrm>
            <a:off x="7379328" y="3876420"/>
            <a:ext cx="1890300" cy="1769715"/>
          </a:xfrm>
          <a:prstGeom prst="roundRect">
            <a:avLst>
              <a:gd name="adj" fmla="val 7512"/>
            </a:avLst>
          </a:prstGeom>
          <a:solidFill>
            <a:schemeClr val="bg1">
              <a:alpha val="22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C24CCCF6-14EC-D17E-03AC-107291971383}"/>
              </a:ext>
            </a:extLst>
          </p:cNvPr>
          <p:cNvSpPr txBox="1"/>
          <p:nvPr/>
        </p:nvSpPr>
        <p:spPr>
          <a:xfrm>
            <a:off x="7465115" y="4659928"/>
            <a:ext cx="1710324" cy="8573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Access</a:t>
            </a:r>
          </a:p>
          <a:p>
            <a:pPr algn="ctr"/>
            <a:r>
              <a:rPr lang="de-DE" sz="1100">
                <a:solidFill>
                  <a:schemeClr val="bg1"/>
                </a:solidFill>
              </a:rPr>
              <a:t>Request / </a:t>
            </a:r>
            <a:r>
              <a:rPr lang="de-DE" sz="1100" err="1">
                <a:solidFill>
                  <a:schemeClr val="bg1"/>
                </a:solidFill>
              </a:rPr>
              <a:t>approval</a:t>
            </a:r>
            <a:r>
              <a:rPr lang="de-DE" sz="1100">
                <a:solidFill>
                  <a:schemeClr val="bg1"/>
                </a:solidFill>
              </a:rPr>
              <a:t> </a:t>
            </a:r>
            <a:r>
              <a:rPr lang="de-DE" sz="1100" err="1">
                <a:solidFill>
                  <a:schemeClr val="bg1"/>
                </a:solidFill>
              </a:rPr>
              <a:t>workflow</a:t>
            </a:r>
            <a:r>
              <a:rPr lang="de-DE" sz="1100">
                <a:solidFill>
                  <a:schemeClr val="bg1"/>
                </a:solidFill>
              </a:rPr>
              <a:t>; who </a:t>
            </a:r>
            <a:r>
              <a:rPr lang="de-DE" sz="1100" err="1">
                <a:solidFill>
                  <a:schemeClr val="bg1"/>
                </a:solidFill>
              </a:rPr>
              <a:t>gets</a:t>
            </a:r>
            <a:r>
              <a:rPr lang="de-DE" sz="1100">
                <a:solidFill>
                  <a:schemeClr val="bg1"/>
                </a:solidFill>
              </a:rPr>
              <a:t> to </a:t>
            </a:r>
            <a:r>
              <a:rPr lang="de-DE" sz="1100" err="1">
                <a:solidFill>
                  <a:schemeClr val="bg1"/>
                </a:solidFill>
              </a:rPr>
              <a:t>have</a:t>
            </a:r>
            <a:r>
              <a:rPr lang="de-DE" sz="1100">
                <a:solidFill>
                  <a:schemeClr val="bg1"/>
                </a:solidFill>
              </a:rPr>
              <a:t> </a:t>
            </a:r>
            <a:r>
              <a:rPr lang="de-DE" sz="1100" err="1">
                <a:solidFill>
                  <a:schemeClr val="bg1"/>
                </a:solidFill>
              </a:rPr>
              <a:t>access</a:t>
            </a:r>
            <a:r>
              <a:rPr lang="de-DE" sz="1100">
                <a:solidFill>
                  <a:schemeClr val="bg1"/>
                </a:solidFill>
              </a:rPr>
              <a:t> to </a:t>
            </a:r>
            <a:r>
              <a:rPr lang="de-DE" sz="1100" err="1">
                <a:solidFill>
                  <a:schemeClr val="bg1"/>
                </a:solidFill>
              </a:rPr>
              <a:t>what</a:t>
            </a:r>
            <a:r>
              <a:rPr lang="de-DE" sz="1100">
                <a:solidFill>
                  <a:schemeClr val="bg1"/>
                </a:solidFill>
              </a:rPr>
              <a:t>?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A9CB818-C9CD-9EF7-E338-C55AE7E4CB91}"/>
              </a:ext>
            </a:extLst>
          </p:cNvPr>
          <p:cNvSpPr/>
          <p:nvPr/>
        </p:nvSpPr>
        <p:spPr>
          <a:xfrm>
            <a:off x="8008912" y="4024091"/>
            <a:ext cx="576064" cy="565465"/>
          </a:xfrm>
          <a:prstGeom prst="ellipse">
            <a:avLst/>
          </a:prstGeom>
          <a:solidFill>
            <a:schemeClr val="tx2">
              <a:lumMod val="75000"/>
              <a:alpha val="50725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8847FEA-AF10-1C1C-497B-CD1022298DA4}"/>
              </a:ext>
            </a:extLst>
          </p:cNvPr>
          <p:cNvSpPr/>
          <p:nvPr/>
        </p:nvSpPr>
        <p:spPr>
          <a:xfrm>
            <a:off x="10776520" y="620688"/>
            <a:ext cx="864096" cy="792088"/>
          </a:xfrm>
          <a:prstGeom prst="ellipse">
            <a:avLst/>
          </a:prstGeom>
          <a:solidFill>
            <a:srgbClr val="FFFF0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>
                <a:schemeClr val="bg1"/>
              </a:buClr>
            </a:pP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891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4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04AEC8E7-27DD-35B9-CE21-9A2107E04EE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055687" y="512676"/>
            <a:ext cx="10728000" cy="1080000"/>
          </a:xfrm>
        </p:spPr>
        <p:txBody>
          <a:bodyPr/>
          <a:lstStyle/>
          <a:p>
            <a:r>
              <a:rPr lang="en-GB" noProof="0"/>
              <a:t>Three textboxes with conclusion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298448A-2B84-6721-0743-A5B74D23D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</p:spPr>
        <p:txBody>
          <a:bodyPr/>
          <a:lstStyle/>
          <a:p>
            <a:fld id="{8FF9B0DE-3FEB-4AA0-B465-B80EF7C1333D}" type="slidenum">
              <a:rPr lang="en-GB" noProof="0" smtClean="0"/>
              <a:pPr/>
              <a:t>17</a:t>
            </a:fld>
            <a:endParaRPr lang="en-GB" noProof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F25C841-647E-81E6-EE50-1D3C67C1B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055687" y="6453000"/>
            <a:ext cx="4968000" cy="144000"/>
          </a:xfrm>
        </p:spPr>
        <p:txBody>
          <a:bodyPr/>
          <a:lstStyle/>
          <a:p>
            <a:r>
              <a:rPr lang="en-GB" noProof="0"/>
              <a:t>adesso Powerpoint Library | Folienbibliothek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88503C31-181B-0CC8-C51B-DD850DD88AD5}"/>
              </a:ext>
            </a:extLst>
          </p:cNvPr>
          <p:cNvSpPr txBox="1">
            <a:spLocks/>
          </p:cNvSpPr>
          <p:nvPr/>
        </p:nvSpPr>
        <p:spPr bwMode="gray">
          <a:xfrm>
            <a:off x="1019252" y="1403684"/>
            <a:ext cx="3240335" cy="483362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Tx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2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GB" noProof="0">
                <a:solidFill>
                  <a:schemeClr val="bg1"/>
                </a:solidFill>
              </a:rPr>
              <a:t>Findings</a:t>
            </a:r>
          </a:p>
          <a:p>
            <a:pPr lvl="0"/>
            <a:r>
              <a:rPr lang="de-DE" sz="1200">
                <a:solidFill>
                  <a:schemeClr val="bg1"/>
                </a:solidFill>
              </a:rPr>
              <a:t>UPTIMIZE/Foundry Use Case AI </a:t>
            </a:r>
            <a:r>
              <a:rPr lang="de-DE" sz="1200" err="1">
                <a:solidFill>
                  <a:schemeClr val="bg1"/>
                </a:solidFill>
              </a:rPr>
              <a:t>assessment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is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already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mature</a:t>
            </a:r>
            <a:endParaRPr lang="de-DE" sz="1200">
              <a:solidFill>
                <a:schemeClr val="bg1"/>
              </a:solidFill>
            </a:endParaRPr>
          </a:p>
          <a:p>
            <a:pPr lvl="0"/>
            <a:r>
              <a:rPr lang="de-DE" sz="1200">
                <a:solidFill>
                  <a:schemeClr val="bg1"/>
                </a:solidFill>
              </a:rPr>
              <a:t>iHub </a:t>
            </a:r>
            <a:r>
              <a:rPr lang="de-DE" sz="1200" err="1">
                <a:solidFill>
                  <a:schemeClr val="bg1"/>
                </a:solidFill>
              </a:rPr>
              <a:t>registers</a:t>
            </a:r>
            <a:r>
              <a:rPr lang="de-DE" sz="1200">
                <a:solidFill>
                  <a:schemeClr val="bg1"/>
                </a:solidFill>
              </a:rPr>
              <a:t> MCPs/</a:t>
            </a:r>
            <a:r>
              <a:rPr lang="de-DE" sz="1200" err="1">
                <a:solidFill>
                  <a:schemeClr val="bg1"/>
                </a:solidFill>
              </a:rPr>
              <a:t>agents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technically</a:t>
            </a:r>
            <a:r>
              <a:rPr lang="de-DE" sz="1200">
                <a:solidFill>
                  <a:schemeClr val="bg1"/>
                </a:solidFill>
              </a:rPr>
              <a:t>, </a:t>
            </a:r>
            <a:r>
              <a:rPr lang="de-DE" sz="1200" b="1" err="1">
                <a:solidFill>
                  <a:schemeClr val="bg1"/>
                </a:solidFill>
              </a:rPr>
              <a:t>with</a:t>
            </a:r>
            <a:r>
              <a:rPr lang="de-DE" sz="1200" b="1">
                <a:solidFill>
                  <a:schemeClr val="bg1"/>
                </a:solidFill>
              </a:rPr>
              <a:t> </a:t>
            </a:r>
            <a:r>
              <a:rPr lang="de-DE" sz="1200" b="1" err="1">
                <a:solidFill>
                  <a:schemeClr val="bg1"/>
                </a:solidFill>
              </a:rPr>
              <a:t>no</a:t>
            </a:r>
            <a:r>
              <a:rPr lang="de-DE" sz="1200" b="1">
                <a:solidFill>
                  <a:schemeClr val="bg1"/>
                </a:solidFill>
              </a:rPr>
              <a:t> </a:t>
            </a:r>
            <a:r>
              <a:rPr lang="de-DE" sz="1200" b="1" err="1">
                <a:solidFill>
                  <a:schemeClr val="bg1"/>
                </a:solidFill>
              </a:rPr>
              <a:t>automatic</a:t>
            </a:r>
            <a:r>
              <a:rPr lang="de-DE" sz="1200" b="1">
                <a:solidFill>
                  <a:schemeClr val="bg1"/>
                </a:solidFill>
              </a:rPr>
              <a:t> link to the Use Case</a:t>
            </a:r>
            <a:r>
              <a:rPr lang="de-DE" sz="1200">
                <a:solidFill>
                  <a:schemeClr val="bg1"/>
                </a:solidFill>
              </a:rPr>
              <a:t> – </a:t>
            </a:r>
            <a:r>
              <a:rPr lang="de-DE" sz="1200" err="1">
                <a:solidFill>
                  <a:schemeClr val="bg1"/>
                </a:solidFill>
              </a:rPr>
              <a:t>that</a:t>
            </a:r>
            <a:r>
              <a:rPr lang="de-DE" sz="1200">
                <a:solidFill>
                  <a:schemeClr val="bg1"/>
                </a:solidFill>
              </a:rPr>
              <a:t> link </a:t>
            </a:r>
            <a:r>
              <a:rPr lang="de-DE" sz="1200" err="1">
                <a:solidFill>
                  <a:schemeClr val="bg1"/>
                </a:solidFill>
              </a:rPr>
              <a:t>happens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separately</a:t>
            </a:r>
            <a:r>
              <a:rPr lang="de-DE" sz="1200">
                <a:solidFill>
                  <a:schemeClr val="bg1"/>
                </a:solidFill>
              </a:rPr>
              <a:t> in Foundry as an "</a:t>
            </a:r>
            <a:r>
              <a:rPr lang="de-DE" sz="1200" err="1">
                <a:solidFill>
                  <a:schemeClr val="bg1"/>
                </a:solidFill>
              </a:rPr>
              <a:t>outcome</a:t>
            </a:r>
            <a:r>
              <a:rPr lang="de-DE" sz="1200">
                <a:solidFill>
                  <a:schemeClr val="bg1"/>
                </a:solidFill>
              </a:rPr>
              <a:t>."</a:t>
            </a:r>
          </a:p>
          <a:p>
            <a:pPr lvl="0"/>
            <a:r>
              <a:rPr lang="de-DE" sz="1200" err="1">
                <a:solidFill>
                  <a:schemeClr val="bg1"/>
                </a:solidFill>
              </a:rPr>
              <a:t>myGPT</a:t>
            </a:r>
            <a:r>
              <a:rPr lang="de-DE" sz="1200">
                <a:solidFill>
                  <a:schemeClr val="bg1"/>
                </a:solidFill>
              </a:rPr>
              <a:t>: ~10,334 total </a:t>
            </a:r>
            <a:r>
              <a:rPr lang="de-DE" sz="1200" err="1">
                <a:solidFill>
                  <a:schemeClr val="bg1"/>
                </a:solidFill>
              </a:rPr>
              <a:t>agents</a:t>
            </a:r>
            <a:r>
              <a:rPr lang="de-DE" sz="1200">
                <a:solidFill>
                  <a:schemeClr val="bg1"/>
                </a:solidFill>
              </a:rPr>
              <a:t>, </a:t>
            </a:r>
            <a:r>
              <a:rPr lang="de-DE" sz="1200" err="1">
                <a:solidFill>
                  <a:schemeClr val="bg1"/>
                </a:solidFill>
              </a:rPr>
              <a:t>only</a:t>
            </a:r>
            <a:r>
              <a:rPr lang="de-DE" sz="1200">
                <a:solidFill>
                  <a:schemeClr val="bg1"/>
                </a:solidFill>
              </a:rPr>
              <a:t> ~200 </a:t>
            </a:r>
            <a:r>
              <a:rPr lang="de-DE" sz="1200" err="1">
                <a:solidFill>
                  <a:schemeClr val="bg1"/>
                </a:solidFill>
              </a:rPr>
              <a:t>with</a:t>
            </a:r>
            <a:r>
              <a:rPr lang="de-DE" sz="1200">
                <a:solidFill>
                  <a:schemeClr val="bg1"/>
                </a:solidFill>
              </a:rPr>
              <a:t> a Use Case </a:t>
            </a:r>
            <a:r>
              <a:rPr lang="de-DE" sz="1200" err="1">
                <a:solidFill>
                  <a:schemeClr val="bg1"/>
                </a:solidFill>
              </a:rPr>
              <a:t>attached</a:t>
            </a:r>
            <a:r>
              <a:rPr lang="de-DE" sz="1200">
                <a:solidFill>
                  <a:schemeClr val="bg1"/>
                </a:solidFill>
              </a:rPr>
              <a:t> (&lt;2%) – the </a:t>
            </a:r>
            <a:r>
              <a:rPr lang="de-DE" sz="1200" err="1">
                <a:solidFill>
                  <a:schemeClr val="bg1"/>
                </a:solidFill>
              </a:rPr>
              <a:t>vast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majority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is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effectively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ungoverned</a:t>
            </a:r>
            <a:endParaRPr lang="de-DE" sz="1200">
              <a:solidFill>
                <a:schemeClr val="bg1"/>
              </a:solidFill>
            </a:endParaRPr>
          </a:p>
          <a:p>
            <a:pPr lvl="0"/>
            <a:r>
              <a:rPr lang="de-DE" sz="1200" err="1">
                <a:solidFill>
                  <a:schemeClr val="bg1"/>
                </a:solidFill>
              </a:rPr>
              <a:t>LeanIX</a:t>
            </a:r>
            <a:r>
              <a:rPr lang="de-DE" sz="1200">
                <a:solidFill>
                  <a:schemeClr val="bg1"/>
                </a:solidFill>
              </a:rPr>
              <a:t>/GEAR </a:t>
            </a:r>
            <a:r>
              <a:rPr lang="de-DE" sz="1200" err="1">
                <a:solidFill>
                  <a:schemeClr val="bg1"/>
                </a:solidFill>
              </a:rPr>
              <a:t>holds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only</a:t>
            </a:r>
            <a:r>
              <a:rPr lang="de-DE" sz="1200">
                <a:solidFill>
                  <a:schemeClr val="bg1"/>
                </a:solidFill>
              </a:rPr>
              <a:t> the bare AI </a:t>
            </a:r>
            <a:r>
              <a:rPr lang="de-DE" sz="1200" err="1">
                <a:solidFill>
                  <a:schemeClr val="bg1"/>
                </a:solidFill>
              </a:rPr>
              <a:t>flag</a:t>
            </a:r>
            <a:r>
              <a:rPr lang="de-DE" sz="1200">
                <a:solidFill>
                  <a:schemeClr val="bg1"/>
                </a:solidFill>
              </a:rPr>
              <a:t>, </a:t>
            </a:r>
            <a:r>
              <a:rPr lang="de-DE" sz="1200" err="1">
                <a:solidFill>
                  <a:schemeClr val="bg1"/>
                </a:solidFill>
              </a:rPr>
              <a:t>nothing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deeper</a:t>
            </a:r>
            <a:endParaRPr lang="de-DE" sz="1200">
              <a:solidFill>
                <a:schemeClr val="bg1"/>
              </a:solidFill>
            </a:endParaRPr>
          </a:p>
          <a:p>
            <a:pPr lvl="0"/>
            <a:r>
              <a:rPr lang="de-DE" sz="1200">
                <a:solidFill>
                  <a:schemeClr val="bg1"/>
                </a:solidFill>
              </a:rPr>
              <a:t>Vendor </a:t>
            </a:r>
            <a:r>
              <a:rPr lang="de-DE" sz="1200" err="1">
                <a:solidFill>
                  <a:schemeClr val="bg1"/>
                </a:solidFill>
              </a:rPr>
              <a:t>platforms</a:t>
            </a:r>
            <a:r>
              <a:rPr lang="de-DE" sz="1200">
                <a:solidFill>
                  <a:schemeClr val="bg1"/>
                </a:solidFill>
              </a:rPr>
              <a:t> (ServiceNow, Salesforce, SAP Joule, Copilot) </a:t>
            </a:r>
            <a:r>
              <a:rPr lang="de-DE" sz="1200" err="1">
                <a:solidFill>
                  <a:schemeClr val="bg1"/>
                </a:solidFill>
              </a:rPr>
              <a:t>are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practically</a:t>
            </a:r>
            <a:r>
              <a:rPr lang="de-DE" sz="1200">
                <a:solidFill>
                  <a:schemeClr val="bg1"/>
                </a:solidFill>
              </a:rPr>
              <a:t> invisible </a:t>
            </a:r>
            <a:r>
              <a:rPr lang="de-DE" sz="1200" err="1">
                <a:solidFill>
                  <a:schemeClr val="bg1"/>
                </a:solidFill>
              </a:rPr>
              <a:t>from</a:t>
            </a:r>
            <a:r>
              <a:rPr lang="de-DE" sz="1200">
                <a:solidFill>
                  <a:schemeClr val="bg1"/>
                </a:solidFill>
              </a:rPr>
              <a:t> a </a:t>
            </a:r>
            <a:r>
              <a:rPr lang="de-DE" sz="1200" err="1">
                <a:solidFill>
                  <a:schemeClr val="bg1"/>
                </a:solidFill>
              </a:rPr>
              <a:t>governance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standpoint</a:t>
            </a:r>
            <a:r>
              <a:rPr lang="de-DE" sz="120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8684651-4F46-5BB2-9657-BBE067B3A101}"/>
              </a:ext>
            </a:extLst>
          </p:cNvPr>
          <p:cNvSpPr txBox="1">
            <a:spLocks/>
          </p:cNvSpPr>
          <p:nvPr/>
        </p:nvSpPr>
        <p:spPr bwMode="gray">
          <a:xfrm>
            <a:off x="4763694" y="1403684"/>
            <a:ext cx="3240335" cy="468961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Tx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2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GB" noProof="0">
                <a:solidFill>
                  <a:schemeClr val="bg1"/>
                </a:solidFill>
              </a:rPr>
              <a:t>Pain Points</a:t>
            </a:r>
          </a:p>
          <a:p>
            <a:pPr lvl="0"/>
            <a:r>
              <a:rPr lang="de-DE" sz="1200">
                <a:solidFill>
                  <a:schemeClr val="bg1"/>
                </a:solidFill>
              </a:rPr>
              <a:t>Missing </a:t>
            </a:r>
            <a:r>
              <a:rPr lang="de-DE" sz="1200" err="1">
                <a:solidFill>
                  <a:schemeClr val="bg1"/>
                </a:solidFill>
              </a:rPr>
              <a:t>department</a:t>
            </a:r>
            <a:r>
              <a:rPr lang="de-DE" sz="1200">
                <a:solidFill>
                  <a:schemeClr val="bg1"/>
                </a:solidFill>
              </a:rPr>
              <a:t>/</a:t>
            </a:r>
            <a:r>
              <a:rPr lang="de-DE" sz="1200" err="1">
                <a:solidFill>
                  <a:schemeClr val="bg1"/>
                </a:solidFill>
              </a:rPr>
              <a:t>capability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mapping</a:t>
            </a:r>
            <a:r>
              <a:rPr lang="de-DE" sz="1200">
                <a:solidFill>
                  <a:schemeClr val="bg1"/>
                </a:solidFill>
              </a:rPr>
              <a:t> for </a:t>
            </a:r>
            <a:r>
              <a:rPr lang="de-DE" sz="1200" err="1">
                <a:solidFill>
                  <a:schemeClr val="bg1"/>
                </a:solidFill>
              </a:rPr>
              <a:t>myGPT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agents</a:t>
            </a:r>
            <a:r>
              <a:rPr lang="de-DE" sz="1200">
                <a:solidFill>
                  <a:schemeClr val="bg1"/>
                </a:solidFill>
              </a:rPr>
              <a:t> </a:t>
            </a:r>
          </a:p>
          <a:p>
            <a:pPr lvl="0"/>
            <a:r>
              <a:rPr lang="de-DE" sz="1200">
                <a:solidFill>
                  <a:schemeClr val="bg1"/>
                </a:solidFill>
              </a:rPr>
              <a:t>The </a:t>
            </a:r>
            <a:r>
              <a:rPr lang="de-DE" sz="1200" err="1">
                <a:solidFill>
                  <a:schemeClr val="bg1"/>
                </a:solidFill>
              </a:rPr>
              <a:t>technical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catalog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doesn't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answer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business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questions</a:t>
            </a:r>
            <a:r>
              <a:rPr lang="de-DE" sz="1200">
                <a:solidFill>
                  <a:schemeClr val="bg1"/>
                </a:solidFill>
              </a:rPr>
              <a:t> – </a:t>
            </a:r>
            <a:r>
              <a:rPr lang="de-DE" sz="1200" err="1">
                <a:solidFill>
                  <a:schemeClr val="bg1"/>
                </a:solidFill>
              </a:rPr>
              <a:t>risk</a:t>
            </a:r>
            <a:r>
              <a:rPr lang="de-DE" sz="1200">
                <a:solidFill>
                  <a:schemeClr val="bg1"/>
                </a:solidFill>
              </a:rPr>
              <a:t>, </a:t>
            </a:r>
            <a:r>
              <a:rPr lang="de-DE" sz="1200" err="1">
                <a:solidFill>
                  <a:schemeClr val="bg1"/>
                </a:solidFill>
              </a:rPr>
              <a:t>purpose</a:t>
            </a:r>
            <a:r>
              <a:rPr lang="de-DE" sz="1200">
                <a:solidFill>
                  <a:schemeClr val="bg1"/>
                </a:solidFill>
              </a:rPr>
              <a:t>, </a:t>
            </a:r>
            <a:r>
              <a:rPr lang="de-DE" sz="1200" err="1">
                <a:solidFill>
                  <a:schemeClr val="bg1"/>
                </a:solidFill>
              </a:rPr>
              <a:t>target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audience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are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missing</a:t>
            </a:r>
            <a:r>
              <a:rPr lang="de-DE" sz="1200">
                <a:solidFill>
                  <a:schemeClr val="bg1"/>
                </a:solidFill>
              </a:rPr>
              <a:t> </a:t>
            </a:r>
          </a:p>
          <a:p>
            <a:pPr lvl="0"/>
            <a:r>
              <a:rPr lang="de-DE" sz="1200" err="1">
                <a:solidFill>
                  <a:schemeClr val="bg1"/>
                </a:solidFill>
              </a:rPr>
              <a:t>Unclear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definition</a:t>
            </a:r>
            <a:r>
              <a:rPr lang="de-DE" sz="1200">
                <a:solidFill>
                  <a:schemeClr val="bg1"/>
                </a:solidFill>
              </a:rPr>
              <a:t> of "</a:t>
            </a:r>
            <a:r>
              <a:rPr lang="de-DE" sz="1200" err="1">
                <a:solidFill>
                  <a:schemeClr val="bg1"/>
                </a:solidFill>
              </a:rPr>
              <a:t>agent</a:t>
            </a:r>
            <a:r>
              <a:rPr lang="de-DE" sz="1200">
                <a:solidFill>
                  <a:schemeClr val="bg1"/>
                </a:solidFill>
              </a:rPr>
              <a:t>" </a:t>
            </a:r>
            <a:r>
              <a:rPr lang="de-DE" sz="1200" err="1">
                <a:solidFill>
                  <a:schemeClr val="bg1"/>
                </a:solidFill>
              </a:rPr>
              <a:t>undermines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consistent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governance</a:t>
            </a:r>
            <a:r>
              <a:rPr lang="de-DE" sz="1200">
                <a:solidFill>
                  <a:schemeClr val="bg1"/>
                </a:solidFill>
              </a:rPr>
              <a:t> </a:t>
            </a:r>
          </a:p>
          <a:p>
            <a:pPr lvl="0"/>
            <a:r>
              <a:rPr lang="de-DE" sz="1200">
                <a:solidFill>
                  <a:schemeClr val="bg1"/>
                </a:solidFill>
              </a:rPr>
              <a:t>Embedded/</a:t>
            </a:r>
            <a:r>
              <a:rPr lang="de-DE" sz="1200" err="1">
                <a:solidFill>
                  <a:schemeClr val="bg1"/>
                </a:solidFill>
              </a:rPr>
              <a:t>third</a:t>
            </a:r>
            <a:r>
              <a:rPr lang="de-DE" sz="1200">
                <a:solidFill>
                  <a:schemeClr val="bg1"/>
                </a:solidFill>
              </a:rPr>
              <a:t>-party </a:t>
            </a:r>
            <a:r>
              <a:rPr lang="de-DE" sz="1200" err="1">
                <a:solidFill>
                  <a:schemeClr val="bg1"/>
                </a:solidFill>
              </a:rPr>
              <a:t>agents</a:t>
            </a:r>
            <a:r>
              <a:rPr lang="de-DE" sz="1200">
                <a:solidFill>
                  <a:schemeClr val="bg1"/>
                </a:solidFill>
              </a:rPr>
              <a:t> (e.g., SAP Joule </a:t>
            </a:r>
            <a:r>
              <a:rPr lang="de-DE" sz="1200" err="1">
                <a:solidFill>
                  <a:schemeClr val="bg1"/>
                </a:solidFill>
              </a:rPr>
              <a:t>directly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inside</a:t>
            </a:r>
            <a:r>
              <a:rPr lang="de-DE" sz="1200">
                <a:solidFill>
                  <a:schemeClr val="bg1"/>
                </a:solidFill>
              </a:rPr>
              <a:t> the SAP UI) </a:t>
            </a:r>
            <a:r>
              <a:rPr lang="de-DE" sz="1200" err="1">
                <a:solidFill>
                  <a:schemeClr val="bg1"/>
                </a:solidFill>
              </a:rPr>
              <a:t>may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run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entirely</a:t>
            </a:r>
            <a:r>
              <a:rPr lang="de-DE" sz="1200">
                <a:solidFill>
                  <a:schemeClr val="bg1"/>
                </a:solidFill>
              </a:rPr>
              <a:t> outside </a:t>
            </a:r>
            <a:r>
              <a:rPr lang="de-DE" sz="1200" err="1">
                <a:solidFill>
                  <a:schemeClr val="bg1"/>
                </a:solidFill>
              </a:rPr>
              <a:t>myGPT</a:t>
            </a:r>
            <a:r>
              <a:rPr lang="de-DE" sz="1200">
                <a:solidFill>
                  <a:schemeClr val="bg1"/>
                </a:solidFill>
              </a:rPr>
              <a:t> and iHub – </a:t>
            </a:r>
            <a:r>
              <a:rPr lang="de-DE" sz="1200" err="1">
                <a:solidFill>
                  <a:schemeClr val="bg1"/>
                </a:solidFill>
              </a:rPr>
              <a:t>remain</a:t>
            </a:r>
            <a:r>
              <a:rPr lang="de-DE" sz="1200">
                <a:solidFill>
                  <a:schemeClr val="bg1"/>
                </a:solidFill>
              </a:rPr>
              <a:t> invisible </a:t>
            </a:r>
          </a:p>
          <a:p>
            <a:pPr lvl="0"/>
            <a:r>
              <a:rPr lang="de-DE" sz="1200" err="1">
                <a:solidFill>
                  <a:schemeClr val="bg1"/>
                </a:solidFill>
              </a:rPr>
              <a:t>Cost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pipeline</a:t>
            </a:r>
            <a:r>
              <a:rPr lang="de-DE" sz="1200">
                <a:solidFill>
                  <a:schemeClr val="bg1"/>
                </a:solidFill>
              </a:rPr>
              <a:t> for UPTIMIZE </a:t>
            </a:r>
            <a:r>
              <a:rPr lang="de-DE" sz="1200" err="1">
                <a:solidFill>
                  <a:schemeClr val="bg1"/>
                </a:solidFill>
              </a:rPr>
              <a:t>Agents</a:t>
            </a:r>
            <a:r>
              <a:rPr lang="de-DE" sz="1200">
                <a:solidFill>
                  <a:schemeClr val="bg1"/>
                </a:solidFill>
              </a:rPr>
              <a:t> not </a:t>
            </a:r>
            <a:r>
              <a:rPr lang="de-DE" sz="1200" err="1">
                <a:solidFill>
                  <a:schemeClr val="bg1"/>
                </a:solidFill>
              </a:rPr>
              <a:t>yet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stable</a:t>
            </a:r>
            <a:r>
              <a:rPr lang="de-DE" sz="1200">
                <a:solidFill>
                  <a:schemeClr val="bg1"/>
                </a:solidFill>
              </a:rPr>
              <a:t> </a:t>
            </a:r>
          </a:p>
          <a:p>
            <a:pPr lvl="0"/>
            <a:r>
              <a:rPr lang="de-DE" sz="1200">
                <a:solidFill>
                  <a:schemeClr val="bg1"/>
                </a:solidFill>
              </a:rPr>
              <a:t>Access </a:t>
            </a:r>
            <a:r>
              <a:rPr lang="de-DE" sz="1200" err="1">
                <a:solidFill>
                  <a:schemeClr val="bg1"/>
                </a:solidFill>
              </a:rPr>
              <a:t>process</a:t>
            </a:r>
            <a:r>
              <a:rPr lang="de-DE" sz="1200">
                <a:solidFill>
                  <a:schemeClr val="bg1"/>
                </a:solidFill>
              </a:rPr>
              <a:t> for </a:t>
            </a:r>
            <a:r>
              <a:rPr lang="de-DE" sz="1200" err="1">
                <a:solidFill>
                  <a:schemeClr val="bg1"/>
                </a:solidFill>
              </a:rPr>
              <a:t>existing</a:t>
            </a:r>
            <a:r>
              <a:rPr lang="de-DE" sz="1200">
                <a:solidFill>
                  <a:schemeClr val="bg1"/>
                </a:solidFill>
              </a:rPr>
              <a:t> MCPs </a:t>
            </a:r>
            <a:r>
              <a:rPr lang="de-DE" sz="1200" err="1">
                <a:solidFill>
                  <a:schemeClr val="bg1"/>
                </a:solidFill>
              </a:rPr>
              <a:t>is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cumbersome</a:t>
            </a:r>
            <a:r>
              <a:rPr lang="de-DE" sz="1200">
                <a:solidFill>
                  <a:schemeClr val="bg1"/>
                </a:solidFill>
              </a:rPr>
              <a:t> – 3–4 </a:t>
            </a:r>
            <a:r>
              <a:rPr lang="de-DE" sz="1200" err="1">
                <a:solidFill>
                  <a:schemeClr val="bg1"/>
                </a:solidFill>
              </a:rPr>
              <a:t>manual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steps</a:t>
            </a:r>
            <a:endParaRPr lang="de-DE" sz="1200">
              <a:solidFill>
                <a:schemeClr val="bg1"/>
              </a:solidFill>
            </a:endParaRPr>
          </a:p>
          <a:p>
            <a:pPr lvl="0"/>
            <a:r>
              <a:rPr lang="de-DE" sz="1200">
                <a:solidFill>
                  <a:schemeClr val="bg1"/>
                </a:solidFill>
              </a:rPr>
              <a:t>Risk of a "second </a:t>
            </a:r>
            <a:r>
              <a:rPr lang="de-DE" sz="1200" err="1">
                <a:solidFill>
                  <a:schemeClr val="bg1"/>
                </a:solidFill>
              </a:rPr>
              <a:t>dashboard</a:t>
            </a:r>
            <a:r>
              <a:rPr lang="de-DE" sz="1200">
                <a:solidFill>
                  <a:schemeClr val="bg1"/>
                </a:solidFill>
              </a:rPr>
              <a:t> hype": lots of </a:t>
            </a:r>
            <a:r>
              <a:rPr lang="de-DE" sz="1200" err="1">
                <a:solidFill>
                  <a:schemeClr val="bg1"/>
                </a:solidFill>
              </a:rPr>
              <a:t>artifacts</a:t>
            </a:r>
            <a:r>
              <a:rPr lang="de-DE" sz="1200">
                <a:solidFill>
                  <a:schemeClr val="bg1"/>
                </a:solidFill>
              </a:rPr>
              <a:t>, </a:t>
            </a:r>
            <a:r>
              <a:rPr lang="de-DE" sz="1200" err="1">
                <a:solidFill>
                  <a:schemeClr val="bg1"/>
                </a:solidFill>
              </a:rPr>
              <a:t>little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upkeep</a:t>
            </a:r>
            <a:r>
              <a:rPr lang="de-DE" sz="1200">
                <a:solidFill>
                  <a:schemeClr val="bg1"/>
                </a:solidFill>
              </a:rPr>
              <a:t>, </a:t>
            </a:r>
            <a:r>
              <a:rPr lang="de-DE" sz="1200" err="1">
                <a:solidFill>
                  <a:schemeClr val="bg1"/>
                </a:solidFill>
              </a:rPr>
              <a:t>repository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becomes</a:t>
            </a:r>
            <a:r>
              <a:rPr lang="de-DE" sz="1200">
                <a:solidFill>
                  <a:schemeClr val="bg1"/>
                </a:solidFill>
              </a:rPr>
              <a:t> a </a:t>
            </a:r>
            <a:r>
              <a:rPr lang="de-DE" sz="1200" err="1">
                <a:solidFill>
                  <a:schemeClr val="bg1"/>
                </a:solidFill>
              </a:rPr>
              <a:t>dead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compliance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register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instead</a:t>
            </a:r>
            <a:r>
              <a:rPr lang="de-DE" sz="1200">
                <a:solidFill>
                  <a:schemeClr val="bg1"/>
                </a:solidFill>
              </a:rPr>
              <a:t> of a </a:t>
            </a:r>
            <a:r>
              <a:rPr lang="de-DE" sz="1200" err="1">
                <a:solidFill>
                  <a:schemeClr val="bg1"/>
                </a:solidFill>
              </a:rPr>
              <a:t>used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tool</a:t>
            </a:r>
            <a:endParaRPr lang="de-DE" sz="1200">
              <a:solidFill>
                <a:schemeClr val="bg1"/>
              </a:solidFill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C7F77C3-D552-D408-1741-23F10480EF32}"/>
              </a:ext>
            </a:extLst>
          </p:cNvPr>
          <p:cNvSpPr txBox="1">
            <a:spLocks/>
          </p:cNvSpPr>
          <p:nvPr/>
        </p:nvSpPr>
        <p:spPr bwMode="gray">
          <a:xfrm>
            <a:off x="8508110" y="1403684"/>
            <a:ext cx="3240335" cy="396953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Tx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2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GB" noProof="0">
                <a:solidFill>
                  <a:schemeClr val="bg1"/>
                </a:solidFill>
              </a:rPr>
              <a:t>Wishes</a:t>
            </a:r>
          </a:p>
          <a:p>
            <a:pPr lvl="0"/>
            <a:r>
              <a:rPr lang="de-DE" sz="1200">
                <a:solidFill>
                  <a:schemeClr val="bg1"/>
                </a:solidFill>
              </a:rPr>
              <a:t>A </a:t>
            </a:r>
            <a:r>
              <a:rPr lang="de-DE" sz="1200" err="1">
                <a:solidFill>
                  <a:schemeClr val="bg1"/>
                </a:solidFill>
              </a:rPr>
              <a:t>user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rating</a:t>
            </a:r>
            <a:r>
              <a:rPr lang="de-DE" sz="1200">
                <a:solidFill>
                  <a:schemeClr val="bg1"/>
                </a:solidFill>
              </a:rPr>
              <a:t>/</a:t>
            </a:r>
            <a:r>
              <a:rPr lang="de-DE" sz="1200" err="1">
                <a:solidFill>
                  <a:schemeClr val="bg1"/>
                </a:solidFill>
              </a:rPr>
              <a:t>flagging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mechanism</a:t>
            </a:r>
            <a:endParaRPr lang="de-DE" sz="1200">
              <a:solidFill>
                <a:schemeClr val="bg1"/>
              </a:solidFill>
            </a:endParaRPr>
          </a:p>
          <a:p>
            <a:pPr lvl="0"/>
            <a:r>
              <a:rPr lang="de-DE" sz="1200">
                <a:solidFill>
                  <a:schemeClr val="bg1"/>
                </a:solidFill>
              </a:rPr>
              <a:t>A </a:t>
            </a:r>
            <a:r>
              <a:rPr lang="de-DE" sz="1200" err="1">
                <a:solidFill>
                  <a:schemeClr val="bg1"/>
                </a:solidFill>
              </a:rPr>
              <a:t>certification</a:t>
            </a:r>
            <a:r>
              <a:rPr lang="de-DE" sz="1200">
                <a:solidFill>
                  <a:schemeClr val="bg1"/>
                </a:solidFill>
              </a:rPr>
              <a:t>/</a:t>
            </a:r>
            <a:r>
              <a:rPr lang="de-DE" sz="1200" err="1">
                <a:solidFill>
                  <a:schemeClr val="bg1"/>
                </a:solidFill>
              </a:rPr>
              <a:t>trust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stamp</a:t>
            </a:r>
            <a:r>
              <a:rPr lang="de-DE" sz="1200">
                <a:solidFill>
                  <a:schemeClr val="bg1"/>
                </a:solidFill>
              </a:rPr>
              <a:t> for </a:t>
            </a:r>
            <a:r>
              <a:rPr lang="de-DE" sz="1200" err="1">
                <a:solidFill>
                  <a:schemeClr val="bg1"/>
                </a:solidFill>
              </a:rPr>
              <a:t>especially</a:t>
            </a:r>
            <a:r>
              <a:rPr lang="de-DE" sz="1200">
                <a:solidFill>
                  <a:schemeClr val="bg1"/>
                </a:solidFill>
              </a:rPr>
              <a:t> reliable </a:t>
            </a:r>
            <a:r>
              <a:rPr lang="de-DE" sz="1200" err="1">
                <a:solidFill>
                  <a:schemeClr val="bg1"/>
                </a:solidFill>
              </a:rPr>
              <a:t>agents</a:t>
            </a:r>
            <a:r>
              <a:rPr lang="de-DE" sz="1200">
                <a:solidFill>
                  <a:schemeClr val="bg1"/>
                </a:solidFill>
              </a:rPr>
              <a:t> </a:t>
            </a:r>
          </a:p>
          <a:p>
            <a:pPr lvl="0"/>
            <a:r>
              <a:rPr lang="de-DE" sz="1200">
                <a:solidFill>
                  <a:schemeClr val="bg1"/>
                </a:solidFill>
              </a:rPr>
              <a:t>A </a:t>
            </a:r>
            <a:r>
              <a:rPr lang="de-DE" sz="1200" err="1">
                <a:solidFill>
                  <a:schemeClr val="bg1"/>
                </a:solidFill>
              </a:rPr>
              <a:t>semantic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context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layer</a:t>
            </a:r>
            <a:r>
              <a:rPr lang="de-DE" sz="1200">
                <a:solidFill>
                  <a:schemeClr val="bg1"/>
                </a:solidFill>
              </a:rPr>
              <a:t> so </a:t>
            </a:r>
            <a:r>
              <a:rPr lang="de-DE" sz="1200" err="1">
                <a:solidFill>
                  <a:schemeClr val="bg1"/>
                </a:solidFill>
              </a:rPr>
              <a:t>agents</a:t>
            </a:r>
            <a:r>
              <a:rPr lang="de-DE" sz="1200">
                <a:solidFill>
                  <a:schemeClr val="bg1"/>
                </a:solidFill>
              </a:rPr>
              <a:t>/</a:t>
            </a:r>
            <a:r>
              <a:rPr lang="de-DE" sz="1200" err="1">
                <a:solidFill>
                  <a:schemeClr val="bg1"/>
                </a:solidFill>
              </a:rPr>
              <a:t>systems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can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themselves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recognize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which</a:t>
            </a:r>
            <a:r>
              <a:rPr lang="de-DE" sz="1200">
                <a:solidFill>
                  <a:schemeClr val="bg1"/>
                </a:solidFill>
              </a:rPr>
              <a:t> MCPs </a:t>
            </a:r>
            <a:r>
              <a:rPr lang="de-DE" sz="1200" err="1">
                <a:solidFill>
                  <a:schemeClr val="bg1"/>
                </a:solidFill>
              </a:rPr>
              <a:t>are</a:t>
            </a:r>
            <a:r>
              <a:rPr lang="de-DE" sz="1200">
                <a:solidFill>
                  <a:schemeClr val="bg1"/>
                </a:solidFill>
              </a:rPr>
              <a:t> relevant </a:t>
            </a:r>
          </a:p>
          <a:p>
            <a:pPr lvl="0"/>
            <a:r>
              <a:rPr lang="de-DE" sz="1200">
                <a:solidFill>
                  <a:schemeClr val="bg1"/>
                </a:solidFill>
              </a:rPr>
              <a:t>Full </a:t>
            </a:r>
            <a:r>
              <a:rPr lang="de-DE" sz="1200" err="1">
                <a:solidFill>
                  <a:schemeClr val="bg1"/>
                </a:solidFill>
              </a:rPr>
              <a:t>lineage</a:t>
            </a:r>
            <a:r>
              <a:rPr lang="de-DE" sz="1200">
                <a:solidFill>
                  <a:schemeClr val="bg1"/>
                </a:solidFill>
              </a:rPr>
              <a:t>/</a:t>
            </a:r>
            <a:r>
              <a:rPr lang="de-DE" sz="1200" err="1">
                <a:solidFill>
                  <a:schemeClr val="bg1"/>
                </a:solidFill>
              </a:rPr>
              <a:t>status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transparency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across</a:t>
            </a:r>
            <a:r>
              <a:rPr lang="de-DE" sz="1200">
                <a:solidFill>
                  <a:schemeClr val="bg1"/>
                </a:solidFill>
              </a:rPr>
              <a:t> multi-agent </a:t>
            </a:r>
            <a:r>
              <a:rPr lang="de-DE" sz="1200" err="1">
                <a:solidFill>
                  <a:schemeClr val="bg1"/>
                </a:solidFill>
              </a:rPr>
              <a:t>chains</a:t>
            </a:r>
            <a:r>
              <a:rPr lang="de-DE" sz="1200">
                <a:solidFill>
                  <a:schemeClr val="bg1"/>
                </a:solidFill>
              </a:rPr>
              <a:t> for </a:t>
            </a:r>
            <a:r>
              <a:rPr lang="de-DE" sz="1200" err="1">
                <a:solidFill>
                  <a:schemeClr val="bg1"/>
                </a:solidFill>
              </a:rPr>
              <a:t>debugging</a:t>
            </a:r>
            <a:r>
              <a:rPr lang="de-DE" sz="1200">
                <a:solidFill>
                  <a:schemeClr val="bg1"/>
                </a:solidFill>
              </a:rPr>
              <a:t> </a:t>
            </a:r>
          </a:p>
          <a:p>
            <a:pPr lvl="0"/>
            <a:r>
              <a:rPr lang="de-DE" sz="1200" err="1">
                <a:solidFill>
                  <a:schemeClr val="bg1"/>
                </a:solidFill>
              </a:rPr>
              <a:t>Distinction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between</a:t>
            </a:r>
            <a:r>
              <a:rPr lang="de-DE" sz="1200">
                <a:solidFill>
                  <a:schemeClr val="bg1"/>
                </a:solidFill>
              </a:rPr>
              <a:t> internal vs. external </a:t>
            </a:r>
            <a:r>
              <a:rPr lang="de-DE" sz="1200" err="1">
                <a:solidFill>
                  <a:schemeClr val="bg1"/>
                </a:solidFill>
              </a:rPr>
              <a:t>agents</a:t>
            </a:r>
            <a:r>
              <a:rPr lang="de-DE" sz="1200">
                <a:solidFill>
                  <a:schemeClr val="bg1"/>
                </a:solidFill>
              </a:rPr>
              <a:t>, </a:t>
            </a:r>
            <a:r>
              <a:rPr lang="de-DE" sz="1200" err="1">
                <a:solidFill>
                  <a:schemeClr val="bg1"/>
                </a:solidFill>
              </a:rPr>
              <a:t>since</a:t>
            </a:r>
            <a:r>
              <a:rPr lang="de-DE" sz="1200">
                <a:solidFill>
                  <a:schemeClr val="bg1"/>
                </a:solidFill>
              </a:rPr>
              <a:t> external </a:t>
            </a:r>
            <a:r>
              <a:rPr lang="de-DE" sz="1200" err="1">
                <a:solidFill>
                  <a:schemeClr val="bg1"/>
                </a:solidFill>
              </a:rPr>
              <a:t>exposure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is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expected</a:t>
            </a:r>
            <a:r>
              <a:rPr lang="de-DE" sz="1200">
                <a:solidFill>
                  <a:schemeClr val="bg1"/>
                </a:solidFill>
              </a:rPr>
              <a:t> to </a:t>
            </a:r>
            <a:r>
              <a:rPr lang="de-DE" sz="1200" err="1">
                <a:solidFill>
                  <a:schemeClr val="bg1"/>
                </a:solidFill>
              </a:rPr>
              <a:t>grow</a:t>
            </a:r>
            <a:r>
              <a:rPr lang="de-DE" sz="1200">
                <a:solidFill>
                  <a:schemeClr val="bg1"/>
                </a:solidFill>
              </a:rPr>
              <a:t> </a:t>
            </a:r>
          </a:p>
          <a:p>
            <a:pPr lvl="0"/>
            <a:r>
              <a:rPr lang="de-DE" sz="1200">
                <a:solidFill>
                  <a:schemeClr val="bg1"/>
                </a:solidFill>
              </a:rPr>
              <a:t>Feedback loop back </a:t>
            </a:r>
            <a:r>
              <a:rPr lang="de-DE" sz="1200" err="1">
                <a:solidFill>
                  <a:schemeClr val="bg1"/>
                </a:solidFill>
              </a:rPr>
              <a:t>into</a:t>
            </a:r>
            <a:r>
              <a:rPr lang="de-DE" sz="1200">
                <a:solidFill>
                  <a:schemeClr val="bg1"/>
                </a:solidFill>
              </a:rPr>
              <a:t> the </a:t>
            </a:r>
            <a:r>
              <a:rPr lang="de-DE" sz="1200" err="1">
                <a:solidFill>
                  <a:schemeClr val="bg1"/>
                </a:solidFill>
              </a:rPr>
              <a:t>creation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tool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itself</a:t>
            </a:r>
            <a:r>
              <a:rPr lang="de-DE" sz="1200">
                <a:solidFill>
                  <a:schemeClr val="bg1"/>
                </a:solidFill>
              </a:rPr>
              <a:t> – e.g., a prompt </a:t>
            </a:r>
            <a:r>
              <a:rPr lang="de-DE" sz="1200" err="1">
                <a:solidFill>
                  <a:schemeClr val="bg1"/>
                </a:solidFill>
              </a:rPr>
              <a:t>inside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myGPT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before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building</a:t>
            </a:r>
            <a:r>
              <a:rPr lang="de-DE" sz="1200">
                <a:solidFill>
                  <a:schemeClr val="bg1"/>
                </a:solidFill>
              </a:rPr>
              <a:t> a </a:t>
            </a:r>
            <a:r>
              <a:rPr lang="de-DE" sz="1200" err="1">
                <a:solidFill>
                  <a:schemeClr val="bg1"/>
                </a:solidFill>
              </a:rPr>
              <a:t>new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agent</a:t>
            </a:r>
            <a:r>
              <a:rPr lang="de-DE" sz="1200">
                <a:solidFill>
                  <a:schemeClr val="bg1"/>
                </a:solidFill>
              </a:rPr>
              <a:t>, </a:t>
            </a:r>
            <a:r>
              <a:rPr lang="de-DE" sz="1200" err="1">
                <a:solidFill>
                  <a:schemeClr val="bg1"/>
                </a:solidFill>
              </a:rPr>
              <a:t>flagging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whether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something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similar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already</a:t>
            </a:r>
            <a:r>
              <a:rPr lang="de-DE" sz="1200">
                <a:solidFill>
                  <a:schemeClr val="bg1"/>
                </a:solidFill>
              </a:rPr>
              <a:t> </a:t>
            </a:r>
            <a:r>
              <a:rPr lang="de-DE" sz="1200" err="1">
                <a:solidFill>
                  <a:schemeClr val="bg1"/>
                </a:solidFill>
              </a:rPr>
              <a:t>exists</a:t>
            </a:r>
            <a:endParaRPr lang="de-DE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709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AD8432-A58F-EF00-A810-73908048E0E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128117" y="332656"/>
            <a:ext cx="10728013" cy="4391263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1. Baseline / Eligibility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What has to be true for an agent to appear in the repository at all?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00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Use Case binding: mandatory, optional, or platform-dependent?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Risk-assessment status as an entry requirement or applied downstream?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Minimum threshold (e.g., as with </a:t>
            </a:r>
            <a:r>
              <a:rPr lang="en-US" sz="1000" err="1"/>
              <a:t>myGPT</a:t>
            </a:r>
            <a:r>
              <a:rPr lang="en-US" sz="1000"/>
              <a:t>: &gt;20 users as a signal) as a filter criterion?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00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2. Metadata Schema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Separate from Baseline – what gets maintained once something is in?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00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Mandatory fields: owner/contact, description, risk level, cost (core set per Kristina/Carsten)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Optional/discovery fields: business capability, platform, usage statistics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Inheritance from the Use Case vs. override by the agent owner (Oliver's draft model as the starting point)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00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3. Access &amp; Security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00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Who can see (read) vs. who can use/request access?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Coupling to risk classification (does High Risk mean restricted access?)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Is today's "everyone sees everything" model (Kristina: "anyone can look in") the target state or just a transitional one?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00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4. Hierarchy &amp; Relationships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00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Agent Asset vs. Agent Product (composition: a Product aggregates several Assets)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Mapping to Use Case/Application as the higher-level governance unit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Explicitly out of MVP scope: lineage to data products/tables (per Oliver, a Foundry topic, not a repository task)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00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5. Lifecycle &amp; Change Management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00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Status model (e.g., draft/registered/assessed/deprecated/archived)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"Last updated" field as a minimum (Kristina's point about stale entries)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Reassessment triggers on change (data/tools/permissions) – MVP or Phase 2?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Retention/deletion periods – currently unresolved, should at least be documented as an open question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00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6. Ingestion Scope per Platform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00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Automated (UPTIMIZE: iHub, Foundry, </a:t>
            </a:r>
            <a:r>
              <a:rPr lang="en-US" sz="1000" err="1"/>
              <a:t>myGPT</a:t>
            </a:r>
            <a:r>
              <a:rPr lang="en-US" sz="1000"/>
              <a:t> via Data Treasury) vs. manual/unknown (ServiceNow, Salesforce, SAP Joule, Copilot)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Known data gaps per platform (e.g., </a:t>
            </a:r>
            <a:r>
              <a:rPr lang="en-US" sz="1000" err="1"/>
              <a:t>myGPT</a:t>
            </a:r>
            <a:r>
              <a:rPr lang="en-US" sz="1000"/>
              <a:t>: hashed user IDs, no clean owner mapping)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Clear labeling: "known coverage gap, deliberately out of Phase 1"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00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7. Trust &amp; Quality Signals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00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User rating/flagging, certification stamp (Carsten, Gernot)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Decision needed: MVP-relevant or explicitly Phase 2 – should be named as an open point, not silently dropped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06B7BA-B8E3-5E11-2603-98897DE87B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F9B0DE-3FEB-4AA0-B465-B80EF7C1333D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F07E2C-275A-7178-E4B0-628913328F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3E1E06E7-A1F9-3489-F5C3-509A886240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1DC8993-8D2E-4DE0-9E9C-34605DBD02AA}" type="datetime1">
              <a:rPr lang="en-GB" smtClean="0"/>
              <a:t>07/10/2026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19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EB7463-EFD1-7D55-9B70-11E215202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major questions to be defined?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30DD41-1D80-01DE-736D-B54AF2DBFFE3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/>
              <a:t>What is the required minimum for an agent to be registered in the repository?</a:t>
            </a:r>
          </a:p>
          <a:p>
            <a:pPr lvl="1"/>
            <a:r>
              <a:rPr lang="en-US"/>
              <a:t>Tied to higher instance (e.g. use case)?</a:t>
            </a:r>
          </a:p>
          <a:p>
            <a:pPr lvl="1"/>
            <a:r>
              <a:rPr lang="en-US"/>
              <a:t>AI risk assessment executed?</a:t>
            </a:r>
          </a:p>
          <a:p>
            <a:pPr lvl="1"/>
            <a:r>
              <a:rPr lang="en-US"/>
              <a:t>Owner + Back-Up Owner defined?</a:t>
            </a:r>
          </a:p>
          <a:p>
            <a:pPr lvl="1"/>
            <a:r>
              <a:rPr lang="en-US"/>
              <a:t>Further points?</a:t>
            </a:r>
          </a:p>
          <a:p>
            <a:pPr lvl="1"/>
            <a:endParaRPr lang="en-US"/>
          </a:p>
          <a:p>
            <a:pPr lvl="1"/>
            <a:r>
              <a:rPr lang="en-US"/>
              <a:t>What is the minimum required information that needs to be available in the repository?</a:t>
            </a:r>
          </a:p>
          <a:p>
            <a:pPr lvl="1"/>
            <a:r>
              <a:rPr lang="en-US"/>
              <a:t>Owner, lineage, data input / output, etc. 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r>
              <a:rPr lang="en-US"/>
              <a:t>Token limitation (weekly) in </a:t>
            </a:r>
            <a:r>
              <a:rPr lang="en-US" err="1"/>
              <a:t>myGPT</a:t>
            </a:r>
            <a:r>
              <a:rPr lang="en-US"/>
              <a:t> pro Model </a:t>
            </a:r>
            <a:r>
              <a:rPr lang="en-US" err="1"/>
              <a:t>unlimiert</a:t>
            </a:r>
            <a:endParaRPr lang="en-US"/>
          </a:p>
          <a:p>
            <a:r>
              <a:rPr lang="en-US"/>
              <a:t>Alles was </a:t>
            </a:r>
            <a:r>
              <a:rPr lang="en-US" err="1"/>
              <a:t>über</a:t>
            </a:r>
            <a:r>
              <a:rPr lang="en-US"/>
              <a:t> Andere </a:t>
            </a:r>
            <a:r>
              <a:rPr lang="en-US" err="1"/>
              <a:t>läuft</a:t>
            </a:r>
            <a:r>
              <a:rPr lang="en-US"/>
              <a:t> in </a:t>
            </a:r>
            <a:r>
              <a:rPr lang="en-US" err="1"/>
              <a:t>myGPT</a:t>
            </a:r>
            <a:r>
              <a:rPr lang="en-US"/>
              <a:t> </a:t>
            </a:r>
          </a:p>
          <a:p>
            <a:r>
              <a:rPr lang="en-US" err="1"/>
              <a:t>Agenten</a:t>
            </a:r>
            <a:r>
              <a:rPr lang="en-US"/>
              <a:t> </a:t>
            </a:r>
            <a:r>
              <a:rPr lang="en-US" err="1"/>
              <a:t>wie</a:t>
            </a:r>
            <a:r>
              <a:rPr lang="en-US"/>
              <a:t> z. B VERA (HR) </a:t>
            </a:r>
            <a:r>
              <a:rPr lang="en-US" err="1"/>
              <a:t>unlimitiert</a:t>
            </a:r>
            <a:r>
              <a:rPr lang="en-US"/>
              <a:t> </a:t>
            </a:r>
            <a:r>
              <a:rPr lang="en-US" err="1"/>
              <a:t>nutzen</a:t>
            </a:r>
            <a:r>
              <a:rPr lang="en-US"/>
              <a:t> </a:t>
            </a:r>
            <a:r>
              <a:rPr lang="en-US" err="1"/>
              <a:t>können</a:t>
            </a:r>
            <a:r>
              <a:rPr lang="en-US"/>
              <a:t> </a:t>
            </a:r>
          </a:p>
          <a:p>
            <a:r>
              <a:rPr lang="en-US">
                <a:sym typeface="Wingdings" pitchFamily="2" charset="2"/>
              </a:rPr>
              <a:t> </a:t>
            </a:r>
            <a:r>
              <a:rPr lang="en-US" err="1">
                <a:sym typeface="Wingdings" pitchFamily="2" charset="2"/>
              </a:rPr>
              <a:t>Eventuell</a:t>
            </a:r>
            <a:r>
              <a:rPr lang="en-US">
                <a:sym typeface="Wingdings" pitchFamily="2" charset="2"/>
              </a:rPr>
              <a:t> </a:t>
            </a:r>
            <a:r>
              <a:rPr lang="en-US" err="1">
                <a:sym typeface="Wingdings" pitchFamily="2" charset="2"/>
              </a:rPr>
              <a:t>ein</a:t>
            </a:r>
            <a:r>
              <a:rPr lang="en-US">
                <a:sym typeface="Wingdings" pitchFamily="2" charset="2"/>
              </a:rPr>
              <a:t> Tag “unlimited use”, “limitation use may apply” </a:t>
            </a:r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E525D5-EE12-20B1-83F5-B366171597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F9B0DE-3FEB-4AA0-B465-B80EF7C1333D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395A84-E18E-9957-DC36-43E6DB5F545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E5DCE1BE-3A84-6CEF-4D03-4818AA2FA98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1DC8993-8D2E-4DE0-9E9C-34605DBD02AA}" type="datetime1">
              <a:rPr lang="en-GB" smtClean="0"/>
              <a:t>07/10/2026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645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8E4A12-387C-E3BE-79EB-14CED8234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Minimum Requirements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78FFC0D-2FF3-3052-334C-B53D60EA45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F9B0DE-3FEB-4AA0-B465-B80EF7C1333D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151081-6957-2D23-9559-49F6659F15E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4019FB7F-F978-E41E-B4BF-C3702F1EFC6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1DC8993-8D2E-4DE0-9E9C-34605DBD02AA}" type="datetime1">
              <a:rPr lang="en-GB" smtClean="0"/>
              <a:t>07/10/2026</a:t>
            </a:fld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21E62FA-8EA9-4855-1B53-E4F96924F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93" y="1039283"/>
            <a:ext cx="10081120" cy="283271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85EC788-D371-677B-E5DE-9F61B0FDB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288" y="3854264"/>
            <a:ext cx="9865343" cy="240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7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880060-F2B6-D892-C6C9-A1D535E2D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1DF76E1C-6914-23D5-4626-4A5C54E048B9}"/>
              </a:ext>
            </a:extLst>
          </p:cNvPr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3507063219"/>
              </p:ext>
            </p:extLst>
          </p:nvPr>
        </p:nvGraphicFramePr>
        <p:xfrm>
          <a:off x="1043005" y="1592676"/>
          <a:ext cx="10728324" cy="1910082"/>
        </p:xfrm>
        <a:graphic>
          <a:graphicData uri="http://schemas.openxmlformats.org/drawingml/2006/table">
            <a:tbl>
              <a:tblPr>
                <a:tableStyleId>{B45C9562-1D88-4959-98E0-DF01EE10AB55}</a:tableStyleId>
              </a:tblPr>
              <a:tblGrid>
                <a:gridCol w="1474892">
                  <a:extLst>
                    <a:ext uri="{9D8B030D-6E8A-4147-A177-3AD203B41FA5}">
                      <a16:colId xmlns:a16="http://schemas.microsoft.com/office/drawing/2014/main" val="2423584905"/>
                    </a:ext>
                  </a:extLst>
                </a:gridCol>
                <a:gridCol w="1545606">
                  <a:extLst>
                    <a:ext uri="{9D8B030D-6E8A-4147-A177-3AD203B41FA5}">
                      <a16:colId xmlns:a16="http://schemas.microsoft.com/office/drawing/2014/main" val="2247000643"/>
                    </a:ext>
                  </a:extLst>
                </a:gridCol>
                <a:gridCol w="2656826">
                  <a:extLst>
                    <a:ext uri="{9D8B030D-6E8A-4147-A177-3AD203B41FA5}">
                      <a16:colId xmlns:a16="http://schemas.microsoft.com/office/drawing/2014/main" val="1350399168"/>
                    </a:ext>
                  </a:extLst>
                </a:gridCol>
                <a:gridCol w="1767850">
                  <a:extLst>
                    <a:ext uri="{9D8B030D-6E8A-4147-A177-3AD203B41FA5}">
                      <a16:colId xmlns:a16="http://schemas.microsoft.com/office/drawing/2014/main" val="3942959534"/>
                    </a:ext>
                  </a:extLst>
                </a:gridCol>
                <a:gridCol w="626324">
                  <a:extLst>
                    <a:ext uri="{9D8B030D-6E8A-4147-A177-3AD203B41FA5}">
                      <a16:colId xmlns:a16="http://schemas.microsoft.com/office/drawing/2014/main" val="3954163744"/>
                    </a:ext>
                  </a:extLst>
                </a:gridCol>
                <a:gridCol w="2656826">
                  <a:extLst>
                    <a:ext uri="{9D8B030D-6E8A-4147-A177-3AD203B41FA5}">
                      <a16:colId xmlns:a16="http://schemas.microsoft.com/office/drawing/2014/main" val="3577511047"/>
                    </a:ext>
                  </a:extLst>
                </a:gridCol>
              </a:tblGrid>
              <a:tr h="3112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Governance/Tech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Emergency exist /shut-down strategy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A developed, tested and documeted process to shut down an agent in case of emergency or serious misbehaviour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High</a:t>
                      </a:r>
                      <a:endParaRPr lang="de-DE" sz="9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extLst>
                  <a:ext uri="{0D108BD9-81ED-4DB2-BD59-A6C34878D82A}">
                    <a16:rowId xmlns:a16="http://schemas.microsoft.com/office/drawing/2014/main" val="1749414776"/>
                  </a:ext>
                </a:extLst>
              </a:tr>
              <a:tr h="3112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Personas /Meta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First registration performed by (name)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Person, who performed first registrion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Low</a:t>
                      </a:r>
                      <a:endParaRPr lang="de-DE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for audit trail purpose 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extLst>
                  <a:ext uri="{0D108BD9-81ED-4DB2-BD59-A6C34878D82A}">
                    <a16:rowId xmlns:a16="http://schemas.microsoft.com/office/drawing/2014/main" val="269977870"/>
                  </a:ext>
                </a:extLst>
              </a:tr>
              <a:tr h="1776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Personas/Meta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Modification performed by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Person, who performed modfications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Low</a:t>
                      </a:r>
                      <a:endParaRPr lang="de-DE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for audit trail purpose 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extLst>
                  <a:ext uri="{0D108BD9-81ED-4DB2-BD59-A6C34878D82A}">
                    <a16:rowId xmlns:a16="http://schemas.microsoft.com/office/drawing/2014/main" val="977334901"/>
                  </a:ext>
                </a:extLst>
              </a:tr>
              <a:tr h="1776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Meta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Modified fields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Last modified attributes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Low</a:t>
                      </a:r>
                      <a:endParaRPr lang="de-DE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for audit trail purpose 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extLst>
                  <a:ext uri="{0D108BD9-81ED-4DB2-BD59-A6C34878D82A}">
                    <a16:rowId xmlns:a16="http://schemas.microsoft.com/office/drawing/2014/main" val="2341439043"/>
                  </a:ext>
                </a:extLst>
              </a:tr>
              <a:tr h="3112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Business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Agent cost center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The Merck Entity Number which will cover costs for agent run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Low</a:t>
                      </a:r>
                      <a:endParaRPr lang="de-DE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For cost  and value management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extLst>
                  <a:ext uri="{0D108BD9-81ED-4DB2-BD59-A6C34878D82A}">
                    <a16:rowId xmlns:a16="http://schemas.microsoft.com/office/drawing/2014/main" val="3778649069"/>
                  </a:ext>
                </a:extLst>
              </a:tr>
              <a:tr h="4448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Technical /Governance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Agent solution type 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Ist it single Agent Asset or Agent Product or both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Medium</a:t>
                      </a:r>
                      <a:endParaRPr lang="de-DE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In the </a:t>
                      </a:r>
                      <a:r>
                        <a:rPr lang="de-DE" sz="900" u="none" strike="noStrike" err="1">
                          <a:effectLst/>
                        </a:rPr>
                        <a:t>future</a:t>
                      </a:r>
                      <a:r>
                        <a:rPr lang="de-DE" sz="900" u="none" strike="noStrike">
                          <a:effectLst/>
                        </a:rPr>
                        <a:t> </a:t>
                      </a:r>
                      <a:r>
                        <a:rPr lang="de-DE" sz="900" u="none" strike="noStrike" err="1">
                          <a:effectLst/>
                        </a:rPr>
                        <a:t>can</a:t>
                      </a:r>
                      <a:r>
                        <a:rPr lang="de-DE" sz="900" u="none" strike="noStrike">
                          <a:effectLst/>
                        </a:rPr>
                        <a:t> </a:t>
                      </a:r>
                      <a:r>
                        <a:rPr lang="de-DE" sz="900" u="none" strike="noStrike" err="1">
                          <a:effectLst/>
                        </a:rPr>
                        <a:t>be</a:t>
                      </a:r>
                      <a:r>
                        <a:rPr lang="de-DE" sz="900" u="none" strike="noStrike">
                          <a:effectLst/>
                        </a:rPr>
                        <a:t> </a:t>
                      </a:r>
                      <a:r>
                        <a:rPr lang="de-DE" sz="900" u="none" strike="noStrike" err="1">
                          <a:effectLst/>
                        </a:rPr>
                        <a:t>used</a:t>
                      </a:r>
                      <a:r>
                        <a:rPr lang="de-DE" sz="900" u="none" strike="noStrike">
                          <a:effectLst/>
                        </a:rPr>
                        <a:t> as </a:t>
                      </a:r>
                      <a:r>
                        <a:rPr lang="de-DE" sz="900" u="none" strike="noStrike" err="1">
                          <a:effectLst/>
                        </a:rPr>
                        <a:t>primary</a:t>
                      </a:r>
                      <a:r>
                        <a:rPr lang="de-DE" sz="900" u="none" strike="noStrike">
                          <a:effectLst/>
                        </a:rPr>
                        <a:t> and </a:t>
                      </a:r>
                      <a:r>
                        <a:rPr lang="de-DE" sz="900" u="none" strike="noStrike" err="1">
                          <a:effectLst/>
                        </a:rPr>
                        <a:t>group</a:t>
                      </a:r>
                      <a:r>
                        <a:rPr lang="de-DE" sz="900" u="none" strike="noStrike">
                          <a:effectLst/>
                        </a:rPr>
                        <a:t> </a:t>
                      </a:r>
                      <a:r>
                        <a:rPr lang="de-DE" sz="900" u="none" strike="noStrike" err="1">
                          <a:effectLst/>
                        </a:rPr>
                        <a:t>layer</a:t>
                      </a:r>
                      <a:r>
                        <a:rPr lang="de-DE" sz="900" u="none" strike="noStrike">
                          <a:effectLst/>
                        </a:rPr>
                        <a:t>. For Agent </a:t>
                      </a:r>
                      <a:r>
                        <a:rPr lang="de-DE" sz="900" u="none" strike="noStrike" err="1">
                          <a:effectLst/>
                        </a:rPr>
                        <a:t>product</a:t>
                      </a:r>
                      <a:r>
                        <a:rPr lang="de-DE" sz="900" u="none" strike="noStrike">
                          <a:effectLst/>
                        </a:rPr>
                        <a:t> a </a:t>
                      </a:r>
                      <a:r>
                        <a:rPr lang="de-DE" sz="900" u="none" strike="noStrike" err="1">
                          <a:effectLst/>
                        </a:rPr>
                        <a:t>single</a:t>
                      </a:r>
                      <a:r>
                        <a:rPr lang="de-DE" sz="900" u="none" strike="noStrike">
                          <a:effectLst/>
                        </a:rPr>
                        <a:t> </a:t>
                      </a:r>
                      <a:r>
                        <a:rPr lang="de-DE" sz="900" u="none" strike="noStrike" err="1">
                          <a:effectLst/>
                        </a:rPr>
                        <a:t>agent</a:t>
                      </a:r>
                      <a:r>
                        <a:rPr lang="de-DE" sz="900" u="none" strike="noStrike">
                          <a:effectLst/>
                        </a:rPr>
                        <a:t> </a:t>
                      </a:r>
                      <a:r>
                        <a:rPr lang="de-DE" sz="900" u="none" strike="noStrike" err="1">
                          <a:effectLst/>
                        </a:rPr>
                        <a:t>assets</a:t>
                      </a:r>
                      <a:r>
                        <a:rPr lang="de-DE" sz="900" u="none" strike="noStrike">
                          <a:effectLst/>
                        </a:rPr>
                        <a:t> </a:t>
                      </a:r>
                      <a:r>
                        <a:rPr lang="de-DE" sz="900" u="none" strike="noStrike" err="1">
                          <a:effectLst/>
                        </a:rPr>
                        <a:t>may</a:t>
                      </a:r>
                      <a:r>
                        <a:rPr lang="de-DE" sz="900" u="none" strike="noStrike">
                          <a:effectLst/>
                        </a:rPr>
                        <a:t> </a:t>
                      </a:r>
                      <a:r>
                        <a:rPr lang="de-DE" sz="900" u="none" strike="noStrike" err="1">
                          <a:effectLst/>
                        </a:rPr>
                        <a:t>be</a:t>
                      </a:r>
                      <a:r>
                        <a:rPr lang="de-DE" sz="900" u="none" strike="noStrike">
                          <a:effectLst/>
                        </a:rPr>
                        <a:t> </a:t>
                      </a:r>
                      <a:r>
                        <a:rPr lang="de-DE" sz="900" u="none" strike="noStrike" err="1">
                          <a:effectLst/>
                        </a:rPr>
                        <a:t>added</a:t>
                      </a:r>
                      <a:r>
                        <a:rPr lang="de-DE" sz="900" u="none" strike="noStrike">
                          <a:effectLst/>
                        </a:rPr>
                        <a:t> to </a:t>
                      </a:r>
                      <a:r>
                        <a:rPr lang="de-DE" sz="900" u="none" strike="noStrike" err="1">
                          <a:effectLst/>
                        </a:rPr>
                        <a:t>agent</a:t>
                      </a:r>
                      <a:r>
                        <a:rPr lang="de-DE" sz="900" u="none" strike="noStrike">
                          <a:effectLst/>
                        </a:rPr>
                        <a:t> </a:t>
                      </a:r>
                      <a:r>
                        <a:rPr lang="de-DE" sz="900" u="none" strike="noStrike" err="1">
                          <a:effectLst/>
                        </a:rPr>
                        <a:t>dependencies</a:t>
                      </a:r>
                      <a:r>
                        <a:rPr lang="de-DE" sz="900" u="none" strike="noStrike">
                          <a:effectLst/>
                        </a:rPr>
                        <a:t> 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91" marR="7591" marT="7591" marB="36436" anchor="b"/>
                </a:tc>
                <a:extLst>
                  <a:ext uri="{0D108BD9-81ED-4DB2-BD59-A6C34878D82A}">
                    <a16:rowId xmlns:a16="http://schemas.microsoft.com/office/drawing/2014/main" val="1754547831"/>
                  </a:ext>
                </a:extLst>
              </a:tr>
            </a:tbl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7D657CC-56DD-658D-4723-B44265ECF32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FF9B0DE-3FEB-4AA0-B465-B80EF7C1333D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81D73B-D8EB-5581-193F-414887BCF70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1E095742-E10E-1C09-F48C-1AE735F6A3B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1DC8993-8D2E-4DE0-9E9C-34605DBD02AA}" type="datetime1">
              <a:rPr lang="en-GB" smtClean="0"/>
              <a:t>07/10/2026</a:t>
            </a:fld>
            <a:endParaRPr lang="en-GB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1FE50B6-CF6C-537E-FB2B-95A537FB4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3970690"/>
            <a:ext cx="11362493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184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28D562-DAE3-61CF-9448-94AD146F6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A5CE534-2A04-C187-5121-EE3AEAC41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675D609-C870-0457-A652-7BA61948C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B1C81A6-0909-1B46-0250-F344C4E38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16972-2E76-4ED4-B55F-0EF541040E6C}" type="datetime1">
              <a:rPr lang="en-GB" smtClean="0"/>
              <a:t>07/10/2026</a:t>
            </a:fld>
            <a:endParaRPr lang="en-GB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F46E8DE-E67B-6E42-6278-FF6ED55D5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00" y="294152"/>
            <a:ext cx="11542052" cy="605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988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9FE22F-9B63-BAEE-3996-F6A70364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E272222-004A-8FE8-504A-877B4D43A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B612AC7-52F1-C4C7-460D-4B69AEDC6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9F2258-3906-CAF4-6DCE-E69A47D5C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16972-2E76-4ED4-B55F-0EF541040E6C}" type="datetime1">
              <a:rPr lang="en-GB" smtClean="0"/>
              <a:t>07/10/2026</a:t>
            </a:fld>
            <a:endParaRPr lang="en-GB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EA3169A-4D2A-BB51-3FC8-8719F43D1814}"/>
              </a:ext>
            </a:extLst>
          </p:cNvPr>
          <p:cNvSpPr txBox="1"/>
          <p:nvPr/>
        </p:nvSpPr>
        <p:spPr>
          <a:xfrm>
            <a:off x="3886200" y="320954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EC8D596-A9F4-B2F0-91BE-0DC240F34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99" y="264432"/>
            <a:ext cx="11473735" cy="608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546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7932F4-BD2E-9D71-BB97-A6AF0F1B9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9276951-7606-08B8-1C26-D2E4AA5CD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B2A961-5DDB-9FAA-86A1-A1A755715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6ABB41E-D8C6-4045-5C0A-91A650629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16972-2E76-4ED4-B55F-0EF541040E6C}" type="datetime1">
              <a:rPr lang="en-GB" smtClean="0"/>
              <a:t>07/10/2026</a:t>
            </a:fld>
            <a:endParaRPr lang="en-GB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150B851-4967-FFE0-FC95-CD1D91D94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1" y="188640"/>
            <a:ext cx="11620975" cy="615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631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20F733-C0C3-9B29-9DDF-3086A0B82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990BA0E-B86C-5D72-338E-C32325F63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76DE193-DAEA-F480-E54E-6D6A08BAC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57C90C-819F-1F0A-B184-313F10E51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16972-2E76-4ED4-B55F-0EF541040E6C}" type="datetime1">
              <a:rPr lang="en-GB" smtClean="0"/>
              <a:t>07/10/2026</a:t>
            </a:fld>
            <a:endParaRPr lang="en-GB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69A9348-C27C-AAB3-8DC0-497FCCA3A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176" y="289091"/>
            <a:ext cx="11377264" cy="605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5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FB654C-627D-15FD-6D25-DB1957468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7431722-8383-0209-1803-28B760DBE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D085069-B45B-B67F-A870-284A3FE62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F7C8AEC-E146-7A53-FCE7-A2F3BBBFE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16972-2E76-4ED4-B55F-0EF541040E6C}" type="datetime1">
              <a:rPr lang="en-GB" smtClean="0"/>
              <a:t>07/10/2026</a:t>
            </a:fld>
            <a:endParaRPr lang="en-GB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C065062-858E-8D82-9B2E-04E963460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1" y="261000"/>
            <a:ext cx="11454483" cy="608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642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CD372A-9CEB-6FDC-F008-C0771A7EB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requirements for MVP for sign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D1C4B3A-CB4E-9C37-69AC-6410B139F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8FB5AE9-4B8F-4EB6-CDCD-5ECBEC3F9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E34D23D-A869-A7DF-E249-72E7714D2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16972-2E76-4ED4-B55F-0EF541040E6C}" type="datetime1">
              <a:rPr lang="en-GB" smtClean="0"/>
              <a:t>07/10/2026</a:t>
            </a:fld>
            <a:endParaRPr lang="en-GB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801141C-80D0-3387-DD66-9098C9DD0A08}"/>
              </a:ext>
            </a:extLst>
          </p:cNvPr>
          <p:cNvSpPr txBox="1"/>
          <p:nvPr/>
        </p:nvSpPr>
        <p:spPr>
          <a:xfrm>
            <a:off x="768000" y="1592676"/>
            <a:ext cx="9288440" cy="43566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buFontTx/>
              <a:buChar char="-"/>
            </a:pPr>
            <a:r>
              <a:rPr lang="en-US"/>
              <a:t>Minimum attributes </a:t>
            </a:r>
          </a:p>
          <a:p>
            <a:pPr marL="285750" indent="-285750" algn="l">
              <a:buFontTx/>
              <a:buChar char="-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28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79DD60B-E3E2-7F54-8649-5A00D0348C2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9DD60B-E3E2-7F54-8649-5A00D0348C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el 5">
            <a:extLst>
              <a:ext uri="{FF2B5EF4-FFF2-40B4-BE49-F238E27FC236}">
                <a16:creationId xmlns:a16="http://schemas.microsoft.com/office/drawing/2014/main" id="{3FF8B4EF-773F-7C4B-6FE0-8FD89B30B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7" y="512676"/>
            <a:ext cx="10728000" cy="1080000"/>
          </a:xfrm>
        </p:spPr>
        <p:txBody>
          <a:bodyPr vert="horz"/>
          <a:lstStyle/>
          <a:p>
            <a:r>
              <a:rPr lang="de-DE"/>
              <a:t>Copy elements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6ECCB95-530A-7A77-D2A6-EFBBF333F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8000" y="6453000"/>
            <a:ext cx="360000" cy="144000"/>
          </a:xfrm>
        </p:spPr>
        <p:txBody>
          <a:bodyPr/>
          <a:lstStyle/>
          <a:p>
            <a:fld id="{8FF9B0DE-3FEB-4AA0-B465-B80EF7C1333D}" type="slidenum">
              <a:rPr lang="en-GB" smtClean="0"/>
              <a:pPr/>
              <a:t>28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D8BC63A-7701-C04B-118F-245209A64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55687" y="6453000"/>
            <a:ext cx="4968000" cy="144000"/>
          </a:xfrm>
        </p:spPr>
        <p:txBody>
          <a:bodyPr/>
          <a:lstStyle/>
          <a:p>
            <a:r>
              <a:rPr lang="en-GB"/>
              <a:t>Title of the presentation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B2C47D4-2579-F6F7-FCDC-9AF9A42A3D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2124" y="6453000"/>
            <a:ext cx="720000" cy="144000"/>
          </a:xfrm>
        </p:spPr>
        <p:txBody>
          <a:bodyPr/>
          <a:lstStyle/>
          <a:p>
            <a:fld id="{55D69402-55D2-4978-8FEF-E03CF4317873}" type="datetime1">
              <a:rPr lang="en-GB" smtClean="0"/>
              <a:pPr/>
              <a:t>07/10/2026</a:t>
            </a:fld>
            <a:endParaRPr lang="en-GB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BD287CA-F50C-7450-D67B-2419B35CAD79}"/>
              </a:ext>
            </a:extLst>
          </p:cNvPr>
          <p:cNvSpPr/>
          <p:nvPr/>
        </p:nvSpPr>
        <p:spPr bwMode="gray">
          <a:xfrm>
            <a:off x="1056000" y="1773238"/>
            <a:ext cx="936328" cy="4176000"/>
          </a:xfrm>
          <a:prstGeom prst="rect">
            <a:avLst/>
          </a:prstGeom>
          <a:solidFill>
            <a:srgbClr val="006EC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de-DE" sz="1200" err="1">
              <a:solidFill>
                <a:schemeClr val="tx1"/>
              </a:solidFill>
            </a:endParaRPr>
          </a:p>
        </p:txBody>
      </p:sp>
      <p:pic>
        <p:nvPicPr>
          <p:cNvPr id="9" name="!!Arrow">
            <a:extLst>
              <a:ext uri="{FF2B5EF4-FFF2-40B4-BE49-F238E27FC236}">
                <a16:creationId xmlns:a16="http://schemas.microsoft.com/office/drawing/2014/main" id="{2CBAE38D-349E-D4B1-7B51-D02F13C2A7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3062" y="4941000"/>
            <a:ext cx="682205" cy="682205"/>
          </a:xfrm>
          <a:prstGeom prst="rect">
            <a:avLst/>
          </a:prstGeom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C31E8FBD-54E6-4FCD-1494-3C1C62F81469}"/>
              </a:ext>
            </a:extLst>
          </p:cNvPr>
          <p:cNvGrpSpPr/>
          <p:nvPr/>
        </p:nvGrpSpPr>
        <p:grpSpPr>
          <a:xfrm>
            <a:off x="1308164" y="2349000"/>
            <a:ext cx="432000" cy="432000"/>
            <a:chOff x="4752132" y="4680295"/>
            <a:chExt cx="432000" cy="432000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3918AC29-66B8-71F5-DECB-71F1152F2537}"/>
                </a:ext>
              </a:extLst>
            </p:cNvPr>
            <p:cNvCxnSpPr>
              <a:cxnSpLocks/>
            </p:cNvCxnSpPr>
            <p:nvPr/>
          </p:nvCxnSpPr>
          <p:spPr>
            <a:xfrm>
              <a:off x="4752132" y="4896295"/>
              <a:ext cx="432000" cy="0"/>
            </a:xfrm>
            <a:prstGeom prst="line">
              <a:avLst/>
            </a:prstGeom>
            <a:ln w="1270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E1FDECB0-E9BD-7415-5CD6-882F918C4C0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752132" y="4896295"/>
              <a:ext cx="432000" cy="0"/>
            </a:xfrm>
            <a:prstGeom prst="line">
              <a:avLst/>
            </a:prstGeom>
            <a:ln w="1270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B4D04318-B603-E787-6F15-6BD3B337F2D0}"/>
              </a:ext>
            </a:extLst>
          </p:cNvPr>
          <p:cNvSpPr/>
          <p:nvPr/>
        </p:nvSpPr>
        <p:spPr bwMode="gray">
          <a:xfrm>
            <a:off x="4392092" y="4464223"/>
            <a:ext cx="1152128" cy="480053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de-DE" sz="1200" err="1">
              <a:solidFill>
                <a:schemeClr val="tx1"/>
              </a:solidFill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C7487A7B-1E7E-3B5B-4628-5105C877ED76}"/>
              </a:ext>
            </a:extLst>
          </p:cNvPr>
          <p:cNvSpPr/>
          <p:nvPr/>
        </p:nvSpPr>
        <p:spPr bwMode="gray">
          <a:xfrm>
            <a:off x="4224000" y="1773238"/>
            <a:ext cx="360000" cy="14400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de-DE" sz="1200" err="1">
              <a:solidFill>
                <a:schemeClr val="tx1"/>
              </a:solidFill>
            </a:endParaRPr>
          </a:p>
        </p:txBody>
      </p:sp>
      <p:pic>
        <p:nvPicPr>
          <p:cNvPr id="45" name="Grafik 44">
            <a:extLst>
              <a:ext uri="{FF2B5EF4-FFF2-40B4-BE49-F238E27FC236}">
                <a16:creationId xmlns:a16="http://schemas.microsoft.com/office/drawing/2014/main" id="{26D9F740-16CF-795E-8758-F9DF02A9DB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3080" y="1773240"/>
            <a:ext cx="504000" cy="474159"/>
          </a:xfrm>
          <a:prstGeom prst="rect">
            <a:avLst/>
          </a:prstGeom>
        </p:spPr>
      </p:pic>
      <p:pic>
        <p:nvPicPr>
          <p:cNvPr id="46" name="Grafik 45">
            <a:extLst>
              <a:ext uri="{FF2B5EF4-FFF2-40B4-BE49-F238E27FC236}">
                <a16:creationId xmlns:a16="http://schemas.microsoft.com/office/drawing/2014/main" id="{77E14B92-4EF8-2ED7-36CE-2F072CB438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601080" y="1848473"/>
            <a:ext cx="504000" cy="323689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60296F72-BBC0-FE3C-6F6D-165BF5384C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030474" y="2361200"/>
            <a:ext cx="349211" cy="474159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2F20276D-CFCD-46F2-5956-0D355C454A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700818" y="2361200"/>
            <a:ext cx="304524" cy="474159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36130F76-660E-4BB0-C4F5-5740F7BEDC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8029286" y="2949160"/>
            <a:ext cx="351587" cy="474159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749197F9-FF6A-C92E-B480-191383ED9A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623903" y="2949160"/>
            <a:ext cx="458353" cy="474159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A515356C-E16D-6CFF-6810-C36FA2A13F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7968000" y="3537120"/>
            <a:ext cx="474159" cy="474159"/>
          </a:xfrm>
          <a:prstGeom prst="rect">
            <a:avLst/>
          </a:prstGeom>
        </p:spPr>
      </p:pic>
      <p:pic>
        <p:nvPicPr>
          <p:cNvPr id="52" name="Grafik 51">
            <a:extLst>
              <a:ext uri="{FF2B5EF4-FFF2-40B4-BE49-F238E27FC236}">
                <a16:creationId xmlns:a16="http://schemas.microsoft.com/office/drawing/2014/main" id="{85CADA55-4745-6CED-46A8-6A129D4EB5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8677286" y="3537120"/>
            <a:ext cx="351587" cy="474159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51E34735-90A5-EB3B-E3FC-C2E93111DF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7953485" y="4125080"/>
            <a:ext cx="503189" cy="474159"/>
          </a:xfrm>
          <a:prstGeom prst="rect">
            <a:avLst/>
          </a:pr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BA602860-32DA-38B7-EC50-C1A7A0B2E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8601080" y="4146576"/>
            <a:ext cx="504000" cy="431167"/>
          </a:xfrm>
          <a:prstGeom prst="rect">
            <a:avLst/>
          </a:prstGeom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6BA4BCC9-9F56-24FC-70D1-E36346C6F6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7953485" y="4713040"/>
            <a:ext cx="503189" cy="474159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E4B1FE31-41D7-71E7-AFA5-42D57E1BBC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8609549" y="4713040"/>
            <a:ext cx="487061" cy="474159"/>
          </a:xfrm>
          <a:prstGeom prst="rect">
            <a:avLst/>
          </a:prstGeom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735931EC-1F49-5C32-78DF-8C5B549C50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8055513" y="5301000"/>
            <a:ext cx="299133" cy="474159"/>
          </a:xfrm>
          <a:prstGeom prst="rect">
            <a:avLst/>
          </a:prstGeom>
        </p:spPr>
      </p:pic>
      <p:pic>
        <p:nvPicPr>
          <p:cNvPr id="58" name="Grafik 57">
            <a:extLst>
              <a:ext uri="{FF2B5EF4-FFF2-40B4-BE49-F238E27FC236}">
                <a16:creationId xmlns:a16="http://schemas.microsoft.com/office/drawing/2014/main" id="{19414CBD-C11F-046F-CCFE-A1CB134845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8616000" y="5301000"/>
            <a:ext cx="474159" cy="474159"/>
          </a:xfrm>
          <a:prstGeom prst="rect">
            <a:avLst/>
          </a:prstGeom>
        </p:spPr>
      </p:pic>
      <p:pic>
        <p:nvPicPr>
          <p:cNvPr id="86" name="Grafik 85">
            <a:extLst>
              <a:ext uri="{FF2B5EF4-FFF2-40B4-BE49-F238E27FC236}">
                <a16:creationId xmlns:a16="http://schemas.microsoft.com/office/drawing/2014/main" id="{06561FBB-33F0-E865-B846-44573237F7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9249386" y="1773000"/>
            <a:ext cx="503387" cy="474159"/>
          </a:xfrm>
          <a:prstGeom prst="rect">
            <a:avLst/>
          </a:prstGeom>
        </p:spPr>
      </p:pic>
      <p:pic>
        <p:nvPicPr>
          <p:cNvPr id="87" name="Grafik 86">
            <a:extLst>
              <a:ext uri="{FF2B5EF4-FFF2-40B4-BE49-F238E27FC236}">
                <a16:creationId xmlns:a16="http://schemas.microsoft.com/office/drawing/2014/main" id="{0304D68B-0B63-EC81-F1AA-DA41E54932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9898860" y="1848233"/>
            <a:ext cx="500440" cy="323689"/>
          </a:xfrm>
          <a:prstGeom prst="rect">
            <a:avLst/>
          </a:prstGeom>
        </p:spPr>
      </p:pic>
      <p:pic>
        <p:nvPicPr>
          <p:cNvPr id="88" name="Grafik 87">
            <a:extLst>
              <a:ext uri="{FF2B5EF4-FFF2-40B4-BE49-F238E27FC236}">
                <a16:creationId xmlns:a16="http://schemas.microsoft.com/office/drawing/2014/main" id="{66B4E42E-36D3-012A-5537-D94619B5AF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9326474" y="2362634"/>
            <a:ext cx="349211" cy="470811"/>
          </a:xfrm>
          <a:prstGeom prst="rect">
            <a:avLst/>
          </a:prstGeom>
        </p:spPr>
      </p:pic>
      <p:pic>
        <p:nvPicPr>
          <p:cNvPr id="89" name="Grafik 88">
            <a:extLst>
              <a:ext uri="{FF2B5EF4-FFF2-40B4-BE49-F238E27FC236}">
                <a16:creationId xmlns:a16="http://schemas.microsoft.com/office/drawing/2014/main" id="{B12F5AE6-40EE-D87E-80F7-15C4728587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9996818" y="2362634"/>
            <a:ext cx="304524" cy="470810"/>
          </a:xfrm>
          <a:prstGeom prst="rect">
            <a:avLst/>
          </a:prstGeom>
        </p:spPr>
      </p:pic>
      <p:pic>
        <p:nvPicPr>
          <p:cNvPr id="90" name="Grafik 89">
            <a:extLst>
              <a:ext uri="{FF2B5EF4-FFF2-40B4-BE49-F238E27FC236}">
                <a16:creationId xmlns:a16="http://schemas.microsoft.com/office/drawing/2014/main" id="{5975324D-9DEE-E4FF-7A23-48FF796760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9325286" y="2950562"/>
            <a:ext cx="351587" cy="470875"/>
          </a:xfrm>
          <a:prstGeom prst="rect">
            <a:avLst/>
          </a:prstGeom>
        </p:spPr>
      </p:pic>
      <p:pic>
        <p:nvPicPr>
          <p:cNvPr id="91" name="Grafik 90">
            <a:extLst>
              <a:ext uri="{FF2B5EF4-FFF2-40B4-BE49-F238E27FC236}">
                <a16:creationId xmlns:a16="http://schemas.microsoft.com/office/drawing/2014/main" id="{E88023AD-9FA8-BDD9-41CC-6655483E3A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9919903" y="2949081"/>
            <a:ext cx="458353" cy="473837"/>
          </a:xfrm>
          <a:prstGeom prst="rect">
            <a:avLst/>
          </a:prstGeom>
        </p:spPr>
      </p:pic>
      <p:pic>
        <p:nvPicPr>
          <p:cNvPr id="92" name="Grafik 91">
            <a:extLst>
              <a:ext uri="{FF2B5EF4-FFF2-40B4-BE49-F238E27FC236}">
                <a16:creationId xmlns:a16="http://schemas.microsoft.com/office/drawing/2014/main" id="{DD2E940F-D7C7-0710-3D51-F4CAA6B7F7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9264000" y="3536880"/>
            <a:ext cx="474159" cy="474159"/>
          </a:xfrm>
          <a:prstGeom prst="rect">
            <a:avLst/>
          </a:prstGeom>
        </p:spPr>
      </p:pic>
      <p:pic>
        <p:nvPicPr>
          <p:cNvPr id="93" name="Grafik 92">
            <a:extLst>
              <a:ext uri="{FF2B5EF4-FFF2-40B4-BE49-F238E27FC236}">
                <a16:creationId xmlns:a16="http://schemas.microsoft.com/office/drawing/2014/main" id="{C6CC20DA-DC2F-5A77-4B17-4317D597D1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>
          <a:xfrm>
            <a:off x="9973286" y="3538522"/>
            <a:ext cx="351587" cy="470875"/>
          </a:xfrm>
          <a:prstGeom prst="rect">
            <a:avLst/>
          </a:prstGeom>
        </p:spPr>
      </p:pic>
      <p:pic>
        <p:nvPicPr>
          <p:cNvPr id="94" name="Grafik 93">
            <a:extLst>
              <a:ext uri="{FF2B5EF4-FFF2-40B4-BE49-F238E27FC236}">
                <a16:creationId xmlns:a16="http://schemas.microsoft.com/office/drawing/2014/main" id="{4967249E-4BDF-F14A-79F4-E5A70923A2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9249775" y="4124840"/>
            <a:ext cx="502608" cy="474159"/>
          </a:xfrm>
          <a:prstGeom prst="rect">
            <a:avLst/>
          </a:prstGeom>
        </p:spPr>
      </p:pic>
      <p:pic>
        <p:nvPicPr>
          <p:cNvPr id="95" name="Grafik 94">
            <a:extLst>
              <a:ext uri="{FF2B5EF4-FFF2-40B4-BE49-F238E27FC236}">
                <a16:creationId xmlns:a16="http://schemas.microsoft.com/office/drawing/2014/main" id="{6D9D08DE-727F-D8CF-FD54-1045525C6F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9897804" y="4146336"/>
            <a:ext cx="502552" cy="431167"/>
          </a:xfrm>
          <a:prstGeom prst="rect">
            <a:avLst/>
          </a:prstGeom>
        </p:spPr>
      </p:pic>
      <p:pic>
        <p:nvPicPr>
          <p:cNvPr id="96" name="Grafik 95">
            <a:extLst>
              <a:ext uri="{FF2B5EF4-FFF2-40B4-BE49-F238E27FC236}">
                <a16:creationId xmlns:a16="http://schemas.microsoft.com/office/drawing/2014/main" id="{A4ADB78F-0515-9A07-D852-9E493B89B2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9249775" y="4712800"/>
            <a:ext cx="502608" cy="474159"/>
          </a:xfrm>
          <a:prstGeom prst="rect">
            <a:avLst/>
          </a:prstGeom>
        </p:spPr>
      </p:pic>
      <p:pic>
        <p:nvPicPr>
          <p:cNvPr id="97" name="Grafik 96">
            <a:extLst>
              <a:ext uri="{FF2B5EF4-FFF2-40B4-BE49-F238E27FC236}">
                <a16:creationId xmlns:a16="http://schemas.microsoft.com/office/drawing/2014/main" id="{E0209E1E-EF0F-EA72-65ED-768B4498ED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>
          <a:xfrm>
            <a:off x="9905678" y="4712800"/>
            <a:ext cx="486803" cy="474159"/>
          </a:xfrm>
          <a:prstGeom prst="rect">
            <a:avLst/>
          </a:prstGeom>
        </p:spPr>
      </p:pic>
      <p:pic>
        <p:nvPicPr>
          <p:cNvPr id="98" name="Grafik 97">
            <a:extLst>
              <a:ext uri="{FF2B5EF4-FFF2-40B4-BE49-F238E27FC236}">
                <a16:creationId xmlns:a16="http://schemas.microsoft.com/office/drawing/2014/main" id="{FF25B6AB-A242-3D0A-3128-786FF3EAF2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>
            <a:off x="9351513" y="5303467"/>
            <a:ext cx="299133" cy="468744"/>
          </a:xfrm>
          <a:prstGeom prst="rect">
            <a:avLst/>
          </a:prstGeom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32A9245F-B16A-BC7C-52E9-332DCECC34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9912000" y="5300760"/>
            <a:ext cx="474159" cy="474159"/>
          </a:xfrm>
          <a:prstGeom prst="rect">
            <a:avLst/>
          </a:prstGeom>
        </p:spPr>
      </p:pic>
      <p:pic>
        <p:nvPicPr>
          <p:cNvPr id="102" name="!!Arrow">
            <a:extLst>
              <a:ext uri="{FF2B5EF4-FFF2-40B4-BE49-F238E27FC236}">
                <a16:creationId xmlns:a16="http://schemas.microsoft.com/office/drawing/2014/main" id="{DC14F0E2-E56A-7ADE-8A83-8CADA1EEE3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1183062" y="3933000"/>
            <a:ext cx="682205" cy="682205"/>
          </a:xfrm>
          <a:prstGeom prst="rect">
            <a:avLst/>
          </a:prstGeom>
        </p:spPr>
      </p:pic>
      <p:sp>
        <p:nvSpPr>
          <p:cNvPr id="5" name="Textplatzhalter 8">
            <a:extLst>
              <a:ext uri="{FF2B5EF4-FFF2-40B4-BE49-F238E27FC236}">
                <a16:creationId xmlns:a16="http://schemas.microsoft.com/office/drawing/2014/main" id="{C81F1A80-2BE9-2CFE-DB77-80C369721844}"/>
              </a:ext>
            </a:extLst>
          </p:cNvPr>
          <p:cNvSpPr txBox="1">
            <a:spLocks/>
          </p:cNvSpPr>
          <p:nvPr/>
        </p:nvSpPr>
        <p:spPr>
          <a:xfrm>
            <a:off x="4728000" y="1773237"/>
            <a:ext cx="2880000" cy="43910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Tx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2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45869037-AAB4-F0C0-AF2E-5D0EDA71571A}"/>
              </a:ext>
            </a:extLst>
          </p:cNvPr>
          <p:cNvSpPr/>
          <p:nvPr/>
        </p:nvSpPr>
        <p:spPr>
          <a:xfrm>
            <a:off x="2064000" y="1773238"/>
            <a:ext cx="360000" cy="3960000"/>
          </a:xfrm>
          <a:prstGeom prst="rect">
            <a:avLst/>
          </a:prstGeom>
          <a:blipFill>
            <a:blip r:embed="rId36"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F8E004A-0A2D-641E-29CE-78094202976B}"/>
              </a:ext>
            </a:extLst>
          </p:cNvPr>
          <p:cNvSpPr/>
          <p:nvPr/>
        </p:nvSpPr>
        <p:spPr>
          <a:xfrm>
            <a:off x="2496000" y="1773238"/>
            <a:ext cx="360000" cy="3960000"/>
          </a:xfrm>
          <a:prstGeom prst="rect">
            <a:avLst/>
          </a:prstGeom>
          <a:blipFill>
            <a:blip r:embed="rId37"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81FA635-90F6-72D5-CFDE-310C8EF15D8E}"/>
              </a:ext>
            </a:extLst>
          </p:cNvPr>
          <p:cNvSpPr/>
          <p:nvPr/>
        </p:nvSpPr>
        <p:spPr>
          <a:xfrm>
            <a:off x="2928000" y="1773238"/>
            <a:ext cx="360000" cy="3960000"/>
          </a:xfrm>
          <a:prstGeom prst="rect">
            <a:avLst/>
          </a:prstGeom>
          <a:blipFill>
            <a:blip r:embed="rId38"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DEADA008-4560-3433-6AEF-5927247C030D}"/>
              </a:ext>
            </a:extLst>
          </p:cNvPr>
          <p:cNvSpPr/>
          <p:nvPr/>
        </p:nvSpPr>
        <p:spPr>
          <a:xfrm>
            <a:off x="3360000" y="1773238"/>
            <a:ext cx="360000" cy="3960000"/>
          </a:xfrm>
          <a:prstGeom prst="rect">
            <a:avLst/>
          </a:prstGeom>
          <a:blipFill>
            <a:blip r:embed="rId39"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F10EB65-75C0-26A4-4D48-6A53716155F5}"/>
              </a:ext>
            </a:extLst>
          </p:cNvPr>
          <p:cNvSpPr/>
          <p:nvPr/>
        </p:nvSpPr>
        <p:spPr>
          <a:xfrm>
            <a:off x="3792000" y="1773238"/>
            <a:ext cx="360000" cy="3960000"/>
          </a:xfrm>
          <a:prstGeom prst="rect">
            <a:avLst/>
          </a:prstGeom>
          <a:blipFill>
            <a:blip r:embed="rId40"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586A1E16-15D6-B0A3-871F-6E07E3023D65}"/>
              </a:ext>
            </a:extLst>
          </p:cNvPr>
          <p:cNvSpPr/>
          <p:nvPr/>
        </p:nvSpPr>
        <p:spPr>
          <a:xfrm>
            <a:off x="4224000" y="1773238"/>
            <a:ext cx="360000" cy="3960000"/>
          </a:xfrm>
          <a:prstGeom prst="rect">
            <a:avLst/>
          </a:prstGeom>
          <a:blipFill>
            <a:blip r:embed="rId41"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D1408FC-4B1E-AB53-6860-211F3B8F1B38}"/>
              </a:ext>
            </a:extLst>
          </p:cNvPr>
          <p:cNvSpPr/>
          <p:nvPr/>
        </p:nvSpPr>
        <p:spPr>
          <a:xfrm>
            <a:off x="2064000" y="5805238"/>
            <a:ext cx="360000" cy="144000"/>
          </a:xfrm>
          <a:prstGeom prst="rect">
            <a:avLst/>
          </a:prstGeom>
          <a:blipFill>
            <a:blip r:embed="rId42"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B73DDEC6-DB05-5066-BAF5-7965B0252016}"/>
              </a:ext>
            </a:extLst>
          </p:cNvPr>
          <p:cNvSpPr/>
          <p:nvPr/>
        </p:nvSpPr>
        <p:spPr>
          <a:xfrm>
            <a:off x="2496000" y="5805238"/>
            <a:ext cx="360000" cy="144000"/>
          </a:xfrm>
          <a:prstGeom prst="rect">
            <a:avLst/>
          </a:prstGeom>
          <a:blipFill>
            <a:blip r:embed="rId43"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97389DA0-CF48-6EC0-B8CB-EE6EF5020761}"/>
              </a:ext>
            </a:extLst>
          </p:cNvPr>
          <p:cNvSpPr/>
          <p:nvPr/>
        </p:nvSpPr>
        <p:spPr>
          <a:xfrm>
            <a:off x="2928000" y="5805238"/>
            <a:ext cx="360000" cy="144000"/>
          </a:xfrm>
          <a:prstGeom prst="rect">
            <a:avLst/>
          </a:prstGeom>
          <a:blipFill>
            <a:blip r:embed="rId44"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B26A2605-A692-4BC3-CD91-6C1A339990BD}"/>
              </a:ext>
            </a:extLst>
          </p:cNvPr>
          <p:cNvSpPr/>
          <p:nvPr/>
        </p:nvSpPr>
        <p:spPr>
          <a:xfrm>
            <a:off x="3360000" y="5805238"/>
            <a:ext cx="360000" cy="144000"/>
          </a:xfrm>
          <a:prstGeom prst="rect">
            <a:avLst/>
          </a:prstGeom>
          <a:blipFill>
            <a:blip r:embed="rId45"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0C4D7B96-A161-926A-3902-34A8B9A518B6}"/>
              </a:ext>
            </a:extLst>
          </p:cNvPr>
          <p:cNvSpPr/>
          <p:nvPr/>
        </p:nvSpPr>
        <p:spPr>
          <a:xfrm>
            <a:off x="3792000" y="5805238"/>
            <a:ext cx="360000" cy="144000"/>
          </a:xfrm>
          <a:prstGeom prst="rect">
            <a:avLst/>
          </a:prstGeom>
          <a:blipFill>
            <a:blip r:embed="rId46"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18D5AB07-60FE-5B00-F07B-C826FE14E502}"/>
              </a:ext>
            </a:extLst>
          </p:cNvPr>
          <p:cNvSpPr/>
          <p:nvPr/>
        </p:nvSpPr>
        <p:spPr>
          <a:xfrm>
            <a:off x="4224000" y="5805238"/>
            <a:ext cx="360000" cy="144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A24A244F-464B-1F96-F0DF-85F6D7C04831}"/>
              </a:ext>
            </a:extLst>
          </p:cNvPr>
          <p:cNvSpPr/>
          <p:nvPr/>
        </p:nvSpPr>
        <p:spPr>
          <a:xfrm>
            <a:off x="10703880" y="3069000"/>
            <a:ext cx="1080000" cy="1080000"/>
          </a:xfrm>
          <a:prstGeom prst="ellipse">
            <a:avLst/>
          </a:prstGeom>
          <a:solidFill>
            <a:srgbClr val="28DCA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200">
                <a:solidFill>
                  <a:schemeClr val="bg1"/>
                </a:solidFill>
              </a:rPr>
              <a:t>Text Stopper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1041DAB7-C261-4967-C1D8-1EB890790259}"/>
              </a:ext>
            </a:extLst>
          </p:cNvPr>
          <p:cNvSpPr/>
          <p:nvPr/>
        </p:nvSpPr>
        <p:spPr>
          <a:xfrm>
            <a:off x="10703880" y="1772816"/>
            <a:ext cx="1080000" cy="1080000"/>
          </a:xfrm>
          <a:prstGeom prst="ellipse">
            <a:avLst/>
          </a:prstGeom>
          <a:blipFill>
            <a:blip r:embed="rId36"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200">
                <a:solidFill>
                  <a:schemeClr val="bg1"/>
                </a:solidFill>
              </a:rPr>
              <a:t>Text Stopper</a:t>
            </a:r>
          </a:p>
        </p:txBody>
      </p:sp>
    </p:spTree>
    <p:extLst>
      <p:ext uri="{BB962C8B-B14F-4D97-AF65-F5344CB8AC3E}">
        <p14:creationId xmlns:p14="http://schemas.microsoft.com/office/powerpoint/2010/main" val="1301368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desso Master">
  <a:themeElements>
    <a:clrScheme name="adesso1">
      <a:dk1>
        <a:srgbClr val="000000"/>
      </a:dk1>
      <a:lt1>
        <a:srgbClr val="FFFFFF"/>
      </a:lt1>
      <a:dk2>
        <a:srgbClr val="006EC7"/>
      </a:dk2>
      <a:lt2>
        <a:srgbClr val="E7E5E3"/>
      </a:lt2>
      <a:accent1>
        <a:srgbClr val="461EBE"/>
      </a:accent1>
      <a:accent2>
        <a:srgbClr val="FF9868"/>
      </a:accent2>
      <a:accent3>
        <a:srgbClr val="887D75"/>
      </a:accent3>
      <a:accent4>
        <a:srgbClr val="76C800"/>
      </a:accent4>
      <a:accent5>
        <a:srgbClr val="F566BA"/>
      </a:accent5>
      <a:accent6>
        <a:srgbClr val="28DCAA"/>
      </a:accent6>
      <a:hlink>
        <a:srgbClr val="006EC7"/>
      </a:hlink>
      <a:folHlink>
        <a:srgbClr val="887D75"/>
      </a:folHlink>
    </a:clrScheme>
    <a:fontScheme name="adesso1">
      <a:majorFont>
        <a:latin typeface="Fira Sans Condensed"/>
        <a:ea typeface=""/>
        <a:cs typeface=""/>
      </a:majorFont>
      <a:minorFont>
        <a:latin typeface="Fir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12700">
          <a:noFill/>
        </a:ln>
      </a:spPr>
      <a:bodyPr rtlCol="0" anchor="ctr"/>
      <a:lstStyle>
        <a:defPPr algn="l">
          <a:buClr>
            <a:schemeClr val="bg1"/>
          </a:buClr>
          <a:defRPr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mtClean="0"/>
        </a:defPPr>
      </a:lstStyle>
    </a:txDef>
  </a:objectDefaults>
  <a:extraClrSchemeLst/>
  <a:custClrLst>
    <a:custClr name="adesso-grey">
      <a:srgbClr val="887D75"/>
    </a:custClr>
    <a:custClr name="adesso-grey 70%">
      <a:srgbClr val="ACA49E"/>
    </a:custClr>
    <a:custClr name="adesso-grey 40%">
      <a:srgbClr val="CFCBC8"/>
    </a:custClr>
    <a:custClr name="adesso-grey 20%">
      <a:srgbClr val="E7E5E3"/>
    </a:custClr>
    <a:custClr>
      <a:srgbClr val="FFFFFF"/>
    </a:custClr>
    <a:custClr>
      <a:srgbClr val="FFFFFF"/>
    </a:custClr>
    <a:custClr>
      <a:srgbClr val="FFFFFF"/>
    </a:custClr>
    <a:custClr name="Traffic light red">
      <a:srgbClr val="EE0000"/>
    </a:custClr>
    <a:custClr name="Traffic light yellow">
      <a:srgbClr val="FFC000"/>
    </a:custClr>
    <a:custClr name="Traffic light green">
      <a:srgbClr val="76C800"/>
    </a:custClr>
    <a:custClr name="Turkis">
      <a:srgbClr val="28DCAA"/>
    </a:custClr>
    <a:custClr name="Turkis 70%">
      <a:srgbClr val="69E7C4"/>
    </a:custClr>
    <a:custClr name="Türkis 40%">
      <a:srgbClr val="A9F1DD"/>
    </a:custClr>
    <a:custClr name="Türkis 20%">
      <a:srgbClr val="D4F8EE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Violet">
      <a:srgbClr val="461EBE"/>
    </a:custClr>
    <a:custClr name="Violet 70%">
      <a:srgbClr val="7D61D2"/>
    </a:custClr>
    <a:custClr name="Violet 40%">
      <a:srgbClr val="B5A5E5"/>
    </a:custClr>
    <a:custClr name="Violet 20%">
      <a:srgbClr val="DAD2F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Pink">
      <a:srgbClr val="F566BA"/>
    </a:custClr>
    <a:custClr name="Pink 70%">
      <a:srgbClr val="F894CF"/>
    </a:custClr>
    <a:custClr name="Pink 40%">
      <a:srgbClr val="FBC2E3"/>
    </a:custClr>
    <a:custClr name="Pink 20%">
      <a:srgbClr val="FDE0F1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Orange">
      <a:srgbClr val="FF9868"/>
    </a:custClr>
    <a:custClr name="Orange 70%">
      <a:srgbClr val="FFB795"/>
    </a:custClr>
    <a:custClr name="Orange 40%">
      <a:srgbClr val="FFD6C3"/>
    </a:custClr>
    <a:custClr name="Orange 20%">
      <a:srgbClr val="FFEAE1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Präsentation2" id="{15239DFE-D6CA-45A9-B265-7BC98FC9A050}" vid="{D30E1918-6328-4EEB-A62A-A81AEC239AF6}"/>
    </a:ext>
  </a:extLst>
</a:theme>
</file>

<file path=ppt/theme/theme2.xml><?xml version="1.0" encoding="utf-8"?>
<a:theme xmlns:a="http://schemas.openxmlformats.org/drawingml/2006/main" name="Office">
  <a:themeElements>
    <a:clrScheme name="_adesso">
      <a:dk1>
        <a:srgbClr val="000000"/>
      </a:dk1>
      <a:lt1>
        <a:srgbClr val="FFFFFF"/>
      </a:lt1>
      <a:dk2>
        <a:srgbClr val="006EC7"/>
      </a:dk2>
      <a:lt2>
        <a:srgbClr val="E7E5E3"/>
      </a:lt2>
      <a:accent1>
        <a:srgbClr val="461EBE"/>
      </a:accent1>
      <a:accent2>
        <a:srgbClr val="FF9868"/>
      </a:accent2>
      <a:accent3>
        <a:srgbClr val="887D75"/>
      </a:accent3>
      <a:accent4>
        <a:srgbClr val="76C800"/>
      </a:accent4>
      <a:accent5>
        <a:srgbClr val="F566BA"/>
      </a:accent5>
      <a:accent6>
        <a:srgbClr val="28DCAA"/>
      </a:accent6>
      <a:hlink>
        <a:srgbClr val="006EC7"/>
      </a:hlink>
      <a:folHlink>
        <a:srgbClr val="887D75"/>
      </a:folHlink>
    </a:clrScheme>
    <a:fontScheme name="_adesso">
      <a:majorFont>
        <a:latin typeface="Fira Sans Condensed"/>
        <a:ea typeface=""/>
        <a:cs typeface=""/>
      </a:majorFont>
      <a:minorFont>
        <a:latin typeface="Fir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_adesso">
      <a:dk1>
        <a:srgbClr val="000000"/>
      </a:dk1>
      <a:lt1>
        <a:srgbClr val="FFFFFF"/>
      </a:lt1>
      <a:dk2>
        <a:srgbClr val="006EC7"/>
      </a:dk2>
      <a:lt2>
        <a:srgbClr val="E7E5E3"/>
      </a:lt2>
      <a:accent1>
        <a:srgbClr val="461EBE"/>
      </a:accent1>
      <a:accent2>
        <a:srgbClr val="FF9868"/>
      </a:accent2>
      <a:accent3>
        <a:srgbClr val="887D75"/>
      </a:accent3>
      <a:accent4>
        <a:srgbClr val="76C800"/>
      </a:accent4>
      <a:accent5>
        <a:srgbClr val="F566BA"/>
      </a:accent5>
      <a:accent6>
        <a:srgbClr val="28DCAA"/>
      </a:accent6>
      <a:hlink>
        <a:srgbClr val="006EC7"/>
      </a:hlink>
      <a:folHlink>
        <a:srgbClr val="887D75"/>
      </a:folHlink>
    </a:clrScheme>
    <a:fontScheme name="_adesso">
      <a:majorFont>
        <a:latin typeface="Fira Sans Condensed"/>
        <a:ea typeface=""/>
        <a:cs typeface=""/>
      </a:majorFont>
      <a:minorFont>
        <a:latin typeface="Fir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654bea-3722-43e0-a184-79292187fa2c">
      <Terms xmlns="http://schemas.microsoft.com/office/infopath/2007/PartnerControls"/>
    </lcf76f155ced4ddcb4097134ff3c332f>
    <TaxCatchAll xmlns="dd0a160f-e9c2-4809-97bb-02c9378a221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A6F0ABFD68C940B977DEA41344BBC4" ma:contentTypeVersion="9" ma:contentTypeDescription="Create a new document." ma:contentTypeScope="" ma:versionID="33d0c91206d8583355cdf29223e9019f">
  <xsd:schema xmlns:xsd="http://www.w3.org/2001/XMLSchema" xmlns:xs="http://www.w3.org/2001/XMLSchema" xmlns:p="http://schemas.microsoft.com/office/2006/metadata/properties" xmlns:ns2="e1654bea-3722-43e0-a184-79292187fa2c" xmlns:ns3="dd0a160f-e9c2-4809-97bb-02c9378a2219" targetNamespace="http://schemas.microsoft.com/office/2006/metadata/properties" ma:root="true" ma:fieldsID="75d523d70d533161db67a53555cf3120" ns2:_="" ns3:_="">
    <xsd:import namespace="e1654bea-3722-43e0-a184-79292187fa2c"/>
    <xsd:import namespace="dd0a160f-e9c2-4809-97bb-02c9378a22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654bea-3722-43e0-a184-79292187fa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699f302-2c19-4e45-9402-59f24fbee0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0a160f-e9c2-4809-97bb-02c9378a221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4127c0e-024a-4dda-bf6e-f68fa6e85b49}" ma:internalName="TaxCatchAll" ma:showField="CatchAllData" ma:web="dd0a160f-e9c2-4809-97bb-02c9378a22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22401F-FDB9-47A8-ADDE-3994B287C535}">
  <ds:schemaRefs>
    <ds:schemaRef ds:uri="dd0a160f-e9c2-4809-97bb-02c9378a2219"/>
    <ds:schemaRef ds:uri="e1654bea-3722-43e0-a184-79292187fa2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D96E556-6DE9-4937-8CB4-4E772D7107B0}">
  <ds:schemaRefs>
    <ds:schemaRef ds:uri="dd0a160f-e9c2-4809-97bb-02c9378a2219"/>
    <ds:schemaRef ds:uri="e1654bea-3722-43e0-a184-79292187fa2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710FE7F-CFAC-48EE-BD18-61923CD8BFE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adesso Master</Template>
  <Application>Microsoft Office PowerPoint</Application>
  <PresentationFormat>Widescreen</PresentationFormat>
  <Slides>28</Slides>
  <Notes>8</Notes>
  <HiddenSlides>3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adesso Master</vt:lpstr>
      <vt:lpstr>AI Agent Repository</vt:lpstr>
      <vt:lpstr>Agenda</vt:lpstr>
      <vt:lpstr>Today’s objectives</vt:lpstr>
      <vt:lpstr>Project Scope at a glance</vt:lpstr>
      <vt:lpstr>Interview Summary</vt:lpstr>
      <vt:lpstr>Interview Summary</vt:lpstr>
      <vt:lpstr>The majority sees the need of the same requirements</vt:lpstr>
      <vt:lpstr>Architecture Overview </vt:lpstr>
      <vt:lpstr>PowerPoint Presentation</vt:lpstr>
      <vt:lpstr>PowerPoint Presentation</vt:lpstr>
      <vt:lpstr>Where are we today?</vt:lpstr>
      <vt:lpstr>PowerPoint Presentation</vt:lpstr>
      <vt:lpstr>PowerPoint Presentation</vt:lpstr>
      <vt:lpstr>PowerPoint Presentation</vt:lpstr>
      <vt:lpstr>What are the entry requirements? </vt:lpstr>
      <vt:lpstr>What governance requirements need to be fulfilled ? </vt:lpstr>
      <vt:lpstr>Three textboxes with conclusion</vt:lpstr>
      <vt:lpstr>PowerPoint Presentation</vt:lpstr>
      <vt:lpstr>What are major questions to be defined?</vt:lpstr>
      <vt:lpstr>Minimum Requirements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requirements for MVP for sign</vt:lpstr>
      <vt:lpstr>Copy elements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Sharon Shams</dc:creator>
  <dc:description>Optimized for Office 365</dc:description>
  <cp:revision>3</cp:revision>
  <dcterms:created xsi:type="dcterms:W3CDTF">2026-10-06T11:09:41Z</dcterms:created>
  <dcterms:modified xsi:type="dcterms:W3CDTF">2026-10-07T14:18:40Z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0x010100D6A6F0ABFD68C940B977DEA41344BBC4</vt:lpwstr>
  </property>
  <property fmtid="{D5CDD505-2E9C-101B-9397-08002B2CF9AE}" pid="3" name="MediaServiceImageTags">
    <vt:lpwstr/>
  </property>
</Properties>
</file>